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3D5C"/>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AE91105-D50C-43F9-A5C9-5FBFDD2690D7}"/>
              </a:ext>
            </a:extLst>
          </p:cNvPr>
          <p:cNvSpPr>
            <a:spLocks noGrp="1"/>
          </p:cNvSpPr>
          <p:nvPr/>
        </p:nvSpPr>
        <p:spPr>
          <a:xfrm>
            <a:off x="0" y="0"/>
            <a:ext cx="12192000" cy="6858000"/>
          </a:xfrm>
          <a:prstGeom prst="rect">
            <a:avLst/>
          </a:prstGeom>
          <a:solidFill>
            <a:srgbClr val="0B3D5C"/>
          </a:solidFill>
          <a:ln w="0">
            <a:noFill/>
            <a:prstDash val="solid"/>
          </a:ln>
        </p:spPr>
      </p:sp>
      <p:sp>
        <p:nvSpPr>
          <p:cNvPr id="2" name="Rectangle 1">
            <a:extLst>
              <a:ext uri="{FF2B5EF4-FFF2-40B4-BE49-F238E27FC236}">
                <a16:creationId xmlns:a16="http://schemas.microsoft.com/office/drawing/2014/main" id="{214E3FDD-D474-4F75-B2BE-913965370958}"/>
              </a:ext>
            </a:extLst>
          </p:cNvPr>
          <p:cNvSpPr>
            <a:spLocks noGrp="1"/>
          </p:cNvSpPr>
          <p:nvPr/>
        </p:nvSpPr>
        <p:spPr>
          <a:xfrm>
            <a:off x="0" y="0"/>
            <a:ext cx="12192000" cy="95250"/>
          </a:xfrm>
          <a:prstGeom prst="rect">
            <a:avLst/>
          </a:prstGeom>
          <a:solidFill>
            <a:srgbClr val="00866E"/>
          </a:solidFill>
          <a:ln w="0">
            <a:noFill/>
            <a:prstDash val="solid"/>
          </a:ln>
        </p:spPr>
      </p:sp>
      <p:sp>
        <p:nvSpPr>
          <p:cNvPr id="3" name="Rectangle 2">
            <a:extLst>
              <a:ext uri="{FF2B5EF4-FFF2-40B4-BE49-F238E27FC236}">
                <a16:creationId xmlns:a16="http://schemas.microsoft.com/office/drawing/2014/main" id="{E0E3462D-9DF4-4EB7-99BF-BD1F28B2F85E}"/>
              </a:ext>
            </a:extLst>
          </p:cNvPr>
          <p:cNvSpPr>
            <a:spLocks noGrp="1"/>
          </p:cNvSpPr>
          <p:nvPr/>
        </p:nvSpPr>
        <p:spPr>
          <a:xfrm>
            <a:off x="685800" y="742950"/>
            <a:ext cx="4381500" cy="228600"/>
          </a:xfrm>
          <a:prstGeom prst="rect">
            <a:avLst/>
          </a:prstGeom>
          <a:noFill/>
          <a:ln w="0">
            <a:noFill/>
            <a:prstDash val="solid"/>
          </a:ln>
        </p:spPr>
        <p:txBody>
          <a:bodyPr lIns="0" tIns="0" rIns="0" bIns="0" anchor="t"/>
          <a:lstStyle/>
          <a:p>
            <a:pPr algn="l">
              <a:defRPr sz="975" b="1">
                <a:solidFill>
                  <a:srgbClr val="F2A541"/>
                </a:solidFill>
                <a:latin typeface="Aptos"/>
                <a:ea typeface="Aptos"/>
                <a:cs typeface="Aptos"/>
              </a:defRPr>
            </a:pPr>
            <a:r>
              <a:rPr sz="975" b="1">
                <a:solidFill>
                  <a:srgbClr val="F2A541"/>
                </a:solidFill>
                <a:latin typeface="Aptos"/>
                <a:ea typeface="Aptos"/>
                <a:cs typeface="Aptos"/>
              </a:rPr>
              <a:t>HR PRESENTATION | PROJECT REPORT</a:t>
            </a:r>
          </a:p>
        </p:txBody>
      </p:sp>
      <p:sp>
        <p:nvSpPr>
          <p:cNvPr id="4" name="Rectangle 3">
            <a:extLst>
              <a:ext uri="{FF2B5EF4-FFF2-40B4-BE49-F238E27FC236}">
                <a16:creationId xmlns:a16="http://schemas.microsoft.com/office/drawing/2014/main" id="{9C766557-B107-45C0-9CCE-2270F3F08220}"/>
              </a:ext>
            </a:extLst>
          </p:cNvPr>
          <p:cNvSpPr>
            <a:spLocks noGrp="1"/>
          </p:cNvSpPr>
          <p:nvPr/>
        </p:nvSpPr>
        <p:spPr>
          <a:xfrm>
            <a:off x="685800" y="1352550"/>
            <a:ext cx="6286500" cy="1371600"/>
          </a:xfrm>
          <a:prstGeom prst="rect">
            <a:avLst/>
          </a:prstGeom>
          <a:noFill/>
          <a:ln w="0">
            <a:noFill/>
            <a:prstDash val="solid"/>
          </a:ln>
        </p:spPr>
        <p:txBody>
          <a:bodyPr lIns="0" tIns="0" rIns="0" bIns="0" anchor="t"/>
          <a:lstStyle/>
          <a:p>
            <a:pPr algn="l">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Bluestock Mutual Fund Analytics Platform</a:t>
            </a:r>
          </a:p>
        </p:txBody>
      </p:sp>
      <p:sp>
        <p:nvSpPr>
          <p:cNvPr id="5" name="Rectangle 4">
            <a:extLst>
              <a:ext uri="{FF2B5EF4-FFF2-40B4-BE49-F238E27FC236}">
                <a16:creationId xmlns:a16="http://schemas.microsoft.com/office/drawing/2014/main" id="{5F4E6ACB-A8CB-4917-B12F-0706F4CD5896}"/>
              </a:ext>
            </a:extLst>
          </p:cNvPr>
          <p:cNvSpPr>
            <a:spLocks noGrp="1"/>
          </p:cNvSpPr>
          <p:nvPr/>
        </p:nvSpPr>
        <p:spPr>
          <a:xfrm>
            <a:off x="723900" y="3028950"/>
            <a:ext cx="5334000" cy="685800"/>
          </a:xfrm>
          <a:prstGeom prst="rect">
            <a:avLst/>
          </a:prstGeom>
          <a:noFill/>
          <a:ln w="0">
            <a:noFill/>
            <a:prstDash val="solid"/>
          </a:ln>
        </p:spPr>
        <p:txBody>
          <a:bodyPr lIns="0" tIns="0" rIns="0" bIns="0" anchor="t"/>
          <a:lstStyle/>
          <a:p>
            <a:pPr algn="l">
              <a:defRPr sz="1800" b="0">
                <a:solidFill>
                  <a:srgbClr val="DDEAF0"/>
                </a:solidFill>
                <a:latin typeface="Aptos"/>
                <a:ea typeface="Aptos"/>
                <a:cs typeface="Aptos"/>
              </a:defRPr>
            </a:pPr>
            <a:r>
              <a:rPr sz="1800" b="0">
                <a:solidFill>
                  <a:srgbClr val="DDEAF0"/>
                </a:solidFill>
                <a:latin typeface="Aptos"/>
                <a:ea typeface="Aptos"/>
                <a:cs typeface="Aptos"/>
              </a:rPr>
              <a:t>End-to-end data engineering, analytics, reporting, and dashboarding capstone for mutual fund insights.</a:t>
            </a:r>
          </a:p>
        </p:txBody>
      </p:sp>
      <p:sp>
        <p:nvSpPr>
          <p:cNvPr id="6" name="Rectangle 5">
            <a:extLst>
              <a:ext uri="{FF2B5EF4-FFF2-40B4-BE49-F238E27FC236}">
                <a16:creationId xmlns:a16="http://schemas.microsoft.com/office/drawing/2014/main" id="{FE9FE390-942E-466F-88E9-FC6B0968B388}"/>
              </a:ext>
            </a:extLst>
          </p:cNvPr>
          <p:cNvSpPr>
            <a:spLocks noGrp="1"/>
          </p:cNvSpPr>
          <p:nvPr/>
        </p:nvSpPr>
        <p:spPr>
          <a:xfrm>
            <a:off x="704850" y="4095750"/>
            <a:ext cx="1238250" cy="47625"/>
          </a:xfrm>
          <a:prstGeom prst="rect">
            <a:avLst/>
          </a:prstGeom>
          <a:solidFill>
            <a:srgbClr val="00A884"/>
          </a:solidFill>
          <a:ln w="0">
            <a:noFill/>
            <a:prstDash val="solid"/>
          </a:ln>
        </p:spPr>
      </p:sp>
      <p:sp>
        <p:nvSpPr>
          <p:cNvPr id="7" name="Rectangle 6">
            <a:extLst>
              <a:ext uri="{FF2B5EF4-FFF2-40B4-BE49-F238E27FC236}">
                <a16:creationId xmlns:a16="http://schemas.microsoft.com/office/drawing/2014/main" id="{BEACA2F7-EF11-4436-B24E-A875835E6C74}"/>
              </a:ext>
            </a:extLst>
          </p:cNvPr>
          <p:cNvSpPr>
            <a:spLocks noGrp="1"/>
          </p:cNvSpPr>
          <p:nvPr/>
        </p:nvSpPr>
        <p:spPr>
          <a:xfrm>
            <a:off x="723900" y="4438650"/>
            <a:ext cx="5143500" cy="571500"/>
          </a:xfrm>
          <a:prstGeom prst="rect">
            <a:avLst/>
          </a:prstGeom>
          <a:noFill/>
          <a:ln w="0">
            <a:noFill/>
            <a:prstDash val="solid"/>
          </a:ln>
        </p:spPr>
        <p:txBody>
          <a:bodyPr lIns="0" tIns="0" rIns="0" bIns="0" anchor="t"/>
          <a:lstStyle/>
          <a:p>
            <a:pPr algn="l">
              <a:defRPr sz="1500" b="0">
                <a:solidFill>
                  <a:srgbClr val="C8D9E0"/>
                </a:solidFill>
                <a:latin typeface="Aptos"/>
                <a:ea typeface="Aptos"/>
                <a:cs typeface="Aptos"/>
              </a:defRPr>
            </a:pPr>
            <a:r>
              <a:rPr sz="1500" b="0">
                <a:solidFill>
                  <a:srgbClr val="C8D9E0"/>
                </a:solidFill>
                <a:latin typeface="Aptos"/>
                <a:ea typeface="Aptos"/>
                <a:cs typeface="Aptos"/>
              </a:rPr>
              <a:t>Prepared for project review and HR discussion</a:t>
            </a:r>
          </a:p>
        </p:txBody>
      </p:sp>
      <p:pic>
        <p:nvPicPr>
          <p:cNvPr id="20" name="Picture 19"/>
          <p:cNvPicPr>
            <a:picLocks noChangeAspect="1"/>
          </p:cNvPicPr>
          <p:nvPr/>
        </p:nvPicPr>
        <p:blipFill>
          <a:blip r:embed="rId3"/>
          <a:srcRect l="28825" r="28825"/>
          <a:stretch>
            <a:fillRect/>
          </a:stretch>
        </p:blipFill>
        <p:spPr>
          <a:xfrm>
            <a:off x="7000875" y="723900"/>
            <a:ext cx="4286250" cy="5143500"/>
          </a:xfrm>
          <a:prstGeom prst="rect">
            <a:avLst/>
          </a:prstGeom>
        </p:spPr>
      </p:pic>
      <p:sp>
        <p:nvSpPr>
          <p:cNvPr id="9" name="Rectangle 8">
            <a:extLst>
              <a:ext uri="{FF2B5EF4-FFF2-40B4-BE49-F238E27FC236}">
                <a16:creationId xmlns:a16="http://schemas.microsoft.com/office/drawing/2014/main" id="{4089F8EE-3314-4645-9484-3F93C2F482C9}"/>
              </a:ext>
            </a:extLst>
          </p:cNvPr>
          <p:cNvSpPr>
            <a:spLocks noGrp="1"/>
          </p:cNvSpPr>
          <p:nvPr/>
        </p:nvSpPr>
        <p:spPr>
          <a:xfrm>
            <a:off x="6705600" y="514350"/>
            <a:ext cx="19050" cy="5638800"/>
          </a:xfrm>
          <a:prstGeom prst="rect">
            <a:avLst/>
          </a:prstGeom>
          <a:solidFill>
            <a:srgbClr val="2E6178"/>
          </a:solidFill>
          <a:ln w="0">
            <a:noFill/>
            <a:prstDash val="solid"/>
          </a:ln>
        </p:spPr>
      </p:sp>
      <p:sp>
        <p:nvSpPr>
          <p:cNvPr id="10" name="Rectangle 9">
            <a:extLst>
              <a:ext uri="{FF2B5EF4-FFF2-40B4-BE49-F238E27FC236}">
                <a16:creationId xmlns:a16="http://schemas.microsoft.com/office/drawing/2014/main" id="{B7679EA6-0525-4B98-8AAD-FCB6166802E5}"/>
              </a:ext>
            </a:extLst>
          </p:cNvPr>
          <p:cNvSpPr>
            <a:spLocks noGrp="1"/>
          </p:cNvSpPr>
          <p:nvPr/>
        </p:nvSpPr>
        <p:spPr>
          <a:xfrm>
            <a:off x="609600" y="6515100"/>
            <a:ext cx="10972800" cy="9525"/>
          </a:xfrm>
          <a:prstGeom prst="rect">
            <a:avLst/>
          </a:prstGeom>
          <a:solidFill>
            <a:srgbClr val="D8E0E7"/>
          </a:solidFill>
          <a:ln w="0">
            <a:noFill/>
            <a:prstDash val="solid"/>
          </a:ln>
        </p:spPr>
      </p:sp>
      <p:sp>
        <p:nvSpPr>
          <p:cNvPr id="11" name="Rectangle 10">
            <a:extLst>
              <a:ext uri="{FF2B5EF4-FFF2-40B4-BE49-F238E27FC236}">
                <a16:creationId xmlns:a16="http://schemas.microsoft.com/office/drawing/2014/main" id="{6FEA58A5-AAF6-407D-844E-51A209589E32}"/>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12" name="Rectangle 11">
            <a:extLst>
              <a:ext uri="{FF2B5EF4-FFF2-40B4-BE49-F238E27FC236}">
                <a16:creationId xmlns:a16="http://schemas.microsoft.com/office/drawing/2014/main" id="{06332724-BA13-4910-B45A-A4DCB290ACE9}"/>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01</a:t>
            </a:r>
          </a:p>
        </p:txBody>
      </p:sp>
    </p:spTree>
    <p:extLst>
      <p:ext uri="{BB962C8B-B14F-4D97-AF65-F5344CB8AC3E}">
        <p14:creationId xmlns:p14="http://schemas.microsoft.com/office/powerpoint/2010/main" val="437751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5E791A8-3413-48EB-B86A-BC242B7F6AB0}"/>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BC6F4352-138D-446F-A985-A394D4D3FD86}"/>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Executive Snapshot</a:t>
            </a:r>
          </a:p>
        </p:txBody>
      </p:sp>
      <p:sp>
        <p:nvSpPr>
          <p:cNvPr id="3" name="Rectangle 2">
            <a:extLst>
              <a:ext uri="{FF2B5EF4-FFF2-40B4-BE49-F238E27FC236}">
                <a16:creationId xmlns:a16="http://schemas.microsoft.com/office/drawing/2014/main" id="{CFA45C5E-4914-477C-8EEB-33A92B290E93}"/>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B261A474-D46D-4C9D-93CC-2513A1247796}"/>
              </a:ext>
            </a:extLst>
          </p:cNvPr>
          <p:cNvSpPr>
            <a:spLocks noGrp="1"/>
          </p:cNvSpPr>
          <p:nvPr/>
        </p:nvSpPr>
        <p:spPr>
          <a:xfrm>
            <a:off x="609600" y="1352550"/>
            <a:ext cx="8763000" cy="552450"/>
          </a:xfrm>
          <a:prstGeom prst="rect">
            <a:avLst/>
          </a:prstGeom>
          <a:noFill/>
          <a:ln w="0">
            <a:noFill/>
            <a:prstDash val="solid"/>
          </a:ln>
        </p:spPr>
        <p:txBody>
          <a:bodyPr lIns="0" tIns="0" rIns="0" bIns="0" anchor="t"/>
          <a:lstStyle/>
          <a:p>
            <a:pPr algn="l">
              <a:defRPr sz="1575" b="0">
                <a:solidFill>
                  <a:srgbClr val="52616B"/>
                </a:solidFill>
                <a:latin typeface="Aptos"/>
                <a:ea typeface="Aptos"/>
                <a:cs typeface="Aptos"/>
              </a:defRPr>
            </a:pPr>
            <a:r>
              <a:rPr sz="1575" b="0">
                <a:solidFill>
                  <a:srgbClr val="52616B"/>
                </a:solidFill>
                <a:latin typeface="Aptos"/>
                <a:ea typeface="Aptos"/>
                <a:cs typeface="Aptos"/>
              </a:rPr>
              <a:t>The project converts raw mutual fund files into a validated analytics platform: clean data, SQLite model, risk metrics, reports, and Power BI dashboard assets.</a:t>
            </a:r>
          </a:p>
        </p:txBody>
      </p:sp>
      <p:sp>
        <p:nvSpPr>
          <p:cNvPr id="5" name="Rectangle: Rounded Corners 4">
            <a:extLst>
              <a:ext uri="{FF2B5EF4-FFF2-40B4-BE49-F238E27FC236}">
                <a16:creationId xmlns:a16="http://schemas.microsoft.com/office/drawing/2014/main" id="{D53A3972-DF22-4B8B-A557-6F42B08CCC22}"/>
              </a:ext>
            </a:extLst>
          </p:cNvPr>
          <p:cNvSpPr>
            <a:spLocks noGrp="1"/>
          </p:cNvSpPr>
          <p:nvPr/>
        </p:nvSpPr>
        <p:spPr>
          <a:xfrm>
            <a:off x="685800" y="2228850"/>
            <a:ext cx="2381250" cy="1085850"/>
          </a:xfrm>
          <a:prstGeom prst="roundRect">
            <a:avLst>
              <a:gd name="adj" fmla="val 5263"/>
            </a:avLst>
          </a:prstGeom>
          <a:solidFill>
            <a:srgbClr val="FFFFFF"/>
          </a:solidFill>
          <a:ln w="9525">
            <a:solidFill>
              <a:srgbClr val="D8E0E7"/>
            </a:solidFill>
            <a:prstDash val="solid"/>
          </a:ln>
        </p:spPr>
      </p:sp>
      <p:sp>
        <p:nvSpPr>
          <p:cNvPr id="6" name="Rectangle 5">
            <a:extLst>
              <a:ext uri="{FF2B5EF4-FFF2-40B4-BE49-F238E27FC236}">
                <a16:creationId xmlns:a16="http://schemas.microsoft.com/office/drawing/2014/main" id="{C7C80507-9164-4190-9068-DE4E04353630}"/>
              </a:ext>
            </a:extLst>
          </p:cNvPr>
          <p:cNvSpPr>
            <a:spLocks noGrp="1"/>
          </p:cNvSpPr>
          <p:nvPr/>
        </p:nvSpPr>
        <p:spPr>
          <a:xfrm>
            <a:off x="685800" y="2228850"/>
            <a:ext cx="57150" cy="1085850"/>
          </a:xfrm>
          <a:prstGeom prst="rect">
            <a:avLst/>
          </a:prstGeom>
          <a:solidFill>
            <a:srgbClr val="00866E"/>
          </a:solidFill>
          <a:ln w="0">
            <a:noFill/>
            <a:prstDash val="solid"/>
          </a:ln>
        </p:spPr>
      </p:sp>
      <p:sp>
        <p:nvSpPr>
          <p:cNvPr id="7" name="Rectangle 6">
            <a:extLst>
              <a:ext uri="{FF2B5EF4-FFF2-40B4-BE49-F238E27FC236}">
                <a16:creationId xmlns:a16="http://schemas.microsoft.com/office/drawing/2014/main" id="{082EB838-2857-4A67-9C3C-60CF00C72C2A}"/>
              </a:ext>
            </a:extLst>
          </p:cNvPr>
          <p:cNvSpPr>
            <a:spLocks noGrp="1"/>
          </p:cNvSpPr>
          <p:nvPr/>
        </p:nvSpPr>
        <p:spPr>
          <a:xfrm>
            <a:off x="914400" y="2419350"/>
            <a:ext cx="19240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10</a:t>
            </a:r>
          </a:p>
        </p:txBody>
      </p:sp>
      <p:sp>
        <p:nvSpPr>
          <p:cNvPr id="8" name="Rectangle 7">
            <a:extLst>
              <a:ext uri="{FF2B5EF4-FFF2-40B4-BE49-F238E27FC236}">
                <a16:creationId xmlns:a16="http://schemas.microsoft.com/office/drawing/2014/main" id="{FFBD8695-4EE4-4C29-A679-8E4C25A47013}"/>
              </a:ext>
            </a:extLst>
          </p:cNvPr>
          <p:cNvSpPr>
            <a:spLocks noGrp="1"/>
          </p:cNvSpPr>
          <p:nvPr/>
        </p:nvSpPr>
        <p:spPr>
          <a:xfrm>
            <a:off x="914400" y="2876550"/>
            <a:ext cx="19240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source datasets processed across NAV, AUM, SIP, transactions, holdings, and benchmarks</a:t>
            </a:r>
          </a:p>
        </p:txBody>
      </p:sp>
      <p:sp>
        <p:nvSpPr>
          <p:cNvPr id="9" name="Rectangle: Rounded Corners 8">
            <a:extLst>
              <a:ext uri="{FF2B5EF4-FFF2-40B4-BE49-F238E27FC236}">
                <a16:creationId xmlns:a16="http://schemas.microsoft.com/office/drawing/2014/main" id="{C8FA76DA-A9F5-4CF9-BF60-6567DB02FB5F}"/>
              </a:ext>
            </a:extLst>
          </p:cNvPr>
          <p:cNvSpPr>
            <a:spLocks noGrp="1"/>
          </p:cNvSpPr>
          <p:nvPr/>
        </p:nvSpPr>
        <p:spPr>
          <a:xfrm>
            <a:off x="3295650" y="2228850"/>
            <a:ext cx="2381250" cy="1085850"/>
          </a:xfrm>
          <a:prstGeom prst="roundRect">
            <a:avLst>
              <a:gd name="adj" fmla="val 5263"/>
            </a:avLst>
          </a:prstGeom>
          <a:solidFill>
            <a:srgbClr val="FFFFFF"/>
          </a:solidFill>
          <a:ln w="9525">
            <a:solidFill>
              <a:srgbClr val="D8E0E7"/>
            </a:solidFill>
            <a:prstDash val="solid"/>
          </a:ln>
        </p:spPr>
      </p:sp>
      <p:sp>
        <p:nvSpPr>
          <p:cNvPr id="10" name="Rectangle 9">
            <a:extLst>
              <a:ext uri="{FF2B5EF4-FFF2-40B4-BE49-F238E27FC236}">
                <a16:creationId xmlns:a16="http://schemas.microsoft.com/office/drawing/2014/main" id="{771DD6F8-46BC-474A-9D5F-36F6A1722C10}"/>
              </a:ext>
            </a:extLst>
          </p:cNvPr>
          <p:cNvSpPr>
            <a:spLocks noGrp="1"/>
          </p:cNvSpPr>
          <p:nvPr/>
        </p:nvSpPr>
        <p:spPr>
          <a:xfrm>
            <a:off x="3295650" y="2228850"/>
            <a:ext cx="57150" cy="1085850"/>
          </a:xfrm>
          <a:prstGeom prst="rect">
            <a:avLst/>
          </a:prstGeom>
          <a:solidFill>
            <a:srgbClr val="0B3D5C"/>
          </a:solidFill>
          <a:ln w="0">
            <a:noFill/>
            <a:prstDash val="solid"/>
          </a:ln>
        </p:spPr>
      </p:sp>
      <p:sp>
        <p:nvSpPr>
          <p:cNvPr id="11" name="Rectangle 10">
            <a:extLst>
              <a:ext uri="{FF2B5EF4-FFF2-40B4-BE49-F238E27FC236}">
                <a16:creationId xmlns:a16="http://schemas.microsoft.com/office/drawing/2014/main" id="{10264F3E-0621-495E-B03B-FF8783EB0644}"/>
              </a:ext>
            </a:extLst>
          </p:cNvPr>
          <p:cNvSpPr>
            <a:spLocks noGrp="1"/>
          </p:cNvSpPr>
          <p:nvPr/>
        </p:nvSpPr>
        <p:spPr>
          <a:xfrm>
            <a:off x="3524250" y="2419350"/>
            <a:ext cx="19240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64,320</a:t>
            </a:r>
          </a:p>
        </p:txBody>
      </p:sp>
      <p:sp>
        <p:nvSpPr>
          <p:cNvPr id="12" name="Rectangle 11">
            <a:extLst>
              <a:ext uri="{FF2B5EF4-FFF2-40B4-BE49-F238E27FC236}">
                <a16:creationId xmlns:a16="http://schemas.microsoft.com/office/drawing/2014/main" id="{EF1F23C5-DB52-4005-B6E8-5A8162418AAF}"/>
              </a:ext>
            </a:extLst>
          </p:cNvPr>
          <p:cNvSpPr>
            <a:spLocks noGrp="1"/>
          </p:cNvSpPr>
          <p:nvPr/>
        </p:nvSpPr>
        <p:spPr>
          <a:xfrm>
            <a:off x="3524250" y="2876550"/>
            <a:ext cx="19240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processed NAV rows after calendar fill and validation</a:t>
            </a:r>
          </a:p>
        </p:txBody>
      </p:sp>
      <p:sp>
        <p:nvSpPr>
          <p:cNvPr id="13" name="Rectangle: Rounded Corners 12">
            <a:extLst>
              <a:ext uri="{FF2B5EF4-FFF2-40B4-BE49-F238E27FC236}">
                <a16:creationId xmlns:a16="http://schemas.microsoft.com/office/drawing/2014/main" id="{2501DA6F-7F48-4766-B242-BE48AEF0FAF9}"/>
              </a:ext>
            </a:extLst>
          </p:cNvPr>
          <p:cNvSpPr>
            <a:spLocks noGrp="1"/>
          </p:cNvSpPr>
          <p:nvPr/>
        </p:nvSpPr>
        <p:spPr>
          <a:xfrm>
            <a:off x="5905500" y="2228850"/>
            <a:ext cx="2381250" cy="1085850"/>
          </a:xfrm>
          <a:prstGeom prst="roundRect">
            <a:avLst>
              <a:gd name="adj" fmla="val 5263"/>
            </a:avLst>
          </a:prstGeom>
          <a:solidFill>
            <a:srgbClr val="FFFFFF"/>
          </a:solidFill>
          <a:ln w="9525">
            <a:solidFill>
              <a:srgbClr val="D8E0E7"/>
            </a:solidFill>
            <a:prstDash val="solid"/>
          </a:ln>
        </p:spPr>
      </p:sp>
      <p:sp>
        <p:nvSpPr>
          <p:cNvPr id="14" name="Rectangle 13">
            <a:extLst>
              <a:ext uri="{FF2B5EF4-FFF2-40B4-BE49-F238E27FC236}">
                <a16:creationId xmlns:a16="http://schemas.microsoft.com/office/drawing/2014/main" id="{7E6E245D-69B0-4551-9645-0152B5DE30E1}"/>
              </a:ext>
            </a:extLst>
          </p:cNvPr>
          <p:cNvSpPr>
            <a:spLocks noGrp="1"/>
          </p:cNvSpPr>
          <p:nvPr/>
        </p:nvSpPr>
        <p:spPr>
          <a:xfrm>
            <a:off x="5905500" y="2228850"/>
            <a:ext cx="57150" cy="1085850"/>
          </a:xfrm>
          <a:prstGeom prst="rect">
            <a:avLst/>
          </a:prstGeom>
          <a:solidFill>
            <a:srgbClr val="F2A541"/>
          </a:solidFill>
          <a:ln w="0">
            <a:noFill/>
            <a:prstDash val="solid"/>
          </a:ln>
        </p:spPr>
      </p:sp>
      <p:sp>
        <p:nvSpPr>
          <p:cNvPr id="15" name="Rectangle 14">
            <a:extLst>
              <a:ext uri="{FF2B5EF4-FFF2-40B4-BE49-F238E27FC236}">
                <a16:creationId xmlns:a16="http://schemas.microsoft.com/office/drawing/2014/main" id="{F7A82872-10AF-4406-AE4E-AFE7A3666C92}"/>
              </a:ext>
            </a:extLst>
          </p:cNvPr>
          <p:cNvSpPr>
            <a:spLocks noGrp="1"/>
          </p:cNvSpPr>
          <p:nvPr/>
        </p:nvSpPr>
        <p:spPr>
          <a:xfrm>
            <a:off x="6134100" y="2419350"/>
            <a:ext cx="19240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32,778</a:t>
            </a:r>
          </a:p>
        </p:txBody>
      </p:sp>
      <p:sp>
        <p:nvSpPr>
          <p:cNvPr id="16" name="Rectangle 15">
            <a:extLst>
              <a:ext uri="{FF2B5EF4-FFF2-40B4-BE49-F238E27FC236}">
                <a16:creationId xmlns:a16="http://schemas.microsoft.com/office/drawing/2014/main" id="{783606C6-248E-4ACC-AD5B-C39373270215}"/>
              </a:ext>
            </a:extLst>
          </p:cNvPr>
          <p:cNvSpPr>
            <a:spLocks noGrp="1"/>
          </p:cNvSpPr>
          <p:nvPr/>
        </p:nvSpPr>
        <p:spPr>
          <a:xfrm>
            <a:off x="6134100" y="2876550"/>
            <a:ext cx="19240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investor transactions analyzed for geography, demographics, and channel behavior</a:t>
            </a:r>
          </a:p>
        </p:txBody>
      </p:sp>
      <p:sp>
        <p:nvSpPr>
          <p:cNvPr id="17" name="Rectangle: Rounded Corners 16">
            <a:extLst>
              <a:ext uri="{FF2B5EF4-FFF2-40B4-BE49-F238E27FC236}">
                <a16:creationId xmlns:a16="http://schemas.microsoft.com/office/drawing/2014/main" id="{A38E0AC7-C21C-48C6-B1CB-55CEFEC9B9E9}"/>
              </a:ext>
            </a:extLst>
          </p:cNvPr>
          <p:cNvSpPr>
            <a:spLocks noGrp="1"/>
          </p:cNvSpPr>
          <p:nvPr/>
        </p:nvSpPr>
        <p:spPr>
          <a:xfrm>
            <a:off x="8515350" y="2228850"/>
            <a:ext cx="2381250" cy="1085850"/>
          </a:xfrm>
          <a:prstGeom prst="roundRect">
            <a:avLst>
              <a:gd name="adj" fmla="val 5263"/>
            </a:avLst>
          </a:prstGeom>
          <a:solidFill>
            <a:srgbClr val="FFFFFF"/>
          </a:solidFill>
          <a:ln w="9525">
            <a:solidFill>
              <a:srgbClr val="D8E0E7"/>
            </a:solidFill>
            <a:prstDash val="solid"/>
          </a:ln>
        </p:spPr>
      </p:sp>
      <p:sp>
        <p:nvSpPr>
          <p:cNvPr id="18" name="Rectangle 17">
            <a:extLst>
              <a:ext uri="{FF2B5EF4-FFF2-40B4-BE49-F238E27FC236}">
                <a16:creationId xmlns:a16="http://schemas.microsoft.com/office/drawing/2014/main" id="{605E6E1D-04CD-402B-A878-2CE63E709B2A}"/>
              </a:ext>
            </a:extLst>
          </p:cNvPr>
          <p:cNvSpPr>
            <a:spLocks noGrp="1"/>
          </p:cNvSpPr>
          <p:nvPr/>
        </p:nvSpPr>
        <p:spPr>
          <a:xfrm>
            <a:off x="8515350" y="2228850"/>
            <a:ext cx="57150" cy="1085850"/>
          </a:xfrm>
          <a:prstGeom prst="rect">
            <a:avLst/>
          </a:prstGeom>
          <a:solidFill>
            <a:srgbClr val="D1495B"/>
          </a:solidFill>
          <a:ln w="0">
            <a:noFill/>
            <a:prstDash val="solid"/>
          </a:ln>
        </p:spPr>
      </p:sp>
      <p:sp>
        <p:nvSpPr>
          <p:cNvPr id="19" name="Rectangle 18">
            <a:extLst>
              <a:ext uri="{FF2B5EF4-FFF2-40B4-BE49-F238E27FC236}">
                <a16:creationId xmlns:a16="http://schemas.microsoft.com/office/drawing/2014/main" id="{1D0F1B55-0DC6-488E-861E-F609EA270641}"/>
              </a:ext>
            </a:extLst>
          </p:cNvPr>
          <p:cNvSpPr>
            <a:spLocks noGrp="1"/>
          </p:cNvSpPr>
          <p:nvPr/>
        </p:nvSpPr>
        <p:spPr>
          <a:xfrm>
            <a:off x="8743950" y="2419350"/>
            <a:ext cx="19240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100%</a:t>
            </a:r>
          </a:p>
        </p:txBody>
      </p:sp>
      <p:sp>
        <p:nvSpPr>
          <p:cNvPr id="20" name="Rectangle 19">
            <a:extLst>
              <a:ext uri="{FF2B5EF4-FFF2-40B4-BE49-F238E27FC236}">
                <a16:creationId xmlns:a16="http://schemas.microsoft.com/office/drawing/2014/main" id="{B62FB09F-E773-480D-A7E9-A6E7C8C567D5}"/>
              </a:ext>
            </a:extLst>
          </p:cNvPr>
          <p:cNvSpPr>
            <a:spLocks noGrp="1"/>
          </p:cNvSpPr>
          <p:nvPr/>
        </p:nvSpPr>
        <p:spPr>
          <a:xfrm>
            <a:off x="8743950" y="2876550"/>
            <a:ext cx="19240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SQLite row audits matched processed outputs across all modeled tables</a:t>
            </a:r>
          </a:p>
        </p:txBody>
      </p:sp>
      <p:sp>
        <p:nvSpPr>
          <p:cNvPr id="21" name="Rectangle: Rounded Corners 20">
            <a:extLst>
              <a:ext uri="{FF2B5EF4-FFF2-40B4-BE49-F238E27FC236}">
                <a16:creationId xmlns:a16="http://schemas.microsoft.com/office/drawing/2014/main" id="{E4107F7C-6F6F-4DEA-94E4-A95812BBEC12}"/>
              </a:ext>
            </a:extLst>
          </p:cNvPr>
          <p:cNvSpPr>
            <a:spLocks noGrp="1"/>
          </p:cNvSpPr>
          <p:nvPr/>
        </p:nvSpPr>
        <p:spPr>
          <a:xfrm>
            <a:off x="838200" y="3829050"/>
            <a:ext cx="4876800" cy="1428750"/>
          </a:xfrm>
          <a:prstGeom prst="roundRect">
            <a:avLst>
              <a:gd name="adj" fmla="val 4000"/>
            </a:avLst>
          </a:prstGeom>
          <a:solidFill>
            <a:srgbClr val="FFFFFF"/>
          </a:solidFill>
          <a:ln w="9525">
            <a:solidFill>
              <a:srgbClr val="D8E0E7"/>
            </a:solidFill>
            <a:prstDash val="solid"/>
          </a:ln>
        </p:spPr>
      </p:sp>
      <p:sp>
        <p:nvSpPr>
          <p:cNvPr id="22" name="Rectangle 21">
            <a:extLst>
              <a:ext uri="{FF2B5EF4-FFF2-40B4-BE49-F238E27FC236}">
                <a16:creationId xmlns:a16="http://schemas.microsoft.com/office/drawing/2014/main" id="{54085348-AD4B-4392-A816-574EBAAAC471}"/>
              </a:ext>
            </a:extLst>
          </p:cNvPr>
          <p:cNvSpPr>
            <a:spLocks noGrp="1"/>
          </p:cNvSpPr>
          <p:nvPr/>
        </p:nvSpPr>
        <p:spPr>
          <a:xfrm>
            <a:off x="1009650" y="4019550"/>
            <a:ext cx="323850" cy="38100"/>
          </a:xfrm>
          <a:prstGeom prst="rect">
            <a:avLst/>
          </a:prstGeom>
          <a:solidFill>
            <a:srgbClr val="00866E"/>
          </a:solidFill>
          <a:ln w="0">
            <a:noFill/>
            <a:prstDash val="solid"/>
          </a:ln>
        </p:spPr>
      </p:sp>
      <p:sp>
        <p:nvSpPr>
          <p:cNvPr id="23" name="Rectangle 22">
            <a:extLst>
              <a:ext uri="{FF2B5EF4-FFF2-40B4-BE49-F238E27FC236}">
                <a16:creationId xmlns:a16="http://schemas.microsoft.com/office/drawing/2014/main" id="{69E50A99-C4F7-487C-B435-7286B80B338F}"/>
              </a:ext>
            </a:extLst>
          </p:cNvPr>
          <p:cNvSpPr>
            <a:spLocks noGrp="1"/>
          </p:cNvSpPr>
          <p:nvPr/>
        </p:nvSpPr>
        <p:spPr>
          <a:xfrm>
            <a:off x="1009650" y="4152900"/>
            <a:ext cx="45339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Core message</a:t>
            </a:r>
          </a:p>
        </p:txBody>
      </p:sp>
      <p:sp>
        <p:nvSpPr>
          <p:cNvPr id="24" name="Rectangle 23">
            <a:extLst>
              <a:ext uri="{FF2B5EF4-FFF2-40B4-BE49-F238E27FC236}">
                <a16:creationId xmlns:a16="http://schemas.microsoft.com/office/drawing/2014/main" id="{868B8F49-0240-4F0E-A2F4-D15D2046CED4}"/>
              </a:ext>
            </a:extLst>
          </p:cNvPr>
          <p:cNvSpPr>
            <a:spLocks noGrp="1"/>
          </p:cNvSpPr>
          <p:nvPr/>
        </p:nvSpPr>
        <p:spPr>
          <a:xfrm>
            <a:off x="1009650" y="4495800"/>
            <a:ext cx="453390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This is not only a charting exercise. It demonstrates the full analytics lifecycle: data ingestion, cleaning, modeling, metric design, insight generation, BI storytelling, and documentation.</a:t>
            </a:r>
          </a:p>
        </p:txBody>
      </p:sp>
      <p:sp>
        <p:nvSpPr>
          <p:cNvPr id="25" name="Rectangle: Rounded Corners 24">
            <a:extLst>
              <a:ext uri="{FF2B5EF4-FFF2-40B4-BE49-F238E27FC236}">
                <a16:creationId xmlns:a16="http://schemas.microsoft.com/office/drawing/2014/main" id="{9DE7F65C-B963-4207-B299-34FD3F360017}"/>
              </a:ext>
            </a:extLst>
          </p:cNvPr>
          <p:cNvSpPr>
            <a:spLocks noGrp="1"/>
          </p:cNvSpPr>
          <p:nvPr/>
        </p:nvSpPr>
        <p:spPr>
          <a:xfrm>
            <a:off x="6115050" y="3829050"/>
            <a:ext cx="4876800" cy="1428750"/>
          </a:xfrm>
          <a:prstGeom prst="roundRect">
            <a:avLst>
              <a:gd name="adj" fmla="val 4000"/>
            </a:avLst>
          </a:prstGeom>
          <a:solidFill>
            <a:srgbClr val="FFFFFF"/>
          </a:solidFill>
          <a:ln w="9525">
            <a:solidFill>
              <a:srgbClr val="D8E0E7"/>
            </a:solidFill>
            <a:prstDash val="solid"/>
          </a:ln>
        </p:spPr>
      </p:sp>
      <p:sp>
        <p:nvSpPr>
          <p:cNvPr id="26" name="Rectangle 25">
            <a:extLst>
              <a:ext uri="{FF2B5EF4-FFF2-40B4-BE49-F238E27FC236}">
                <a16:creationId xmlns:a16="http://schemas.microsoft.com/office/drawing/2014/main" id="{C978486F-C5C8-49DA-8F8D-A0F280A68F0A}"/>
              </a:ext>
            </a:extLst>
          </p:cNvPr>
          <p:cNvSpPr>
            <a:spLocks noGrp="1"/>
          </p:cNvSpPr>
          <p:nvPr/>
        </p:nvSpPr>
        <p:spPr>
          <a:xfrm>
            <a:off x="6286500" y="4019550"/>
            <a:ext cx="323850" cy="38100"/>
          </a:xfrm>
          <a:prstGeom prst="rect">
            <a:avLst/>
          </a:prstGeom>
          <a:solidFill>
            <a:srgbClr val="0B3D5C"/>
          </a:solidFill>
          <a:ln w="0">
            <a:noFill/>
            <a:prstDash val="solid"/>
          </a:ln>
        </p:spPr>
      </p:sp>
      <p:sp>
        <p:nvSpPr>
          <p:cNvPr id="27" name="Rectangle 26">
            <a:extLst>
              <a:ext uri="{FF2B5EF4-FFF2-40B4-BE49-F238E27FC236}">
                <a16:creationId xmlns:a16="http://schemas.microsoft.com/office/drawing/2014/main" id="{4DFB6EFD-FF4E-4EE9-B8EC-92EF359C2868}"/>
              </a:ext>
            </a:extLst>
          </p:cNvPr>
          <p:cNvSpPr>
            <a:spLocks noGrp="1"/>
          </p:cNvSpPr>
          <p:nvPr/>
        </p:nvSpPr>
        <p:spPr>
          <a:xfrm>
            <a:off x="6286500" y="4152900"/>
            <a:ext cx="45339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Business result</a:t>
            </a:r>
          </a:p>
        </p:txBody>
      </p:sp>
      <p:sp>
        <p:nvSpPr>
          <p:cNvPr id="28" name="Rectangle 27">
            <a:extLst>
              <a:ext uri="{FF2B5EF4-FFF2-40B4-BE49-F238E27FC236}">
                <a16:creationId xmlns:a16="http://schemas.microsoft.com/office/drawing/2014/main" id="{FF15280D-F1E9-43F8-9D26-BA92FC6739FD}"/>
              </a:ext>
            </a:extLst>
          </p:cNvPr>
          <p:cNvSpPr>
            <a:spLocks noGrp="1"/>
          </p:cNvSpPr>
          <p:nvPr/>
        </p:nvSpPr>
        <p:spPr>
          <a:xfrm>
            <a:off x="6286500" y="4495800"/>
            <a:ext cx="453390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The platform identifies industry momentum, investor behavior patterns, fund performance leaders, and risk pockets that can support product, advisory, and portfolio decisions.</a:t>
            </a:r>
          </a:p>
        </p:txBody>
      </p:sp>
      <p:sp>
        <p:nvSpPr>
          <p:cNvPr id="29" name="Rectangle 28">
            <a:extLst>
              <a:ext uri="{FF2B5EF4-FFF2-40B4-BE49-F238E27FC236}">
                <a16:creationId xmlns:a16="http://schemas.microsoft.com/office/drawing/2014/main" id="{45375D1A-0850-4009-854B-404A52531043}"/>
              </a:ext>
            </a:extLst>
          </p:cNvPr>
          <p:cNvSpPr>
            <a:spLocks noGrp="1"/>
          </p:cNvSpPr>
          <p:nvPr/>
        </p:nvSpPr>
        <p:spPr>
          <a:xfrm>
            <a:off x="609600" y="6515100"/>
            <a:ext cx="10972800" cy="9525"/>
          </a:xfrm>
          <a:prstGeom prst="rect">
            <a:avLst/>
          </a:prstGeom>
          <a:solidFill>
            <a:srgbClr val="D8E0E7"/>
          </a:solidFill>
          <a:ln w="0">
            <a:noFill/>
            <a:prstDash val="solid"/>
          </a:ln>
        </p:spPr>
      </p:sp>
      <p:sp>
        <p:nvSpPr>
          <p:cNvPr id="30" name="Rectangle 29">
            <a:extLst>
              <a:ext uri="{FF2B5EF4-FFF2-40B4-BE49-F238E27FC236}">
                <a16:creationId xmlns:a16="http://schemas.microsoft.com/office/drawing/2014/main" id="{AC14FB17-545C-448D-9FD3-B27D00BF1B79}"/>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31" name="Rectangle 30">
            <a:extLst>
              <a:ext uri="{FF2B5EF4-FFF2-40B4-BE49-F238E27FC236}">
                <a16:creationId xmlns:a16="http://schemas.microsoft.com/office/drawing/2014/main" id="{B6D668C2-92E0-456B-87F5-3A9B0B355158}"/>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02</a:t>
            </a:r>
          </a:p>
        </p:txBody>
      </p:sp>
    </p:spTree>
    <p:extLst>
      <p:ext uri="{BB962C8B-B14F-4D97-AF65-F5344CB8AC3E}">
        <p14:creationId xmlns:p14="http://schemas.microsoft.com/office/powerpoint/2010/main" val="2024850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8075AC28-B6AA-4F00-9613-84AAD3D29C1C}"/>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A4C09AB2-C9A7-4E59-BBE7-CD14E1D4889E}"/>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Problem And Objective</a:t>
            </a:r>
          </a:p>
        </p:txBody>
      </p:sp>
      <p:sp>
        <p:nvSpPr>
          <p:cNvPr id="3" name="Rectangle 2">
            <a:extLst>
              <a:ext uri="{FF2B5EF4-FFF2-40B4-BE49-F238E27FC236}">
                <a16:creationId xmlns:a16="http://schemas.microsoft.com/office/drawing/2014/main" id="{EAD27295-F076-4A00-9F2A-79694FE83550}"/>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1CFC8400-A63C-4683-8EBB-54FBE8ED37D9}"/>
              </a:ext>
            </a:extLst>
          </p:cNvPr>
          <p:cNvSpPr>
            <a:spLocks noGrp="1"/>
          </p:cNvSpPr>
          <p:nvPr/>
        </p:nvSpPr>
        <p:spPr>
          <a:xfrm>
            <a:off x="609600" y="1466850"/>
            <a:ext cx="4724400" cy="476250"/>
          </a:xfrm>
          <a:prstGeom prst="rect">
            <a:avLst/>
          </a:prstGeom>
          <a:noFill/>
          <a:ln w="0">
            <a:noFill/>
            <a:prstDash val="solid"/>
          </a:ln>
        </p:spPr>
        <p:txBody>
          <a:bodyPr lIns="0" tIns="0" rIns="0" bIns="0" anchor="t"/>
          <a:lstStyle/>
          <a:p>
            <a:pPr algn="l">
              <a:defRPr sz="2100" b="1">
                <a:solidFill>
                  <a:srgbClr val="0B3D5C"/>
                </a:solidFill>
                <a:latin typeface="Aptos Display"/>
                <a:ea typeface="Aptos Display"/>
                <a:cs typeface="Aptos Display"/>
              </a:defRPr>
            </a:pPr>
            <a:r>
              <a:rPr sz="2100" b="1">
                <a:solidFill>
                  <a:srgbClr val="0B3D5C"/>
                </a:solidFill>
                <a:latin typeface="Aptos Display"/>
                <a:ea typeface="Aptos Display"/>
                <a:cs typeface="Aptos Display"/>
              </a:rPr>
              <a:t>Problem</a:t>
            </a:r>
          </a:p>
        </p:txBody>
      </p:sp>
      <p:sp>
        <p:nvSpPr>
          <p:cNvPr id="5" name="Rectangle 4">
            <a:extLst>
              <a:ext uri="{FF2B5EF4-FFF2-40B4-BE49-F238E27FC236}">
                <a16:creationId xmlns:a16="http://schemas.microsoft.com/office/drawing/2014/main" id="{56580B45-F754-4CCE-9938-9C5EA8D42CBC}"/>
              </a:ext>
            </a:extLst>
          </p:cNvPr>
          <p:cNvSpPr>
            <a:spLocks noGrp="1"/>
          </p:cNvSpPr>
          <p:nvPr/>
        </p:nvSpPr>
        <p:spPr>
          <a:xfrm>
            <a:off x="609600" y="1943100"/>
            <a:ext cx="4762500" cy="1257300"/>
          </a:xfrm>
          <a:prstGeom prst="rect">
            <a:avLst/>
          </a:prstGeom>
          <a:noFill/>
          <a:ln w="0">
            <a:noFill/>
            <a:prstDash val="solid"/>
          </a:ln>
        </p:spPr>
        <p:txBody>
          <a:bodyPr lIns="0" tIns="0" rIns="0" bIns="0" anchor="t"/>
          <a:lstStyle/>
          <a:p>
            <a:pPr algn="l">
              <a:defRPr sz="1425" b="0">
                <a:solidFill>
                  <a:srgbClr val="52616B"/>
                </a:solidFill>
                <a:latin typeface="Aptos"/>
                <a:ea typeface="Aptos"/>
                <a:cs typeface="Aptos"/>
              </a:defRPr>
            </a:pPr>
            <a:r>
              <a:rPr sz="1425" b="0">
                <a:solidFill>
                  <a:srgbClr val="52616B"/>
                </a:solidFill>
                <a:latin typeface="Aptos"/>
                <a:ea typeface="Aptos"/>
                <a:cs typeface="Aptos"/>
              </a:rPr>
              <a:t>Mutual fund information is spread across NAV history, AUM snapshots, SIP trends, investor transactions, portfolio holdings, scheme performance, and benchmark files. Without one clean model, it is hard to compare funds or explain investor behavior.</a:t>
            </a:r>
          </a:p>
        </p:txBody>
      </p:sp>
      <p:sp>
        <p:nvSpPr>
          <p:cNvPr id="6" name="Rectangle 5">
            <a:extLst>
              <a:ext uri="{FF2B5EF4-FFF2-40B4-BE49-F238E27FC236}">
                <a16:creationId xmlns:a16="http://schemas.microsoft.com/office/drawing/2014/main" id="{5738D22A-77A5-4506-A6E1-08EA2729F30B}"/>
              </a:ext>
            </a:extLst>
          </p:cNvPr>
          <p:cNvSpPr>
            <a:spLocks noGrp="1"/>
          </p:cNvSpPr>
          <p:nvPr/>
        </p:nvSpPr>
        <p:spPr>
          <a:xfrm>
            <a:off x="6572250" y="1466850"/>
            <a:ext cx="4724400" cy="476250"/>
          </a:xfrm>
          <a:prstGeom prst="rect">
            <a:avLst/>
          </a:prstGeom>
          <a:noFill/>
          <a:ln w="0">
            <a:noFill/>
            <a:prstDash val="solid"/>
          </a:ln>
        </p:spPr>
        <p:txBody>
          <a:bodyPr lIns="0" tIns="0" rIns="0" bIns="0" anchor="t"/>
          <a:lstStyle/>
          <a:p>
            <a:pPr algn="l">
              <a:defRPr sz="2100" b="1">
                <a:solidFill>
                  <a:srgbClr val="00866E"/>
                </a:solidFill>
                <a:latin typeface="Aptos Display"/>
                <a:ea typeface="Aptos Display"/>
                <a:cs typeface="Aptos Display"/>
              </a:defRPr>
            </a:pPr>
            <a:r>
              <a:rPr sz="2100" b="1">
                <a:solidFill>
                  <a:srgbClr val="00866E"/>
                </a:solidFill>
                <a:latin typeface="Aptos Display"/>
                <a:ea typeface="Aptos Display"/>
                <a:cs typeface="Aptos Display"/>
              </a:rPr>
              <a:t>Objective</a:t>
            </a:r>
          </a:p>
        </p:txBody>
      </p:sp>
      <p:sp>
        <p:nvSpPr>
          <p:cNvPr id="7" name="Rectangle 6">
            <a:extLst>
              <a:ext uri="{FF2B5EF4-FFF2-40B4-BE49-F238E27FC236}">
                <a16:creationId xmlns:a16="http://schemas.microsoft.com/office/drawing/2014/main" id="{49ED56AC-6D3C-48EE-90B2-2537C7255E19}"/>
              </a:ext>
            </a:extLst>
          </p:cNvPr>
          <p:cNvSpPr>
            <a:spLocks noGrp="1"/>
          </p:cNvSpPr>
          <p:nvPr/>
        </p:nvSpPr>
        <p:spPr>
          <a:xfrm>
            <a:off x="6572250" y="1943100"/>
            <a:ext cx="4762500" cy="1257300"/>
          </a:xfrm>
          <a:prstGeom prst="rect">
            <a:avLst/>
          </a:prstGeom>
          <a:noFill/>
          <a:ln w="0">
            <a:noFill/>
            <a:prstDash val="solid"/>
          </a:ln>
        </p:spPr>
        <p:txBody>
          <a:bodyPr lIns="0" tIns="0" rIns="0" bIns="0" anchor="t"/>
          <a:lstStyle/>
          <a:p>
            <a:pPr algn="l">
              <a:defRPr sz="1425" b="0">
                <a:solidFill>
                  <a:srgbClr val="52616B"/>
                </a:solidFill>
                <a:latin typeface="Aptos"/>
                <a:ea typeface="Aptos"/>
                <a:cs typeface="Aptos"/>
              </a:defRPr>
            </a:pPr>
            <a:r>
              <a:rPr sz="1425" b="0">
                <a:solidFill>
                  <a:srgbClr val="52616B"/>
                </a:solidFill>
                <a:latin typeface="Aptos"/>
                <a:ea typeface="Aptos"/>
                <a:cs typeface="Aptos"/>
              </a:rPr>
              <a:t>Build a reproducible analytics system that cleans the source data, stores it in a star schema, computes risk-adjusted performance, generates report visuals, and supports dashboard-based decision making.</a:t>
            </a:r>
          </a:p>
        </p:txBody>
      </p:sp>
      <p:sp>
        <p:nvSpPr>
          <p:cNvPr id="8" name="Rectangle 7">
            <a:extLst>
              <a:ext uri="{FF2B5EF4-FFF2-40B4-BE49-F238E27FC236}">
                <a16:creationId xmlns:a16="http://schemas.microsoft.com/office/drawing/2014/main" id="{AF03BF9A-4A7D-4541-8286-55AB2B16EB4A}"/>
              </a:ext>
            </a:extLst>
          </p:cNvPr>
          <p:cNvSpPr>
            <a:spLocks noGrp="1"/>
          </p:cNvSpPr>
          <p:nvPr/>
        </p:nvSpPr>
        <p:spPr>
          <a:xfrm>
            <a:off x="5924550" y="1447800"/>
            <a:ext cx="19050" cy="2190750"/>
          </a:xfrm>
          <a:prstGeom prst="rect">
            <a:avLst/>
          </a:prstGeom>
          <a:solidFill>
            <a:srgbClr val="D8E0E7"/>
          </a:solidFill>
          <a:ln w="0">
            <a:noFill/>
            <a:prstDash val="solid"/>
          </a:ln>
        </p:spPr>
      </p:sp>
      <p:sp>
        <p:nvSpPr>
          <p:cNvPr id="9" name="Rectangle: Rounded Corners 8">
            <a:extLst>
              <a:ext uri="{FF2B5EF4-FFF2-40B4-BE49-F238E27FC236}">
                <a16:creationId xmlns:a16="http://schemas.microsoft.com/office/drawing/2014/main" id="{8730BF41-3400-43F4-8DA9-DCC9C32C27BC}"/>
              </a:ext>
            </a:extLst>
          </p:cNvPr>
          <p:cNvSpPr>
            <a:spLocks noGrp="1"/>
          </p:cNvSpPr>
          <p:nvPr/>
        </p:nvSpPr>
        <p:spPr>
          <a:xfrm>
            <a:off x="781050" y="4095750"/>
            <a:ext cx="3219450" cy="1276350"/>
          </a:xfrm>
          <a:prstGeom prst="roundRect">
            <a:avLst>
              <a:gd name="adj" fmla="val 4478"/>
            </a:avLst>
          </a:prstGeom>
          <a:solidFill>
            <a:srgbClr val="FFFFFF"/>
          </a:solidFill>
          <a:ln w="9525">
            <a:solidFill>
              <a:srgbClr val="D8E0E7"/>
            </a:solidFill>
            <a:prstDash val="solid"/>
          </a:ln>
        </p:spPr>
      </p:sp>
      <p:sp>
        <p:nvSpPr>
          <p:cNvPr id="10" name="Oval 9">
            <a:extLst>
              <a:ext uri="{FF2B5EF4-FFF2-40B4-BE49-F238E27FC236}">
                <a16:creationId xmlns:a16="http://schemas.microsoft.com/office/drawing/2014/main" id="{F964AB16-8E08-40F3-BB68-1014CF5537C4}"/>
              </a:ext>
            </a:extLst>
          </p:cNvPr>
          <p:cNvSpPr>
            <a:spLocks noGrp="1"/>
          </p:cNvSpPr>
          <p:nvPr/>
        </p:nvSpPr>
        <p:spPr>
          <a:xfrm>
            <a:off x="952500" y="4267200"/>
            <a:ext cx="361950" cy="361950"/>
          </a:xfrm>
          <a:prstGeom prst="ellipse">
            <a:avLst/>
          </a:prstGeom>
          <a:solidFill>
            <a:srgbClr val="0B3D5C"/>
          </a:solidFill>
          <a:ln w="0">
            <a:noFill/>
            <a:prstDash val="solid"/>
          </a:ln>
        </p:spPr>
      </p:sp>
      <p:sp>
        <p:nvSpPr>
          <p:cNvPr id="11" name="Rectangle 10">
            <a:extLst>
              <a:ext uri="{FF2B5EF4-FFF2-40B4-BE49-F238E27FC236}">
                <a16:creationId xmlns:a16="http://schemas.microsoft.com/office/drawing/2014/main" id="{011747B0-087F-41CB-828A-DED98A227983}"/>
              </a:ext>
            </a:extLst>
          </p:cNvPr>
          <p:cNvSpPr>
            <a:spLocks noGrp="1"/>
          </p:cNvSpPr>
          <p:nvPr/>
        </p:nvSpPr>
        <p:spPr>
          <a:xfrm>
            <a:off x="952500" y="431482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1</a:t>
            </a:r>
          </a:p>
        </p:txBody>
      </p:sp>
      <p:sp>
        <p:nvSpPr>
          <p:cNvPr id="12" name="Rectangle 11">
            <a:extLst>
              <a:ext uri="{FF2B5EF4-FFF2-40B4-BE49-F238E27FC236}">
                <a16:creationId xmlns:a16="http://schemas.microsoft.com/office/drawing/2014/main" id="{CE36AB0C-226E-45BD-B458-3442725F225B}"/>
              </a:ext>
            </a:extLst>
          </p:cNvPr>
          <p:cNvSpPr>
            <a:spLocks noGrp="1"/>
          </p:cNvSpPr>
          <p:nvPr/>
        </p:nvSpPr>
        <p:spPr>
          <a:xfrm>
            <a:off x="1447800" y="4267200"/>
            <a:ext cx="23812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Analytical coverage</a:t>
            </a:r>
          </a:p>
        </p:txBody>
      </p:sp>
      <p:sp>
        <p:nvSpPr>
          <p:cNvPr id="13" name="Rectangle 12">
            <a:extLst>
              <a:ext uri="{FF2B5EF4-FFF2-40B4-BE49-F238E27FC236}">
                <a16:creationId xmlns:a16="http://schemas.microsoft.com/office/drawing/2014/main" id="{8E7BB423-F36C-4C47-BE56-C922160283E6}"/>
              </a:ext>
            </a:extLst>
          </p:cNvPr>
          <p:cNvSpPr>
            <a:spLocks noGrp="1"/>
          </p:cNvSpPr>
          <p:nvPr/>
        </p:nvSpPr>
        <p:spPr>
          <a:xfrm>
            <a:off x="1447800" y="4591050"/>
            <a:ext cx="23812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NAV trends, AUM movement, SIP inflows, folios, demographics, category flows, risk, return, and portfolio exposure.</a:t>
            </a:r>
          </a:p>
        </p:txBody>
      </p:sp>
      <p:sp>
        <p:nvSpPr>
          <p:cNvPr id="14" name="Rectangle: Rounded Corners 13">
            <a:extLst>
              <a:ext uri="{FF2B5EF4-FFF2-40B4-BE49-F238E27FC236}">
                <a16:creationId xmlns:a16="http://schemas.microsoft.com/office/drawing/2014/main" id="{C80D9F81-3D30-4EB5-B684-6D8788009E05}"/>
              </a:ext>
            </a:extLst>
          </p:cNvPr>
          <p:cNvSpPr>
            <a:spLocks noGrp="1"/>
          </p:cNvSpPr>
          <p:nvPr/>
        </p:nvSpPr>
        <p:spPr>
          <a:xfrm>
            <a:off x="4476750" y="4095750"/>
            <a:ext cx="3219450" cy="1276350"/>
          </a:xfrm>
          <a:prstGeom prst="roundRect">
            <a:avLst>
              <a:gd name="adj" fmla="val 4478"/>
            </a:avLst>
          </a:prstGeom>
          <a:solidFill>
            <a:srgbClr val="FFFFFF"/>
          </a:solidFill>
          <a:ln w="9525">
            <a:solidFill>
              <a:srgbClr val="D8E0E7"/>
            </a:solidFill>
            <a:prstDash val="solid"/>
          </a:ln>
        </p:spPr>
      </p:sp>
      <p:sp>
        <p:nvSpPr>
          <p:cNvPr id="15" name="Oval 14">
            <a:extLst>
              <a:ext uri="{FF2B5EF4-FFF2-40B4-BE49-F238E27FC236}">
                <a16:creationId xmlns:a16="http://schemas.microsoft.com/office/drawing/2014/main" id="{C3680E2A-05D0-4BDB-B245-B566121118AD}"/>
              </a:ext>
            </a:extLst>
          </p:cNvPr>
          <p:cNvSpPr>
            <a:spLocks noGrp="1"/>
          </p:cNvSpPr>
          <p:nvPr/>
        </p:nvSpPr>
        <p:spPr>
          <a:xfrm>
            <a:off x="4648200" y="4267200"/>
            <a:ext cx="361950" cy="361950"/>
          </a:xfrm>
          <a:prstGeom prst="ellipse">
            <a:avLst/>
          </a:prstGeom>
          <a:solidFill>
            <a:srgbClr val="00866E"/>
          </a:solidFill>
          <a:ln w="0">
            <a:noFill/>
            <a:prstDash val="solid"/>
          </a:ln>
        </p:spPr>
      </p:sp>
      <p:sp>
        <p:nvSpPr>
          <p:cNvPr id="16" name="Rectangle 15">
            <a:extLst>
              <a:ext uri="{FF2B5EF4-FFF2-40B4-BE49-F238E27FC236}">
                <a16:creationId xmlns:a16="http://schemas.microsoft.com/office/drawing/2014/main" id="{57D7001D-63F3-4292-B602-82C4F37B83C0}"/>
              </a:ext>
            </a:extLst>
          </p:cNvPr>
          <p:cNvSpPr>
            <a:spLocks noGrp="1"/>
          </p:cNvSpPr>
          <p:nvPr/>
        </p:nvSpPr>
        <p:spPr>
          <a:xfrm>
            <a:off x="4648200" y="431482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2</a:t>
            </a:r>
          </a:p>
        </p:txBody>
      </p:sp>
      <p:sp>
        <p:nvSpPr>
          <p:cNvPr id="17" name="Rectangle 16">
            <a:extLst>
              <a:ext uri="{FF2B5EF4-FFF2-40B4-BE49-F238E27FC236}">
                <a16:creationId xmlns:a16="http://schemas.microsoft.com/office/drawing/2014/main" id="{91952E2B-7CC7-4C6E-AF85-BACEC0592EF1}"/>
              </a:ext>
            </a:extLst>
          </p:cNvPr>
          <p:cNvSpPr>
            <a:spLocks noGrp="1"/>
          </p:cNvSpPr>
          <p:nvPr/>
        </p:nvSpPr>
        <p:spPr>
          <a:xfrm>
            <a:off x="5143500" y="4267200"/>
            <a:ext cx="23812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Decision support</a:t>
            </a:r>
          </a:p>
        </p:txBody>
      </p:sp>
      <p:sp>
        <p:nvSpPr>
          <p:cNvPr id="18" name="Rectangle 17">
            <a:extLst>
              <a:ext uri="{FF2B5EF4-FFF2-40B4-BE49-F238E27FC236}">
                <a16:creationId xmlns:a16="http://schemas.microsoft.com/office/drawing/2014/main" id="{0BB5C91D-C061-47DB-BF75-02B2D44F1AB2}"/>
              </a:ext>
            </a:extLst>
          </p:cNvPr>
          <p:cNvSpPr>
            <a:spLocks noGrp="1"/>
          </p:cNvSpPr>
          <p:nvPr/>
        </p:nvSpPr>
        <p:spPr>
          <a:xfrm>
            <a:off x="5143500" y="4591050"/>
            <a:ext cx="23812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Rank funds with scorecards, compare with benchmarks, assess risk appetite, and summarize insights for stakeholders.</a:t>
            </a:r>
          </a:p>
        </p:txBody>
      </p:sp>
      <p:sp>
        <p:nvSpPr>
          <p:cNvPr id="19" name="Rectangle: Rounded Corners 18">
            <a:extLst>
              <a:ext uri="{FF2B5EF4-FFF2-40B4-BE49-F238E27FC236}">
                <a16:creationId xmlns:a16="http://schemas.microsoft.com/office/drawing/2014/main" id="{58F9D93B-0BEE-4BD0-AA0D-9F7550FFB9FC}"/>
              </a:ext>
            </a:extLst>
          </p:cNvPr>
          <p:cNvSpPr>
            <a:spLocks noGrp="1"/>
          </p:cNvSpPr>
          <p:nvPr/>
        </p:nvSpPr>
        <p:spPr>
          <a:xfrm>
            <a:off x="8172450" y="4095750"/>
            <a:ext cx="3219450" cy="1276350"/>
          </a:xfrm>
          <a:prstGeom prst="roundRect">
            <a:avLst>
              <a:gd name="adj" fmla="val 4478"/>
            </a:avLst>
          </a:prstGeom>
          <a:solidFill>
            <a:srgbClr val="FFFFFF"/>
          </a:solidFill>
          <a:ln w="9525">
            <a:solidFill>
              <a:srgbClr val="D8E0E7"/>
            </a:solidFill>
            <a:prstDash val="solid"/>
          </a:ln>
        </p:spPr>
      </p:sp>
      <p:sp>
        <p:nvSpPr>
          <p:cNvPr id="20" name="Oval 19">
            <a:extLst>
              <a:ext uri="{FF2B5EF4-FFF2-40B4-BE49-F238E27FC236}">
                <a16:creationId xmlns:a16="http://schemas.microsoft.com/office/drawing/2014/main" id="{E85A18AB-E318-4391-9B24-07DF9FB58429}"/>
              </a:ext>
            </a:extLst>
          </p:cNvPr>
          <p:cNvSpPr>
            <a:spLocks noGrp="1"/>
          </p:cNvSpPr>
          <p:nvPr/>
        </p:nvSpPr>
        <p:spPr>
          <a:xfrm>
            <a:off x="8343900" y="4267200"/>
            <a:ext cx="361950" cy="361950"/>
          </a:xfrm>
          <a:prstGeom prst="ellipse">
            <a:avLst/>
          </a:prstGeom>
          <a:solidFill>
            <a:srgbClr val="F2A541"/>
          </a:solidFill>
          <a:ln w="0">
            <a:noFill/>
            <a:prstDash val="solid"/>
          </a:ln>
        </p:spPr>
      </p:sp>
      <p:sp>
        <p:nvSpPr>
          <p:cNvPr id="21" name="Rectangle 20">
            <a:extLst>
              <a:ext uri="{FF2B5EF4-FFF2-40B4-BE49-F238E27FC236}">
                <a16:creationId xmlns:a16="http://schemas.microsoft.com/office/drawing/2014/main" id="{BC3814A3-6B7E-4F94-908F-7DD45E9D7557}"/>
              </a:ext>
            </a:extLst>
          </p:cNvPr>
          <p:cNvSpPr>
            <a:spLocks noGrp="1"/>
          </p:cNvSpPr>
          <p:nvPr/>
        </p:nvSpPr>
        <p:spPr>
          <a:xfrm>
            <a:off x="8343900" y="431482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3</a:t>
            </a:r>
          </a:p>
        </p:txBody>
      </p:sp>
      <p:sp>
        <p:nvSpPr>
          <p:cNvPr id="22" name="Rectangle 21">
            <a:extLst>
              <a:ext uri="{FF2B5EF4-FFF2-40B4-BE49-F238E27FC236}">
                <a16:creationId xmlns:a16="http://schemas.microsoft.com/office/drawing/2014/main" id="{D118AA38-CC2D-49AB-8B25-0371B4949D84}"/>
              </a:ext>
            </a:extLst>
          </p:cNvPr>
          <p:cNvSpPr>
            <a:spLocks noGrp="1"/>
          </p:cNvSpPr>
          <p:nvPr/>
        </p:nvSpPr>
        <p:spPr>
          <a:xfrm>
            <a:off x="8839200" y="4267200"/>
            <a:ext cx="23812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Presentation readiness</a:t>
            </a:r>
          </a:p>
        </p:txBody>
      </p:sp>
      <p:sp>
        <p:nvSpPr>
          <p:cNvPr id="23" name="Rectangle 22">
            <a:extLst>
              <a:ext uri="{FF2B5EF4-FFF2-40B4-BE49-F238E27FC236}">
                <a16:creationId xmlns:a16="http://schemas.microsoft.com/office/drawing/2014/main" id="{35B4FF9F-ADC6-4CEE-B624-BAC81C9D01CC}"/>
              </a:ext>
            </a:extLst>
          </p:cNvPr>
          <p:cNvSpPr>
            <a:spLocks noGrp="1"/>
          </p:cNvSpPr>
          <p:nvPr/>
        </p:nvSpPr>
        <p:spPr>
          <a:xfrm>
            <a:off x="8839200" y="4591050"/>
            <a:ext cx="23812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Final outputs include notebooks, SQL, reports, dashboards, chart pack, and reusable semantic context.</a:t>
            </a:r>
          </a:p>
        </p:txBody>
      </p:sp>
      <p:sp>
        <p:nvSpPr>
          <p:cNvPr id="24" name="Rectangle 23">
            <a:extLst>
              <a:ext uri="{FF2B5EF4-FFF2-40B4-BE49-F238E27FC236}">
                <a16:creationId xmlns:a16="http://schemas.microsoft.com/office/drawing/2014/main" id="{7182D6CB-0C51-4F4E-B395-1461A9229FE4}"/>
              </a:ext>
            </a:extLst>
          </p:cNvPr>
          <p:cNvSpPr>
            <a:spLocks noGrp="1"/>
          </p:cNvSpPr>
          <p:nvPr/>
        </p:nvSpPr>
        <p:spPr>
          <a:xfrm>
            <a:off x="609600" y="6515100"/>
            <a:ext cx="10972800" cy="9525"/>
          </a:xfrm>
          <a:prstGeom prst="rect">
            <a:avLst/>
          </a:prstGeom>
          <a:solidFill>
            <a:srgbClr val="D8E0E7"/>
          </a:solidFill>
          <a:ln w="0">
            <a:noFill/>
            <a:prstDash val="solid"/>
          </a:ln>
        </p:spPr>
      </p:sp>
      <p:sp>
        <p:nvSpPr>
          <p:cNvPr id="25" name="Rectangle 24">
            <a:extLst>
              <a:ext uri="{FF2B5EF4-FFF2-40B4-BE49-F238E27FC236}">
                <a16:creationId xmlns:a16="http://schemas.microsoft.com/office/drawing/2014/main" id="{75EADA1F-1E02-46AF-B170-30320C1CDE8B}"/>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26" name="Rectangle 25">
            <a:extLst>
              <a:ext uri="{FF2B5EF4-FFF2-40B4-BE49-F238E27FC236}">
                <a16:creationId xmlns:a16="http://schemas.microsoft.com/office/drawing/2014/main" id="{98DA9E25-E138-46D1-9D49-64E4B191566B}"/>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03</a:t>
            </a:r>
          </a:p>
        </p:txBody>
      </p:sp>
    </p:spTree>
    <p:extLst>
      <p:ext uri="{BB962C8B-B14F-4D97-AF65-F5344CB8AC3E}">
        <p14:creationId xmlns:p14="http://schemas.microsoft.com/office/powerpoint/2010/main" val="388937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44D563C9-1CD9-474A-A3B8-CEF76F596F28}"/>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3D8B4A83-B807-4A60-A375-388C759177BF}"/>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Data Foundation And Quality</a:t>
            </a:r>
          </a:p>
        </p:txBody>
      </p:sp>
      <p:sp>
        <p:nvSpPr>
          <p:cNvPr id="3" name="Rectangle 2">
            <a:extLst>
              <a:ext uri="{FF2B5EF4-FFF2-40B4-BE49-F238E27FC236}">
                <a16:creationId xmlns:a16="http://schemas.microsoft.com/office/drawing/2014/main" id="{B7AFC435-3134-407D-A42B-FBFC6C998678}"/>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8C8001B3-2F94-4F70-910F-DC79320060BE}"/>
              </a:ext>
            </a:extLst>
          </p:cNvPr>
          <p:cNvSpPr>
            <a:spLocks noGrp="1"/>
          </p:cNvSpPr>
          <p:nvPr/>
        </p:nvSpPr>
        <p:spPr>
          <a:xfrm>
            <a:off x="609600" y="1352550"/>
            <a:ext cx="9029700" cy="49530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A dependable project story starts with data trust. The pipeline validates source coverage, positive values, row counts, and schema load consistency before analytics are presented.</a:t>
            </a:r>
          </a:p>
        </p:txBody>
      </p:sp>
      <p:sp>
        <p:nvSpPr>
          <p:cNvPr id="5" name="Rectangle: Rounded Corners 4">
            <a:extLst>
              <a:ext uri="{FF2B5EF4-FFF2-40B4-BE49-F238E27FC236}">
                <a16:creationId xmlns:a16="http://schemas.microsoft.com/office/drawing/2014/main" id="{F1E3B9CD-F115-4EBF-A29C-C77473F41883}"/>
              </a:ext>
            </a:extLst>
          </p:cNvPr>
          <p:cNvSpPr>
            <a:spLocks noGrp="1"/>
          </p:cNvSpPr>
          <p:nvPr/>
        </p:nvSpPr>
        <p:spPr>
          <a:xfrm>
            <a:off x="723900" y="2228850"/>
            <a:ext cx="2419350" cy="1085850"/>
          </a:xfrm>
          <a:prstGeom prst="roundRect">
            <a:avLst>
              <a:gd name="adj" fmla="val 5263"/>
            </a:avLst>
          </a:prstGeom>
          <a:solidFill>
            <a:srgbClr val="FFFFFF"/>
          </a:solidFill>
          <a:ln w="9525">
            <a:solidFill>
              <a:srgbClr val="D8E0E7"/>
            </a:solidFill>
            <a:prstDash val="solid"/>
          </a:ln>
        </p:spPr>
      </p:sp>
      <p:sp>
        <p:nvSpPr>
          <p:cNvPr id="6" name="Rectangle 5">
            <a:extLst>
              <a:ext uri="{FF2B5EF4-FFF2-40B4-BE49-F238E27FC236}">
                <a16:creationId xmlns:a16="http://schemas.microsoft.com/office/drawing/2014/main" id="{1B5FF8CB-B860-4771-B6FA-3E02062AC3C1}"/>
              </a:ext>
            </a:extLst>
          </p:cNvPr>
          <p:cNvSpPr>
            <a:spLocks noGrp="1"/>
          </p:cNvSpPr>
          <p:nvPr/>
        </p:nvSpPr>
        <p:spPr>
          <a:xfrm>
            <a:off x="723900" y="2228850"/>
            <a:ext cx="57150" cy="1085850"/>
          </a:xfrm>
          <a:prstGeom prst="rect">
            <a:avLst/>
          </a:prstGeom>
          <a:solidFill>
            <a:srgbClr val="0B3D5C"/>
          </a:solidFill>
          <a:ln w="0">
            <a:noFill/>
            <a:prstDash val="solid"/>
          </a:ln>
        </p:spPr>
      </p:sp>
      <p:sp>
        <p:nvSpPr>
          <p:cNvPr id="7" name="Rectangle 6">
            <a:extLst>
              <a:ext uri="{FF2B5EF4-FFF2-40B4-BE49-F238E27FC236}">
                <a16:creationId xmlns:a16="http://schemas.microsoft.com/office/drawing/2014/main" id="{547C22A5-2EB3-45BA-990A-093B643AAE5F}"/>
              </a:ext>
            </a:extLst>
          </p:cNvPr>
          <p:cNvSpPr>
            <a:spLocks noGrp="1"/>
          </p:cNvSpPr>
          <p:nvPr/>
        </p:nvSpPr>
        <p:spPr>
          <a:xfrm>
            <a:off x="952500" y="2419350"/>
            <a:ext cx="19621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40</a:t>
            </a:r>
          </a:p>
        </p:txBody>
      </p:sp>
      <p:sp>
        <p:nvSpPr>
          <p:cNvPr id="8" name="Rectangle 7">
            <a:extLst>
              <a:ext uri="{FF2B5EF4-FFF2-40B4-BE49-F238E27FC236}">
                <a16:creationId xmlns:a16="http://schemas.microsoft.com/office/drawing/2014/main" id="{6EF6C8C6-18AD-4097-9264-041A6233ABA1}"/>
              </a:ext>
            </a:extLst>
          </p:cNvPr>
          <p:cNvSpPr>
            <a:spLocks noGrp="1"/>
          </p:cNvSpPr>
          <p:nvPr/>
        </p:nvSpPr>
        <p:spPr>
          <a:xfrm>
            <a:off x="952500" y="2876550"/>
            <a:ext cx="19621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AMFI schemes mapped from fund master into NAV history</a:t>
            </a:r>
          </a:p>
        </p:txBody>
      </p:sp>
      <p:sp>
        <p:nvSpPr>
          <p:cNvPr id="9" name="Rectangle: Rounded Corners 8">
            <a:extLst>
              <a:ext uri="{FF2B5EF4-FFF2-40B4-BE49-F238E27FC236}">
                <a16:creationId xmlns:a16="http://schemas.microsoft.com/office/drawing/2014/main" id="{9B7F8049-3D12-48B2-BB4D-DBA5533148F5}"/>
              </a:ext>
            </a:extLst>
          </p:cNvPr>
          <p:cNvSpPr>
            <a:spLocks noGrp="1"/>
          </p:cNvSpPr>
          <p:nvPr/>
        </p:nvSpPr>
        <p:spPr>
          <a:xfrm>
            <a:off x="3371850" y="2228850"/>
            <a:ext cx="2419350" cy="1085850"/>
          </a:xfrm>
          <a:prstGeom prst="roundRect">
            <a:avLst>
              <a:gd name="adj" fmla="val 5263"/>
            </a:avLst>
          </a:prstGeom>
          <a:solidFill>
            <a:srgbClr val="FFFFFF"/>
          </a:solidFill>
          <a:ln w="9525">
            <a:solidFill>
              <a:srgbClr val="D8E0E7"/>
            </a:solidFill>
            <a:prstDash val="solid"/>
          </a:ln>
        </p:spPr>
      </p:sp>
      <p:sp>
        <p:nvSpPr>
          <p:cNvPr id="10" name="Rectangle 9">
            <a:extLst>
              <a:ext uri="{FF2B5EF4-FFF2-40B4-BE49-F238E27FC236}">
                <a16:creationId xmlns:a16="http://schemas.microsoft.com/office/drawing/2014/main" id="{F91E6932-2673-4246-A773-34903C41A57F}"/>
              </a:ext>
            </a:extLst>
          </p:cNvPr>
          <p:cNvSpPr>
            <a:spLocks noGrp="1"/>
          </p:cNvSpPr>
          <p:nvPr/>
        </p:nvSpPr>
        <p:spPr>
          <a:xfrm>
            <a:off x="3371850" y="2228850"/>
            <a:ext cx="57150" cy="1085850"/>
          </a:xfrm>
          <a:prstGeom prst="rect">
            <a:avLst/>
          </a:prstGeom>
          <a:solidFill>
            <a:srgbClr val="00866E"/>
          </a:solidFill>
          <a:ln w="0">
            <a:noFill/>
            <a:prstDash val="solid"/>
          </a:ln>
        </p:spPr>
      </p:sp>
      <p:sp>
        <p:nvSpPr>
          <p:cNvPr id="11" name="Rectangle 10">
            <a:extLst>
              <a:ext uri="{FF2B5EF4-FFF2-40B4-BE49-F238E27FC236}">
                <a16:creationId xmlns:a16="http://schemas.microsoft.com/office/drawing/2014/main" id="{E0D53D64-F8B6-442A-9419-643616300E8E}"/>
              </a:ext>
            </a:extLst>
          </p:cNvPr>
          <p:cNvSpPr>
            <a:spLocks noGrp="1"/>
          </p:cNvSpPr>
          <p:nvPr/>
        </p:nvSpPr>
        <p:spPr>
          <a:xfrm>
            <a:off x="3600450" y="2419350"/>
            <a:ext cx="19621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46,000</a:t>
            </a:r>
          </a:p>
        </p:txBody>
      </p:sp>
      <p:sp>
        <p:nvSpPr>
          <p:cNvPr id="12" name="Rectangle 11">
            <a:extLst>
              <a:ext uri="{FF2B5EF4-FFF2-40B4-BE49-F238E27FC236}">
                <a16:creationId xmlns:a16="http://schemas.microsoft.com/office/drawing/2014/main" id="{0DE7B03D-DBFF-481D-B587-8B71FD8C6627}"/>
              </a:ext>
            </a:extLst>
          </p:cNvPr>
          <p:cNvSpPr>
            <a:spLocks noGrp="1"/>
          </p:cNvSpPr>
          <p:nvPr/>
        </p:nvSpPr>
        <p:spPr>
          <a:xfrm>
            <a:off x="3600450" y="2876550"/>
            <a:ext cx="19621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raw NAV rows profiled before calendar expansion</a:t>
            </a:r>
          </a:p>
        </p:txBody>
      </p:sp>
      <p:sp>
        <p:nvSpPr>
          <p:cNvPr id="13" name="Rectangle: Rounded Corners 12">
            <a:extLst>
              <a:ext uri="{FF2B5EF4-FFF2-40B4-BE49-F238E27FC236}">
                <a16:creationId xmlns:a16="http://schemas.microsoft.com/office/drawing/2014/main" id="{AF7C4C23-EE22-454E-AD1F-81113791E6D1}"/>
              </a:ext>
            </a:extLst>
          </p:cNvPr>
          <p:cNvSpPr>
            <a:spLocks noGrp="1"/>
          </p:cNvSpPr>
          <p:nvPr/>
        </p:nvSpPr>
        <p:spPr>
          <a:xfrm>
            <a:off x="6019800" y="2228850"/>
            <a:ext cx="2419350" cy="1085850"/>
          </a:xfrm>
          <a:prstGeom prst="roundRect">
            <a:avLst>
              <a:gd name="adj" fmla="val 5263"/>
            </a:avLst>
          </a:prstGeom>
          <a:solidFill>
            <a:srgbClr val="FFFFFF"/>
          </a:solidFill>
          <a:ln w="9525">
            <a:solidFill>
              <a:srgbClr val="D8E0E7"/>
            </a:solidFill>
            <a:prstDash val="solid"/>
          </a:ln>
        </p:spPr>
      </p:sp>
      <p:sp>
        <p:nvSpPr>
          <p:cNvPr id="14" name="Rectangle 13">
            <a:extLst>
              <a:ext uri="{FF2B5EF4-FFF2-40B4-BE49-F238E27FC236}">
                <a16:creationId xmlns:a16="http://schemas.microsoft.com/office/drawing/2014/main" id="{2087349E-35F0-4A5E-804C-E1B23A5411D0}"/>
              </a:ext>
            </a:extLst>
          </p:cNvPr>
          <p:cNvSpPr>
            <a:spLocks noGrp="1"/>
          </p:cNvSpPr>
          <p:nvPr/>
        </p:nvSpPr>
        <p:spPr>
          <a:xfrm>
            <a:off x="6019800" y="2228850"/>
            <a:ext cx="57150" cy="1085850"/>
          </a:xfrm>
          <a:prstGeom prst="rect">
            <a:avLst/>
          </a:prstGeom>
          <a:solidFill>
            <a:srgbClr val="F2A541"/>
          </a:solidFill>
          <a:ln w="0">
            <a:noFill/>
            <a:prstDash val="solid"/>
          </a:ln>
        </p:spPr>
      </p:sp>
      <p:sp>
        <p:nvSpPr>
          <p:cNvPr id="15" name="Rectangle 14">
            <a:extLst>
              <a:ext uri="{FF2B5EF4-FFF2-40B4-BE49-F238E27FC236}">
                <a16:creationId xmlns:a16="http://schemas.microsoft.com/office/drawing/2014/main" id="{91406C15-2279-44A3-8031-4B9E1F7F14F1}"/>
              </a:ext>
            </a:extLst>
          </p:cNvPr>
          <p:cNvSpPr>
            <a:spLocks noGrp="1"/>
          </p:cNvSpPr>
          <p:nvPr/>
        </p:nvSpPr>
        <p:spPr>
          <a:xfrm>
            <a:off x="6248400" y="2419350"/>
            <a:ext cx="19621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18,320</a:t>
            </a:r>
          </a:p>
        </p:txBody>
      </p:sp>
      <p:sp>
        <p:nvSpPr>
          <p:cNvPr id="16" name="Rectangle 15">
            <a:extLst>
              <a:ext uri="{FF2B5EF4-FFF2-40B4-BE49-F238E27FC236}">
                <a16:creationId xmlns:a16="http://schemas.microsoft.com/office/drawing/2014/main" id="{1C1B3784-2711-4039-BEB8-55852886E121}"/>
              </a:ext>
            </a:extLst>
          </p:cNvPr>
          <p:cNvSpPr>
            <a:spLocks noGrp="1"/>
          </p:cNvSpPr>
          <p:nvPr/>
        </p:nvSpPr>
        <p:spPr>
          <a:xfrm>
            <a:off x="6248400" y="2876550"/>
            <a:ext cx="19621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weekend/holiday NAV rows forward filled for daily analysis</a:t>
            </a:r>
          </a:p>
        </p:txBody>
      </p:sp>
      <p:sp>
        <p:nvSpPr>
          <p:cNvPr id="17" name="Rectangle: Rounded Corners 16">
            <a:extLst>
              <a:ext uri="{FF2B5EF4-FFF2-40B4-BE49-F238E27FC236}">
                <a16:creationId xmlns:a16="http://schemas.microsoft.com/office/drawing/2014/main" id="{100E29EF-4705-4854-BF9B-165E3180CE8F}"/>
              </a:ext>
            </a:extLst>
          </p:cNvPr>
          <p:cNvSpPr>
            <a:spLocks noGrp="1"/>
          </p:cNvSpPr>
          <p:nvPr/>
        </p:nvSpPr>
        <p:spPr>
          <a:xfrm>
            <a:off x="8667750" y="2228850"/>
            <a:ext cx="2419350" cy="1085850"/>
          </a:xfrm>
          <a:prstGeom prst="roundRect">
            <a:avLst>
              <a:gd name="adj" fmla="val 5263"/>
            </a:avLst>
          </a:prstGeom>
          <a:solidFill>
            <a:srgbClr val="FFFFFF"/>
          </a:solidFill>
          <a:ln w="9525">
            <a:solidFill>
              <a:srgbClr val="D8E0E7"/>
            </a:solidFill>
            <a:prstDash val="solid"/>
          </a:ln>
        </p:spPr>
      </p:sp>
      <p:sp>
        <p:nvSpPr>
          <p:cNvPr id="18" name="Rectangle 17">
            <a:extLst>
              <a:ext uri="{FF2B5EF4-FFF2-40B4-BE49-F238E27FC236}">
                <a16:creationId xmlns:a16="http://schemas.microsoft.com/office/drawing/2014/main" id="{C9F6F334-3CBE-4DB6-A8B3-9707B884651F}"/>
              </a:ext>
            </a:extLst>
          </p:cNvPr>
          <p:cNvSpPr>
            <a:spLocks noGrp="1"/>
          </p:cNvSpPr>
          <p:nvPr/>
        </p:nvSpPr>
        <p:spPr>
          <a:xfrm>
            <a:off x="8667750" y="2228850"/>
            <a:ext cx="57150" cy="1085850"/>
          </a:xfrm>
          <a:prstGeom prst="rect">
            <a:avLst/>
          </a:prstGeom>
          <a:solidFill>
            <a:srgbClr val="D1495B"/>
          </a:solidFill>
          <a:ln w="0">
            <a:noFill/>
            <a:prstDash val="solid"/>
          </a:ln>
        </p:spPr>
      </p:sp>
      <p:sp>
        <p:nvSpPr>
          <p:cNvPr id="19" name="Rectangle 18">
            <a:extLst>
              <a:ext uri="{FF2B5EF4-FFF2-40B4-BE49-F238E27FC236}">
                <a16:creationId xmlns:a16="http://schemas.microsoft.com/office/drawing/2014/main" id="{82AFEB9C-DAE6-4456-BE37-8D06988EB29B}"/>
              </a:ext>
            </a:extLst>
          </p:cNvPr>
          <p:cNvSpPr>
            <a:spLocks noGrp="1"/>
          </p:cNvSpPr>
          <p:nvPr/>
        </p:nvSpPr>
        <p:spPr>
          <a:xfrm>
            <a:off x="8896350" y="2419350"/>
            <a:ext cx="19621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0</a:t>
            </a:r>
          </a:p>
        </p:txBody>
      </p:sp>
      <p:sp>
        <p:nvSpPr>
          <p:cNvPr id="20" name="Rectangle 19">
            <a:extLst>
              <a:ext uri="{FF2B5EF4-FFF2-40B4-BE49-F238E27FC236}">
                <a16:creationId xmlns:a16="http://schemas.microsoft.com/office/drawing/2014/main" id="{69AAF3C4-2765-4923-88E6-8A0C9FAD3D31}"/>
              </a:ext>
            </a:extLst>
          </p:cNvPr>
          <p:cNvSpPr>
            <a:spLocks noGrp="1"/>
          </p:cNvSpPr>
          <p:nvPr/>
        </p:nvSpPr>
        <p:spPr>
          <a:xfrm>
            <a:off x="8896350" y="2876550"/>
            <a:ext cx="19621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scheme performance anomaly rows flagged</a:t>
            </a:r>
          </a:p>
        </p:txBody>
      </p:sp>
      <p:sp>
        <p:nvSpPr>
          <p:cNvPr id="21" name="Rectangle 20">
            <a:extLst>
              <a:ext uri="{FF2B5EF4-FFF2-40B4-BE49-F238E27FC236}">
                <a16:creationId xmlns:a16="http://schemas.microsoft.com/office/drawing/2014/main" id="{1754433B-1061-4C88-926A-162F2BE6C129}"/>
              </a:ext>
            </a:extLst>
          </p:cNvPr>
          <p:cNvSpPr>
            <a:spLocks noGrp="1"/>
          </p:cNvSpPr>
          <p:nvPr/>
        </p:nvSpPr>
        <p:spPr>
          <a:xfrm>
            <a:off x="876300" y="3829050"/>
            <a:ext cx="4324350" cy="323850"/>
          </a:xfrm>
          <a:prstGeom prst="rect">
            <a:avLst/>
          </a:prstGeom>
          <a:noFill/>
          <a:ln w="0">
            <a:noFill/>
            <a:prstDash val="solid"/>
          </a:ln>
        </p:spPr>
        <p:txBody>
          <a:bodyPr lIns="0" tIns="0" rIns="0" bIns="0" anchor="t"/>
          <a:lstStyle/>
          <a:p>
            <a:pPr algn="l">
              <a:defRPr sz="1800" b="1">
                <a:solidFill>
                  <a:srgbClr val="17202A"/>
                </a:solidFill>
                <a:latin typeface="Aptos"/>
                <a:ea typeface="Aptos"/>
                <a:cs typeface="Aptos"/>
              </a:defRPr>
            </a:pPr>
            <a:r>
              <a:rPr sz="1800" b="1">
                <a:solidFill>
                  <a:srgbClr val="17202A"/>
                </a:solidFill>
                <a:latin typeface="Aptos"/>
                <a:ea typeface="Aptos"/>
                <a:cs typeface="Aptos"/>
              </a:rPr>
              <a:t>Validation checks completed</a:t>
            </a:r>
          </a:p>
        </p:txBody>
      </p:sp>
      <p:sp>
        <p:nvSpPr>
          <p:cNvPr id="22" name="Rectangle 21">
            <a:extLst>
              <a:ext uri="{FF2B5EF4-FFF2-40B4-BE49-F238E27FC236}">
                <a16:creationId xmlns:a16="http://schemas.microsoft.com/office/drawing/2014/main" id="{A7DF3E7D-70C8-493A-8128-CDC9892EB2B1}"/>
              </a:ext>
            </a:extLst>
          </p:cNvPr>
          <p:cNvSpPr>
            <a:spLocks noGrp="1"/>
          </p:cNvSpPr>
          <p:nvPr/>
        </p:nvSpPr>
        <p:spPr>
          <a:xfrm>
            <a:off x="876300" y="4248150"/>
            <a:ext cx="4648200" cy="1200150"/>
          </a:xfrm>
          <a:prstGeom prst="rect">
            <a:avLst/>
          </a:prstGeom>
          <a:noFill/>
          <a:ln w="0">
            <a:noFill/>
            <a:prstDash val="solid"/>
          </a:ln>
        </p:spPr>
        <p:txBody>
          <a:bodyPr lIns="0" tIns="0" rIns="0" bIns="0" anchor="t"/>
          <a:lstStyle/>
          <a:p>
            <a:pPr algn="l">
              <a:defRPr sz="1350" b="0">
                <a:solidFill>
                  <a:srgbClr val="52616B"/>
                </a:solidFill>
                <a:latin typeface="Aptos"/>
                <a:ea typeface="Aptos"/>
                <a:cs typeface="Aptos"/>
              </a:defRPr>
            </a:pPr>
            <a:r>
              <a:rPr sz="1350" b="0">
                <a:solidFill>
                  <a:srgbClr val="52616B"/>
                </a:solidFill>
                <a:latin typeface="Aptos"/>
                <a:ea typeface="Aptos"/>
                <a:cs typeface="Aptos"/>
              </a:rPr>
              <a:t>- All 40 AMFI codes in fund master exist in NAV history.</a:t>
            </a:r>
          </a:p>
          <a:p>
            <a:pPr algn="l">
              <a:defRPr sz="1350" b="0">
                <a:solidFill>
                  <a:srgbClr val="52616B"/>
                </a:solidFill>
                <a:latin typeface="Aptos"/>
                <a:ea typeface="Aptos"/>
                <a:cs typeface="Aptos"/>
              </a:defRPr>
            </a:pPr>
            <a:r>
              <a:rPr sz="1350" b="0">
                <a:solidFill>
                  <a:srgbClr val="52616B"/>
                </a:solidFill>
                <a:latin typeface="Aptos"/>
                <a:ea typeface="Aptos"/>
                <a:cs typeface="Aptos"/>
              </a:rPr>
              <a:t>- NAV and transaction amounts remain positive after cleaning.</a:t>
            </a:r>
          </a:p>
          <a:p>
            <a:pPr algn="l">
              <a:defRPr sz="1350" b="0">
                <a:solidFill>
                  <a:srgbClr val="52616B"/>
                </a:solidFill>
                <a:latin typeface="Aptos"/>
                <a:ea typeface="Aptos"/>
                <a:cs typeface="Aptos"/>
              </a:defRPr>
            </a:pPr>
            <a:r>
              <a:rPr sz="1350" b="0">
                <a:solidFill>
                  <a:srgbClr val="52616B"/>
                </a:solidFill>
                <a:latin typeface="Aptos"/>
                <a:ea typeface="Aptos"/>
                <a:cs typeface="Aptos"/>
              </a:rPr>
              <a:t>- Processed CSV row counts match SQLite row counts for every fact and dimension.</a:t>
            </a:r>
          </a:p>
          <a:p>
            <a:pPr algn="l">
              <a:defRPr sz="1350" b="0">
                <a:solidFill>
                  <a:srgbClr val="52616B"/>
                </a:solidFill>
                <a:latin typeface="Aptos"/>
                <a:ea typeface="Aptos"/>
                <a:cs typeface="Aptos"/>
              </a:defRPr>
            </a:pPr>
            <a:r>
              <a:rPr sz="1350" b="0">
                <a:solidFill>
                  <a:srgbClr val="52616B"/>
                </a:solidFill>
                <a:latin typeface="Aptos"/>
                <a:ea typeface="Aptos"/>
                <a:cs typeface="Aptos"/>
              </a:rPr>
              <a:t>- NAV grain is normalized from trading days to calendar days.</a:t>
            </a:r>
          </a:p>
        </p:txBody>
      </p:sp>
      <p:sp>
        <p:nvSpPr>
          <p:cNvPr id="23" name="Rectangle 22">
            <a:extLst>
              <a:ext uri="{FF2B5EF4-FFF2-40B4-BE49-F238E27FC236}">
                <a16:creationId xmlns:a16="http://schemas.microsoft.com/office/drawing/2014/main" id="{8EDBECEF-D9EA-4A42-B5C0-722C9257648E}"/>
              </a:ext>
            </a:extLst>
          </p:cNvPr>
          <p:cNvSpPr>
            <a:spLocks noGrp="1"/>
          </p:cNvSpPr>
          <p:nvPr/>
        </p:nvSpPr>
        <p:spPr>
          <a:xfrm>
            <a:off x="6400800" y="3829050"/>
            <a:ext cx="4324350" cy="323850"/>
          </a:xfrm>
          <a:prstGeom prst="rect">
            <a:avLst/>
          </a:prstGeom>
          <a:noFill/>
          <a:ln w="0">
            <a:noFill/>
            <a:prstDash val="solid"/>
          </a:ln>
        </p:spPr>
        <p:txBody>
          <a:bodyPr lIns="0" tIns="0" rIns="0" bIns="0" anchor="t"/>
          <a:lstStyle/>
          <a:p>
            <a:pPr algn="l">
              <a:defRPr sz="1800" b="1">
                <a:solidFill>
                  <a:srgbClr val="17202A"/>
                </a:solidFill>
                <a:latin typeface="Aptos"/>
                <a:ea typeface="Aptos"/>
                <a:cs typeface="Aptos"/>
              </a:defRPr>
            </a:pPr>
            <a:r>
              <a:rPr sz="1800" b="1">
                <a:solidFill>
                  <a:srgbClr val="17202A"/>
                </a:solidFill>
                <a:latin typeface="Aptos"/>
                <a:ea typeface="Aptos"/>
                <a:cs typeface="Aptos"/>
              </a:rPr>
              <a:t>Modeled tables</a:t>
            </a:r>
          </a:p>
        </p:txBody>
      </p:sp>
      <p:sp>
        <p:nvSpPr>
          <p:cNvPr id="24" name="Rectangle 23">
            <a:extLst>
              <a:ext uri="{FF2B5EF4-FFF2-40B4-BE49-F238E27FC236}">
                <a16:creationId xmlns:a16="http://schemas.microsoft.com/office/drawing/2014/main" id="{E844EF83-AD98-4BD8-AC79-C36C4A983988}"/>
              </a:ext>
            </a:extLst>
          </p:cNvPr>
          <p:cNvSpPr>
            <a:spLocks noGrp="1"/>
          </p:cNvSpPr>
          <p:nvPr/>
        </p:nvSpPr>
        <p:spPr>
          <a:xfrm>
            <a:off x="6400800" y="4248150"/>
            <a:ext cx="4648200" cy="1200150"/>
          </a:xfrm>
          <a:prstGeom prst="rect">
            <a:avLst/>
          </a:prstGeom>
          <a:noFill/>
          <a:ln w="0">
            <a:noFill/>
            <a:prstDash val="solid"/>
          </a:ln>
        </p:spPr>
        <p:txBody>
          <a:bodyPr lIns="0" tIns="0" rIns="0" bIns="0" anchor="t"/>
          <a:lstStyle/>
          <a:p>
            <a:pPr algn="l">
              <a:defRPr sz="1350" b="0">
                <a:solidFill>
                  <a:srgbClr val="52616B"/>
                </a:solidFill>
                <a:latin typeface="Aptos"/>
                <a:ea typeface="Aptos"/>
                <a:cs typeface="Aptos"/>
              </a:defRPr>
            </a:pPr>
            <a:r>
              <a:rPr sz="1350" b="0">
                <a:solidFill>
                  <a:srgbClr val="52616B"/>
                </a:solidFill>
                <a:latin typeface="Aptos"/>
                <a:ea typeface="Aptos"/>
                <a:cs typeface="Aptos"/>
              </a:rPr>
              <a:t>dim_fund, dim_date, dim_investor</a:t>
            </a:r>
          </a:p>
          <a:p>
            <a:pPr algn="l">
              <a:defRPr sz="1350" b="0">
                <a:solidFill>
                  <a:srgbClr val="52616B"/>
                </a:solidFill>
                <a:latin typeface="Aptos"/>
                <a:ea typeface="Aptos"/>
                <a:cs typeface="Aptos"/>
              </a:defRPr>
            </a:pPr>
            <a:r>
              <a:rPr sz="1350" b="0">
                <a:solidFill>
                  <a:srgbClr val="52616B"/>
                </a:solidFill>
                <a:latin typeface="Aptos"/>
                <a:ea typeface="Aptos"/>
                <a:cs typeface="Aptos"/>
              </a:rPr>
              <a:t>fact_nav, fact_transactions, fact_performance</a:t>
            </a:r>
          </a:p>
          <a:p>
            <a:pPr algn="l">
              <a:defRPr sz="1350" b="0">
                <a:solidFill>
                  <a:srgbClr val="52616B"/>
                </a:solidFill>
                <a:latin typeface="Aptos"/>
                <a:ea typeface="Aptos"/>
                <a:cs typeface="Aptos"/>
              </a:defRPr>
            </a:pPr>
            <a:r>
              <a:rPr sz="1350" b="0">
                <a:solidFill>
                  <a:srgbClr val="52616B"/>
                </a:solidFill>
                <a:latin typeface="Aptos"/>
                <a:ea typeface="Aptos"/>
                <a:cs typeface="Aptos"/>
              </a:rPr>
              <a:t>fact_aum, fact_sip, fact_category_inflows</a:t>
            </a:r>
          </a:p>
          <a:p>
            <a:pPr algn="l">
              <a:defRPr sz="1350" b="0">
                <a:solidFill>
                  <a:srgbClr val="52616B"/>
                </a:solidFill>
                <a:latin typeface="Aptos"/>
                <a:ea typeface="Aptos"/>
                <a:cs typeface="Aptos"/>
              </a:defRPr>
            </a:pPr>
            <a:r>
              <a:rPr sz="1350" b="0">
                <a:solidFill>
                  <a:srgbClr val="52616B"/>
                </a:solidFill>
                <a:latin typeface="Aptos"/>
                <a:ea typeface="Aptos"/>
                <a:cs typeface="Aptos"/>
              </a:rPr>
              <a:t>fact_folio_count, fact_portfolio_holdings, fact_benchmark_indices</a:t>
            </a:r>
          </a:p>
        </p:txBody>
      </p:sp>
      <p:sp>
        <p:nvSpPr>
          <p:cNvPr id="25" name="Rectangle 24">
            <a:extLst>
              <a:ext uri="{FF2B5EF4-FFF2-40B4-BE49-F238E27FC236}">
                <a16:creationId xmlns:a16="http://schemas.microsoft.com/office/drawing/2014/main" id="{43FECA79-C7F3-42D7-8CBF-C9CBF0536D88}"/>
              </a:ext>
            </a:extLst>
          </p:cNvPr>
          <p:cNvSpPr>
            <a:spLocks noGrp="1"/>
          </p:cNvSpPr>
          <p:nvPr/>
        </p:nvSpPr>
        <p:spPr>
          <a:xfrm>
            <a:off x="609600" y="6515100"/>
            <a:ext cx="10972800" cy="9525"/>
          </a:xfrm>
          <a:prstGeom prst="rect">
            <a:avLst/>
          </a:prstGeom>
          <a:solidFill>
            <a:srgbClr val="D8E0E7"/>
          </a:solidFill>
          <a:ln w="0">
            <a:noFill/>
            <a:prstDash val="solid"/>
          </a:ln>
        </p:spPr>
      </p:sp>
      <p:sp>
        <p:nvSpPr>
          <p:cNvPr id="26" name="Rectangle 25">
            <a:extLst>
              <a:ext uri="{FF2B5EF4-FFF2-40B4-BE49-F238E27FC236}">
                <a16:creationId xmlns:a16="http://schemas.microsoft.com/office/drawing/2014/main" id="{ACC4581B-2352-45EE-B2F9-7C68AEFD9D46}"/>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27" name="Rectangle 26">
            <a:extLst>
              <a:ext uri="{FF2B5EF4-FFF2-40B4-BE49-F238E27FC236}">
                <a16:creationId xmlns:a16="http://schemas.microsoft.com/office/drawing/2014/main" id="{455ACB58-549B-468B-BD0B-C7BD36E669B5}"/>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04</a:t>
            </a:r>
          </a:p>
        </p:txBody>
      </p:sp>
    </p:spTree>
    <p:extLst>
      <p:ext uri="{BB962C8B-B14F-4D97-AF65-F5344CB8AC3E}">
        <p14:creationId xmlns:p14="http://schemas.microsoft.com/office/powerpoint/2010/main" val="731138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3E7B1F36-987E-4946-B374-69B055A8CFFA}"/>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FE82C8B3-924F-4753-9C9C-44A0D2F7C091}"/>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End-To-End Architecture</a:t>
            </a:r>
          </a:p>
        </p:txBody>
      </p:sp>
      <p:sp>
        <p:nvSpPr>
          <p:cNvPr id="3" name="Rectangle 2">
            <a:extLst>
              <a:ext uri="{FF2B5EF4-FFF2-40B4-BE49-F238E27FC236}">
                <a16:creationId xmlns:a16="http://schemas.microsoft.com/office/drawing/2014/main" id="{DAC90161-9F2F-4B68-8365-22001EA6BAF7}"/>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CE50BD6D-0D2B-4E2F-938E-3F8973D9FD87}"/>
              </a:ext>
            </a:extLst>
          </p:cNvPr>
          <p:cNvSpPr>
            <a:spLocks noGrp="1"/>
          </p:cNvSpPr>
          <p:nvPr/>
        </p:nvSpPr>
        <p:spPr>
          <a:xfrm>
            <a:off x="609600" y="1352550"/>
            <a:ext cx="9048750" cy="47625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The implementation is reproducible: one master runner profiles, cleans, loads, computes metrics, creates notebooks, and exports report assets.</a:t>
            </a:r>
          </a:p>
        </p:txBody>
      </p:sp>
      <p:sp>
        <p:nvSpPr>
          <p:cNvPr id="5" name="Rectangle: Rounded Corners 4">
            <a:extLst>
              <a:ext uri="{FF2B5EF4-FFF2-40B4-BE49-F238E27FC236}">
                <a16:creationId xmlns:a16="http://schemas.microsoft.com/office/drawing/2014/main" id="{0798B6BB-3B62-4BB5-BADF-044D68B7EB2B}"/>
              </a:ext>
            </a:extLst>
          </p:cNvPr>
          <p:cNvSpPr>
            <a:spLocks noGrp="1"/>
          </p:cNvSpPr>
          <p:nvPr/>
        </p:nvSpPr>
        <p:spPr>
          <a:xfrm>
            <a:off x="704850" y="2400300"/>
            <a:ext cx="1809750" cy="1276350"/>
          </a:xfrm>
          <a:prstGeom prst="roundRect">
            <a:avLst>
              <a:gd name="adj" fmla="val 4478"/>
            </a:avLst>
          </a:prstGeom>
          <a:solidFill>
            <a:srgbClr val="FFFFFF"/>
          </a:solidFill>
          <a:ln w="9525">
            <a:solidFill>
              <a:srgbClr val="D8E0E7"/>
            </a:solidFill>
            <a:prstDash val="solid"/>
          </a:ln>
        </p:spPr>
      </p:sp>
      <p:sp>
        <p:nvSpPr>
          <p:cNvPr id="6" name="Oval 5">
            <a:extLst>
              <a:ext uri="{FF2B5EF4-FFF2-40B4-BE49-F238E27FC236}">
                <a16:creationId xmlns:a16="http://schemas.microsoft.com/office/drawing/2014/main" id="{6DE2EC12-B603-4CCC-BF51-324683C6EB09}"/>
              </a:ext>
            </a:extLst>
          </p:cNvPr>
          <p:cNvSpPr>
            <a:spLocks noGrp="1"/>
          </p:cNvSpPr>
          <p:nvPr/>
        </p:nvSpPr>
        <p:spPr>
          <a:xfrm>
            <a:off x="876300" y="2571750"/>
            <a:ext cx="361950" cy="361950"/>
          </a:xfrm>
          <a:prstGeom prst="ellipse">
            <a:avLst/>
          </a:prstGeom>
          <a:solidFill>
            <a:srgbClr val="0B3D5C"/>
          </a:solidFill>
          <a:ln w="0">
            <a:noFill/>
            <a:prstDash val="solid"/>
          </a:ln>
        </p:spPr>
      </p:sp>
      <p:sp>
        <p:nvSpPr>
          <p:cNvPr id="7" name="Rectangle 6">
            <a:extLst>
              <a:ext uri="{FF2B5EF4-FFF2-40B4-BE49-F238E27FC236}">
                <a16:creationId xmlns:a16="http://schemas.microsoft.com/office/drawing/2014/main" id="{A2D1119C-DB83-49E2-B80F-3D528E16BFAD}"/>
              </a:ext>
            </a:extLst>
          </p:cNvPr>
          <p:cNvSpPr>
            <a:spLocks noGrp="1"/>
          </p:cNvSpPr>
          <p:nvPr/>
        </p:nvSpPr>
        <p:spPr>
          <a:xfrm>
            <a:off x="876300" y="261937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1</a:t>
            </a:r>
          </a:p>
        </p:txBody>
      </p:sp>
      <p:sp>
        <p:nvSpPr>
          <p:cNvPr id="8" name="Rectangle 7">
            <a:extLst>
              <a:ext uri="{FF2B5EF4-FFF2-40B4-BE49-F238E27FC236}">
                <a16:creationId xmlns:a16="http://schemas.microsoft.com/office/drawing/2014/main" id="{FB7E008B-6A1F-485B-9481-C72FDE04ED17}"/>
              </a:ext>
            </a:extLst>
          </p:cNvPr>
          <p:cNvSpPr>
            <a:spLocks noGrp="1"/>
          </p:cNvSpPr>
          <p:nvPr/>
        </p:nvSpPr>
        <p:spPr>
          <a:xfrm>
            <a:off x="1371600" y="2571750"/>
            <a:ext cx="9715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Raw Inputs</a:t>
            </a:r>
          </a:p>
        </p:txBody>
      </p:sp>
      <p:sp>
        <p:nvSpPr>
          <p:cNvPr id="9" name="Rectangle 8">
            <a:extLst>
              <a:ext uri="{FF2B5EF4-FFF2-40B4-BE49-F238E27FC236}">
                <a16:creationId xmlns:a16="http://schemas.microsoft.com/office/drawing/2014/main" id="{F5EA3BF7-12A2-4FF1-AF87-C20183300BDB}"/>
              </a:ext>
            </a:extLst>
          </p:cNvPr>
          <p:cNvSpPr>
            <a:spLocks noGrp="1"/>
          </p:cNvSpPr>
          <p:nvPr/>
        </p:nvSpPr>
        <p:spPr>
          <a:xfrm>
            <a:off x="1371600" y="2895600"/>
            <a:ext cx="9715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CSV datasets plus optional live NAV refresh.</a:t>
            </a:r>
          </a:p>
        </p:txBody>
      </p:sp>
      <p:sp>
        <p:nvSpPr>
          <p:cNvPr id="10" name="Arrow: Right 9">
            <a:extLst>
              <a:ext uri="{FF2B5EF4-FFF2-40B4-BE49-F238E27FC236}">
                <a16:creationId xmlns:a16="http://schemas.microsoft.com/office/drawing/2014/main" id="{1EEA1C1D-EAF0-499D-B389-F38B8401833F}"/>
              </a:ext>
            </a:extLst>
          </p:cNvPr>
          <p:cNvSpPr>
            <a:spLocks noGrp="1"/>
          </p:cNvSpPr>
          <p:nvPr/>
        </p:nvSpPr>
        <p:spPr>
          <a:xfrm>
            <a:off x="2600325" y="2943225"/>
            <a:ext cx="228600" cy="190500"/>
          </a:xfrm>
          <a:prstGeom prst="rightArrow">
            <a:avLst/>
          </a:prstGeom>
          <a:solidFill>
            <a:srgbClr val="00866E"/>
          </a:solidFill>
          <a:ln w="0">
            <a:noFill/>
            <a:prstDash val="solid"/>
          </a:ln>
        </p:spPr>
      </p:sp>
      <p:sp>
        <p:nvSpPr>
          <p:cNvPr id="11" name="Rectangle: Rounded Corners 10">
            <a:extLst>
              <a:ext uri="{FF2B5EF4-FFF2-40B4-BE49-F238E27FC236}">
                <a16:creationId xmlns:a16="http://schemas.microsoft.com/office/drawing/2014/main" id="{A3AB6D08-E828-4A86-89C6-0534733ACB46}"/>
              </a:ext>
            </a:extLst>
          </p:cNvPr>
          <p:cNvSpPr>
            <a:spLocks noGrp="1"/>
          </p:cNvSpPr>
          <p:nvPr/>
        </p:nvSpPr>
        <p:spPr>
          <a:xfrm>
            <a:off x="2914650" y="2400300"/>
            <a:ext cx="1809750" cy="1276350"/>
          </a:xfrm>
          <a:prstGeom prst="roundRect">
            <a:avLst>
              <a:gd name="adj" fmla="val 4478"/>
            </a:avLst>
          </a:prstGeom>
          <a:solidFill>
            <a:srgbClr val="FFFFFF"/>
          </a:solidFill>
          <a:ln w="9525">
            <a:solidFill>
              <a:srgbClr val="D8E0E7"/>
            </a:solidFill>
            <a:prstDash val="solid"/>
          </a:ln>
        </p:spPr>
      </p:sp>
      <p:sp>
        <p:nvSpPr>
          <p:cNvPr id="12" name="Oval 11">
            <a:extLst>
              <a:ext uri="{FF2B5EF4-FFF2-40B4-BE49-F238E27FC236}">
                <a16:creationId xmlns:a16="http://schemas.microsoft.com/office/drawing/2014/main" id="{04FCC58B-25EE-4B64-90C6-C6D5A722272F}"/>
              </a:ext>
            </a:extLst>
          </p:cNvPr>
          <p:cNvSpPr>
            <a:spLocks noGrp="1"/>
          </p:cNvSpPr>
          <p:nvPr/>
        </p:nvSpPr>
        <p:spPr>
          <a:xfrm>
            <a:off x="3086100" y="2571750"/>
            <a:ext cx="361950" cy="361950"/>
          </a:xfrm>
          <a:prstGeom prst="ellipse">
            <a:avLst/>
          </a:prstGeom>
          <a:solidFill>
            <a:srgbClr val="00866E"/>
          </a:solidFill>
          <a:ln w="0">
            <a:noFill/>
            <a:prstDash val="solid"/>
          </a:ln>
        </p:spPr>
      </p:sp>
      <p:sp>
        <p:nvSpPr>
          <p:cNvPr id="13" name="Rectangle 12">
            <a:extLst>
              <a:ext uri="{FF2B5EF4-FFF2-40B4-BE49-F238E27FC236}">
                <a16:creationId xmlns:a16="http://schemas.microsoft.com/office/drawing/2014/main" id="{6E500CA9-E0CF-4EB4-B332-DA3A959FD7B4}"/>
              </a:ext>
            </a:extLst>
          </p:cNvPr>
          <p:cNvSpPr>
            <a:spLocks noGrp="1"/>
          </p:cNvSpPr>
          <p:nvPr/>
        </p:nvSpPr>
        <p:spPr>
          <a:xfrm>
            <a:off x="3086100" y="261937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2</a:t>
            </a:r>
          </a:p>
        </p:txBody>
      </p:sp>
      <p:sp>
        <p:nvSpPr>
          <p:cNvPr id="14" name="Rectangle 13">
            <a:extLst>
              <a:ext uri="{FF2B5EF4-FFF2-40B4-BE49-F238E27FC236}">
                <a16:creationId xmlns:a16="http://schemas.microsoft.com/office/drawing/2014/main" id="{FD9B0506-CF02-4AA5-AD7B-5FC3BACF9FB2}"/>
              </a:ext>
            </a:extLst>
          </p:cNvPr>
          <p:cNvSpPr>
            <a:spLocks noGrp="1"/>
          </p:cNvSpPr>
          <p:nvPr/>
        </p:nvSpPr>
        <p:spPr>
          <a:xfrm>
            <a:off x="3581400" y="2571750"/>
            <a:ext cx="9715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Python ETL</a:t>
            </a:r>
          </a:p>
        </p:txBody>
      </p:sp>
      <p:sp>
        <p:nvSpPr>
          <p:cNvPr id="15" name="Rectangle 14">
            <a:extLst>
              <a:ext uri="{FF2B5EF4-FFF2-40B4-BE49-F238E27FC236}">
                <a16:creationId xmlns:a16="http://schemas.microsoft.com/office/drawing/2014/main" id="{D9C2160B-54F5-4CF0-A234-B23A889DB698}"/>
              </a:ext>
            </a:extLst>
          </p:cNvPr>
          <p:cNvSpPr>
            <a:spLocks noGrp="1"/>
          </p:cNvSpPr>
          <p:nvPr/>
        </p:nvSpPr>
        <p:spPr>
          <a:xfrm>
            <a:off x="3581400" y="2895600"/>
            <a:ext cx="9715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Profile, clean, fill calendar dates, and validate.</a:t>
            </a:r>
          </a:p>
        </p:txBody>
      </p:sp>
      <p:sp>
        <p:nvSpPr>
          <p:cNvPr id="16" name="Arrow: Right 15">
            <a:extLst>
              <a:ext uri="{FF2B5EF4-FFF2-40B4-BE49-F238E27FC236}">
                <a16:creationId xmlns:a16="http://schemas.microsoft.com/office/drawing/2014/main" id="{34B5B304-16E5-49F3-AF1A-FB750EF3F345}"/>
              </a:ext>
            </a:extLst>
          </p:cNvPr>
          <p:cNvSpPr>
            <a:spLocks noGrp="1"/>
          </p:cNvSpPr>
          <p:nvPr/>
        </p:nvSpPr>
        <p:spPr>
          <a:xfrm>
            <a:off x="4810125" y="2943225"/>
            <a:ext cx="228600" cy="190500"/>
          </a:xfrm>
          <a:prstGeom prst="rightArrow">
            <a:avLst/>
          </a:prstGeom>
          <a:solidFill>
            <a:srgbClr val="00866E"/>
          </a:solidFill>
          <a:ln w="0">
            <a:noFill/>
            <a:prstDash val="solid"/>
          </a:ln>
        </p:spPr>
      </p:sp>
      <p:sp>
        <p:nvSpPr>
          <p:cNvPr id="17" name="Rectangle: Rounded Corners 16">
            <a:extLst>
              <a:ext uri="{FF2B5EF4-FFF2-40B4-BE49-F238E27FC236}">
                <a16:creationId xmlns:a16="http://schemas.microsoft.com/office/drawing/2014/main" id="{EDFCBE76-4A58-4030-9CD8-48A0931204C7}"/>
              </a:ext>
            </a:extLst>
          </p:cNvPr>
          <p:cNvSpPr>
            <a:spLocks noGrp="1"/>
          </p:cNvSpPr>
          <p:nvPr/>
        </p:nvSpPr>
        <p:spPr>
          <a:xfrm>
            <a:off x="5124450" y="2400300"/>
            <a:ext cx="1809750" cy="1276350"/>
          </a:xfrm>
          <a:prstGeom prst="roundRect">
            <a:avLst>
              <a:gd name="adj" fmla="val 4478"/>
            </a:avLst>
          </a:prstGeom>
          <a:solidFill>
            <a:srgbClr val="FFFFFF"/>
          </a:solidFill>
          <a:ln w="9525">
            <a:solidFill>
              <a:srgbClr val="D8E0E7"/>
            </a:solidFill>
            <a:prstDash val="solid"/>
          </a:ln>
        </p:spPr>
      </p:sp>
      <p:sp>
        <p:nvSpPr>
          <p:cNvPr id="18" name="Oval 17">
            <a:extLst>
              <a:ext uri="{FF2B5EF4-FFF2-40B4-BE49-F238E27FC236}">
                <a16:creationId xmlns:a16="http://schemas.microsoft.com/office/drawing/2014/main" id="{B12420E2-C216-4150-9357-1CEDF973BC48}"/>
              </a:ext>
            </a:extLst>
          </p:cNvPr>
          <p:cNvSpPr>
            <a:spLocks noGrp="1"/>
          </p:cNvSpPr>
          <p:nvPr/>
        </p:nvSpPr>
        <p:spPr>
          <a:xfrm>
            <a:off x="5295900" y="2571750"/>
            <a:ext cx="361950" cy="361950"/>
          </a:xfrm>
          <a:prstGeom prst="ellipse">
            <a:avLst/>
          </a:prstGeom>
          <a:solidFill>
            <a:srgbClr val="F2A541"/>
          </a:solidFill>
          <a:ln w="0">
            <a:noFill/>
            <a:prstDash val="solid"/>
          </a:ln>
        </p:spPr>
      </p:sp>
      <p:sp>
        <p:nvSpPr>
          <p:cNvPr id="19" name="Rectangle 18">
            <a:extLst>
              <a:ext uri="{FF2B5EF4-FFF2-40B4-BE49-F238E27FC236}">
                <a16:creationId xmlns:a16="http://schemas.microsoft.com/office/drawing/2014/main" id="{2402CE49-A889-472E-9089-5253A4739DBD}"/>
              </a:ext>
            </a:extLst>
          </p:cNvPr>
          <p:cNvSpPr>
            <a:spLocks noGrp="1"/>
          </p:cNvSpPr>
          <p:nvPr/>
        </p:nvSpPr>
        <p:spPr>
          <a:xfrm>
            <a:off x="5295900" y="261937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3</a:t>
            </a:r>
          </a:p>
        </p:txBody>
      </p:sp>
      <p:sp>
        <p:nvSpPr>
          <p:cNvPr id="20" name="Rectangle 19">
            <a:extLst>
              <a:ext uri="{FF2B5EF4-FFF2-40B4-BE49-F238E27FC236}">
                <a16:creationId xmlns:a16="http://schemas.microsoft.com/office/drawing/2014/main" id="{8A47C4C7-BE6D-406A-9C1E-25B39F86E385}"/>
              </a:ext>
            </a:extLst>
          </p:cNvPr>
          <p:cNvSpPr>
            <a:spLocks noGrp="1"/>
          </p:cNvSpPr>
          <p:nvPr/>
        </p:nvSpPr>
        <p:spPr>
          <a:xfrm>
            <a:off x="5791200" y="2571750"/>
            <a:ext cx="9715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SQLite</a:t>
            </a:r>
          </a:p>
        </p:txBody>
      </p:sp>
      <p:sp>
        <p:nvSpPr>
          <p:cNvPr id="21" name="Rectangle 20">
            <a:extLst>
              <a:ext uri="{FF2B5EF4-FFF2-40B4-BE49-F238E27FC236}">
                <a16:creationId xmlns:a16="http://schemas.microsoft.com/office/drawing/2014/main" id="{851BDB8A-38C3-4648-86EF-8FAAF3AAFB6C}"/>
              </a:ext>
            </a:extLst>
          </p:cNvPr>
          <p:cNvSpPr>
            <a:spLocks noGrp="1"/>
          </p:cNvSpPr>
          <p:nvPr/>
        </p:nvSpPr>
        <p:spPr>
          <a:xfrm>
            <a:off x="5791200" y="2895600"/>
            <a:ext cx="9715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Star schema with dimensions, facts, keys, and reusable SQL.</a:t>
            </a:r>
          </a:p>
        </p:txBody>
      </p:sp>
      <p:sp>
        <p:nvSpPr>
          <p:cNvPr id="22" name="Arrow: Right 21">
            <a:extLst>
              <a:ext uri="{FF2B5EF4-FFF2-40B4-BE49-F238E27FC236}">
                <a16:creationId xmlns:a16="http://schemas.microsoft.com/office/drawing/2014/main" id="{BF04EAB3-62BA-4C27-B383-14E607EA07A3}"/>
              </a:ext>
            </a:extLst>
          </p:cNvPr>
          <p:cNvSpPr>
            <a:spLocks noGrp="1"/>
          </p:cNvSpPr>
          <p:nvPr/>
        </p:nvSpPr>
        <p:spPr>
          <a:xfrm>
            <a:off x="7019925" y="2943225"/>
            <a:ext cx="228600" cy="190500"/>
          </a:xfrm>
          <a:prstGeom prst="rightArrow">
            <a:avLst/>
          </a:prstGeom>
          <a:solidFill>
            <a:srgbClr val="00866E"/>
          </a:solidFill>
          <a:ln w="0">
            <a:noFill/>
            <a:prstDash val="solid"/>
          </a:ln>
        </p:spPr>
      </p:sp>
      <p:sp>
        <p:nvSpPr>
          <p:cNvPr id="23" name="Rectangle: Rounded Corners 22">
            <a:extLst>
              <a:ext uri="{FF2B5EF4-FFF2-40B4-BE49-F238E27FC236}">
                <a16:creationId xmlns:a16="http://schemas.microsoft.com/office/drawing/2014/main" id="{653D4F14-3510-49FD-8A2A-EF25D97F033B}"/>
              </a:ext>
            </a:extLst>
          </p:cNvPr>
          <p:cNvSpPr>
            <a:spLocks noGrp="1"/>
          </p:cNvSpPr>
          <p:nvPr/>
        </p:nvSpPr>
        <p:spPr>
          <a:xfrm>
            <a:off x="7334250" y="2400300"/>
            <a:ext cx="1809750" cy="1276350"/>
          </a:xfrm>
          <a:prstGeom prst="roundRect">
            <a:avLst>
              <a:gd name="adj" fmla="val 4478"/>
            </a:avLst>
          </a:prstGeom>
          <a:solidFill>
            <a:srgbClr val="FFFFFF"/>
          </a:solidFill>
          <a:ln w="9525">
            <a:solidFill>
              <a:srgbClr val="D8E0E7"/>
            </a:solidFill>
            <a:prstDash val="solid"/>
          </a:ln>
        </p:spPr>
      </p:sp>
      <p:sp>
        <p:nvSpPr>
          <p:cNvPr id="24" name="Oval 23">
            <a:extLst>
              <a:ext uri="{FF2B5EF4-FFF2-40B4-BE49-F238E27FC236}">
                <a16:creationId xmlns:a16="http://schemas.microsoft.com/office/drawing/2014/main" id="{2BA6C830-FC0A-4C88-A5AB-19E490DE596A}"/>
              </a:ext>
            </a:extLst>
          </p:cNvPr>
          <p:cNvSpPr>
            <a:spLocks noGrp="1"/>
          </p:cNvSpPr>
          <p:nvPr/>
        </p:nvSpPr>
        <p:spPr>
          <a:xfrm>
            <a:off x="7505700" y="2571750"/>
            <a:ext cx="361950" cy="361950"/>
          </a:xfrm>
          <a:prstGeom prst="ellipse">
            <a:avLst/>
          </a:prstGeom>
          <a:solidFill>
            <a:srgbClr val="D1495B"/>
          </a:solidFill>
          <a:ln w="0">
            <a:noFill/>
            <a:prstDash val="solid"/>
          </a:ln>
        </p:spPr>
      </p:sp>
      <p:sp>
        <p:nvSpPr>
          <p:cNvPr id="25" name="Rectangle 24">
            <a:extLst>
              <a:ext uri="{FF2B5EF4-FFF2-40B4-BE49-F238E27FC236}">
                <a16:creationId xmlns:a16="http://schemas.microsoft.com/office/drawing/2014/main" id="{C6E7CBFC-4359-4491-8DC4-B4A401909606}"/>
              </a:ext>
            </a:extLst>
          </p:cNvPr>
          <p:cNvSpPr>
            <a:spLocks noGrp="1"/>
          </p:cNvSpPr>
          <p:nvPr/>
        </p:nvSpPr>
        <p:spPr>
          <a:xfrm>
            <a:off x="7505700" y="261937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4</a:t>
            </a:r>
          </a:p>
        </p:txBody>
      </p:sp>
      <p:sp>
        <p:nvSpPr>
          <p:cNvPr id="26" name="Rectangle 25">
            <a:extLst>
              <a:ext uri="{FF2B5EF4-FFF2-40B4-BE49-F238E27FC236}">
                <a16:creationId xmlns:a16="http://schemas.microsoft.com/office/drawing/2014/main" id="{C2CE8928-6B53-4637-B48B-00806829C847}"/>
              </a:ext>
            </a:extLst>
          </p:cNvPr>
          <p:cNvSpPr>
            <a:spLocks noGrp="1"/>
          </p:cNvSpPr>
          <p:nvPr/>
        </p:nvSpPr>
        <p:spPr>
          <a:xfrm>
            <a:off x="8001000" y="2571750"/>
            <a:ext cx="9715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Analytics</a:t>
            </a:r>
          </a:p>
        </p:txBody>
      </p:sp>
      <p:sp>
        <p:nvSpPr>
          <p:cNvPr id="27" name="Rectangle 26">
            <a:extLst>
              <a:ext uri="{FF2B5EF4-FFF2-40B4-BE49-F238E27FC236}">
                <a16:creationId xmlns:a16="http://schemas.microsoft.com/office/drawing/2014/main" id="{CAAC51A2-DAE7-4C32-97A3-71D1E1D62C2E}"/>
              </a:ext>
            </a:extLst>
          </p:cNvPr>
          <p:cNvSpPr>
            <a:spLocks noGrp="1"/>
          </p:cNvSpPr>
          <p:nvPr/>
        </p:nvSpPr>
        <p:spPr>
          <a:xfrm>
            <a:off x="8001000" y="2895600"/>
            <a:ext cx="9715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Risk metrics, scorecards, VaR, CVaR, tracking error, and HHI.</a:t>
            </a:r>
          </a:p>
        </p:txBody>
      </p:sp>
      <p:sp>
        <p:nvSpPr>
          <p:cNvPr id="28" name="Arrow: Right 27">
            <a:extLst>
              <a:ext uri="{FF2B5EF4-FFF2-40B4-BE49-F238E27FC236}">
                <a16:creationId xmlns:a16="http://schemas.microsoft.com/office/drawing/2014/main" id="{B2DAD1DD-6673-4873-9EF2-8AE1FA351B61}"/>
              </a:ext>
            </a:extLst>
          </p:cNvPr>
          <p:cNvSpPr>
            <a:spLocks noGrp="1"/>
          </p:cNvSpPr>
          <p:nvPr/>
        </p:nvSpPr>
        <p:spPr>
          <a:xfrm>
            <a:off x="9229725" y="2943225"/>
            <a:ext cx="228600" cy="190500"/>
          </a:xfrm>
          <a:prstGeom prst="rightArrow">
            <a:avLst/>
          </a:prstGeom>
          <a:solidFill>
            <a:srgbClr val="00866E"/>
          </a:solidFill>
          <a:ln w="0">
            <a:noFill/>
            <a:prstDash val="solid"/>
          </a:ln>
        </p:spPr>
      </p:sp>
      <p:sp>
        <p:nvSpPr>
          <p:cNvPr id="29" name="Rectangle: Rounded Corners 28">
            <a:extLst>
              <a:ext uri="{FF2B5EF4-FFF2-40B4-BE49-F238E27FC236}">
                <a16:creationId xmlns:a16="http://schemas.microsoft.com/office/drawing/2014/main" id="{50452F4C-9C45-4E68-AAFF-78640C005BCD}"/>
              </a:ext>
            </a:extLst>
          </p:cNvPr>
          <p:cNvSpPr>
            <a:spLocks noGrp="1"/>
          </p:cNvSpPr>
          <p:nvPr/>
        </p:nvSpPr>
        <p:spPr>
          <a:xfrm>
            <a:off x="9544050" y="2400300"/>
            <a:ext cx="1809750" cy="1276350"/>
          </a:xfrm>
          <a:prstGeom prst="roundRect">
            <a:avLst>
              <a:gd name="adj" fmla="val 4478"/>
            </a:avLst>
          </a:prstGeom>
          <a:solidFill>
            <a:srgbClr val="FFFFFF"/>
          </a:solidFill>
          <a:ln w="9525">
            <a:solidFill>
              <a:srgbClr val="D8E0E7"/>
            </a:solidFill>
            <a:prstDash val="solid"/>
          </a:ln>
        </p:spPr>
      </p:sp>
      <p:sp>
        <p:nvSpPr>
          <p:cNvPr id="30" name="Oval 29">
            <a:extLst>
              <a:ext uri="{FF2B5EF4-FFF2-40B4-BE49-F238E27FC236}">
                <a16:creationId xmlns:a16="http://schemas.microsoft.com/office/drawing/2014/main" id="{F9EF3EC2-8370-4008-A83E-96C284036EB0}"/>
              </a:ext>
            </a:extLst>
          </p:cNvPr>
          <p:cNvSpPr>
            <a:spLocks noGrp="1"/>
          </p:cNvSpPr>
          <p:nvPr/>
        </p:nvSpPr>
        <p:spPr>
          <a:xfrm>
            <a:off x="9715500" y="2571750"/>
            <a:ext cx="361950" cy="361950"/>
          </a:xfrm>
          <a:prstGeom prst="ellipse">
            <a:avLst/>
          </a:prstGeom>
          <a:solidFill>
            <a:srgbClr val="0B3D5C"/>
          </a:solidFill>
          <a:ln w="0">
            <a:noFill/>
            <a:prstDash val="solid"/>
          </a:ln>
        </p:spPr>
      </p:sp>
      <p:sp>
        <p:nvSpPr>
          <p:cNvPr id="31" name="Rectangle 30">
            <a:extLst>
              <a:ext uri="{FF2B5EF4-FFF2-40B4-BE49-F238E27FC236}">
                <a16:creationId xmlns:a16="http://schemas.microsoft.com/office/drawing/2014/main" id="{D33A9E80-DE97-47B8-B627-05A4CF5C778E}"/>
              </a:ext>
            </a:extLst>
          </p:cNvPr>
          <p:cNvSpPr>
            <a:spLocks noGrp="1"/>
          </p:cNvSpPr>
          <p:nvPr/>
        </p:nvSpPr>
        <p:spPr>
          <a:xfrm>
            <a:off x="9715500" y="261937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5</a:t>
            </a:r>
          </a:p>
        </p:txBody>
      </p:sp>
      <p:sp>
        <p:nvSpPr>
          <p:cNvPr id="32" name="Rectangle 31">
            <a:extLst>
              <a:ext uri="{FF2B5EF4-FFF2-40B4-BE49-F238E27FC236}">
                <a16:creationId xmlns:a16="http://schemas.microsoft.com/office/drawing/2014/main" id="{02DC7CAA-DBF2-4247-97BE-ADFDEAC59C73}"/>
              </a:ext>
            </a:extLst>
          </p:cNvPr>
          <p:cNvSpPr>
            <a:spLocks noGrp="1"/>
          </p:cNvSpPr>
          <p:nvPr/>
        </p:nvSpPr>
        <p:spPr>
          <a:xfrm>
            <a:off x="10210800" y="2571750"/>
            <a:ext cx="9715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Outputs</a:t>
            </a:r>
          </a:p>
        </p:txBody>
      </p:sp>
      <p:sp>
        <p:nvSpPr>
          <p:cNvPr id="33" name="Rectangle 32">
            <a:extLst>
              <a:ext uri="{FF2B5EF4-FFF2-40B4-BE49-F238E27FC236}">
                <a16:creationId xmlns:a16="http://schemas.microsoft.com/office/drawing/2014/main" id="{22593BCB-33E9-4A30-BCA1-D1D2608804B5}"/>
              </a:ext>
            </a:extLst>
          </p:cNvPr>
          <p:cNvSpPr>
            <a:spLocks noGrp="1"/>
          </p:cNvSpPr>
          <p:nvPr/>
        </p:nvSpPr>
        <p:spPr>
          <a:xfrm>
            <a:off x="10210800" y="2895600"/>
            <a:ext cx="9715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Charts, report, notebooks, Power BI blueprint, and final PPT.</a:t>
            </a:r>
          </a:p>
        </p:txBody>
      </p:sp>
      <p:sp>
        <p:nvSpPr>
          <p:cNvPr id="34" name="Rectangle: Rounded Corners 33">
            <a:extLst>
              <a:ext uri="{FF2B5EF4-FFF2-40B4-BE49-F238E27FC236}">
                <a16:creationId xmlns:a16="http://schemas.microsoft.com/office/drawing/2014/main" id="{8E189C09-663B-48DA-BBAC-1174A9185D54}"/>
              </a:ext>
            </a:extLst>
          </p:cNvPr>
          <p:cNvSpPr>
            <a:spLocks noGrp="1"/>
          </p:cNvSpPr>
          <p:nvPr/>
        </p:nvSpPr>
        <p:spPr>
          <a:xfrm>
            <a:off x="1581150" y="4514850"/>
            <a:ext cx="4000500" cy="1200150"/>
          </a:xfrm>
          <a:prstGeom prst="roundRect">
            <a:avLst>
              <a:gd name="adj" fmla="val 4762"/>
            </a:avLst>
          </a:prstGeom>
          <a:solidFill>
            <a:srgbClr val="FFFFFF"/>
          </a:solidFill>
          <a:ln w="9525">
            <a:solidFill>
              <a:srgbClr val="D8E0E7"/>
            </a:solidFill>
            <a:prstDash val="solid"/>
          </a:ln>
        </p:spPr>
      </p:sp>
      <p:sp>
        <p:nvSpPr>
          <p:cNvPr id="35" name="Rectangle 34">
            <a:extLst>
              <a:ext uri="{FF2B5EF4-FFF2-40B4-BE49-F238E27FC236}">
                <a16:creationId xmlns:a16="http://schemas.microsoft.com/office/drawing/2014/main" id="{94AA15C8-72C7-46FF-BC88-C16E6C2DE5C1}"/>
              </a:ext>
            </a:extLst>
          </p:cNvPr>
          <p:cNvSpPr>
            <a:spLocks noGrp="1"/>
          </p:cNvSpPr>
          <p:nvPr/>
        </p:nvSpPr>
        <p:spPr>
          <a:xfrm>
            <a:off x="1752600" y="4705350"/>
            <a:ext cx="323850" cy="38100"/>
          </a:xfrm>
          <a:prstGeom prst="rect">
            <a:avLst/>
          </a:prstGeom>
          <a:solidFill>
            <a:srgbClr val="00866E"/>
          </a:solidFill>
          <a:ln w="0">
            <a:noFill/>
            <a:prstDash val="solid"/>
          </a:ln>
        </p:spPr>
      </p:sp>
      <p:sp>
        <p:nvSpPr>
          <p:cNvPr id="36" name="Rectangle 35">
            <a:extLst>
              <a:ext uri="{FF2B5EF4-FFF2-40B4-BE49-F238E27FC236}">
                <a16:creationId xmlns:a16="http://schemas.microsoft.com/office/drawing/2014/main" id="{CDBBB58C-1A84-4F50-B471-B5A73AD245B2}"/>
              </a:ext>
            </a:extLst>
          </p:cNvPr>
          <p:cNvSpPr>
            <a:spLocks noGrp="1"/>
          </p:cNvSpPr>
          <p:nvPr/>
        </p:nvSpPr>
        <p:spPr>
          <a:xfrm>
            <a:off x="1752600" y="4838700"/>
            <a:ext cx="36576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Automation path</a:t>
            </a:r>
          </a:p>
        </p:txBody>
      </p:sp>
      <p:sp>
        <p:nvSpPr>
          <p:cNvPr id="37" name="Rectangle 36">
            <a:extLst>
              <a:ext uri="{FF2B5EF4-FFF2-40B4-BE49-F238E27FC236}">
                <a16:creationId xmlns:a16="http://schemas.microsoft.com/office/drawing/2014/main" id="{BD09BFC1-B4D2-4BB3-B122-E2EBE7B21A07}"/>
              </a:ext>
            </a:extLst>
          </p:cNvPr>
          <p:cNvSpPr>
            <a:spLocks noGrp="1"/>
          </p:cNvSpPr>
          <p:nvPr/>
        </p:nvSpPr>
        <p:spPr>
          <a:xfrm>
            <a:off x="1752600" y="5181600"/>
            <a:ext cx="3657600" cy="3810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run_pipeline.py executes five ordered steps: profile raw datasets, clean and load SQLite, compute metrics, generate charts, and create notebooks/report starters.</a:t>
            </a:r>
          </a:p>
        </p:txBody>
      </p:sp>
      <p:sp>
        <p:nvSpPr>
          <p:cNvPr id="38" name="Rectangle: Rounded Corners 37">
            <a:extLst>
              <a:ext uri="{FF2B5EF4-FFF2-40B4-BE49-F238E27FC236}">
                <a16:creationId xmlns:a16="http://schemas.microsoft.com/office/drawing/2014/main" id="{8334373F-4F62-4CCD-93A8-720FAEFF3E65}"/>
              </a:ext>
            </a:extLst>
          </p:cNvPr>
          <p:cNvSpPr>
            <a:spLocks noGrp="1"/>
          </p:cNvSpPr>
          <p:nvPr/>
        </p:nvSpPr>
        <p:spPr>
          <a:xfrm>
            <a:off x="6629400" y="4514850"/>
            <a:ext cx="4000500" cy="1200150"/>
          </a:xfrm>
          <a:prstGeom prst="roundRect">
            <a:avLst>
              <a:gd name="adj" fmla="val 4762"/>
            </a:avLst>
          </a:prstGeom>
          <a:solidFill>
            <a:srgbClr val="FFFFFF"/>
          </a:solidFill>
          <a:ln w="9525">
            <a:solidFill>
              <a:srgbClr val="D8E0E7"/>
            </a:solidFill>
            <a:prstDash val="solid"/>
          </a:ln>
        </p:spPr>
      </p:sp>
      <p:sp>
        <p:nvSpPr>
          <p:cNvPr id="39" name="Rectangle 38">
            <a:extLst>
              <a:ext uri="{FF2B5EF4-FFF2-40B4-BE49-F238E27FC236}">
                <a16:creationId xmlns:a16="http://schemas.microsoft.com/office/drawing/2014/main" id="{EAD05752-7DCA-4761-A21D-1C45B1C1F7E2}"/>
              </a:ext>
            </a:extLst>
          </p:cNvPr>
          <p:cNvSpPr>
            <a:spLocks noGrp="1"/>
          </p:cNvSpPr>
          <p:nvPr/>
        </p:nvSpPr>
        <p:spPr>
          <a:xfrm>
            <a:off x="6800850" y="4705350"/>
            <a:ext cx="323850" cy="38100"/>
          </a:xfrm>
          <a:prstGeom prst="rect">
            <a:avLst/>
          </a:prstGeom>
          <a:solidFill>
            <a:srgbClr val="0B3D5C"/>
          </a:solidFill>
          <a:ln w="0">
            <a:noFill/>
            <a:prstDash val="solid"/>
          </a:ln>
        </p:spPr>
      </p:sp>
      <p:sp>
        <p:nvSpPr>
          <p:cNvPr id="40" name="Rectangle 39">
            <a:extLst>
              <a:ext uri="{FF2B5EF4-FFF2-40B4-BE49-F238E27FC236}">
                <a16:creationId xmlns:a16="http://schemas.microsoft.com/office/drawing/2014/main" id="{4A02D8BF-7FB3-49E4-8B46-65209DE5A153}"/>
              </a:ext>
            </a:extLst>
          </p:cNvPr>
          <p:cNvSpPr>
            <a:spLocks noGrp="1"/>
          </p:cNvSpPr>
          <p:nvPr/>
        </p:nvSpPr>
        <p:spPr>
          <a:xfrm>
            <a:off x="6800850" y="4838700"/>
            <a:ext cx="36576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Review path</a:t>
            </a:r>
          </a:p>
        </p:txBody>
      </p:sp>
      <p:sp>
        <p:nvSpPr>
          <p:cNvPr id="41" name="Rectangle 40">
            <a:extLst>
              <a:ext uri="{FF2B5EF4-FFF2-40B4-BE49-F238E27FC236}">
                <a16:creationId xmlns:a16="http://schemas.microsoft.com/office/drawing/2014/main" id="{B4AEA0B3-B4DD-4C30-A9D9-FEC2E4749104}"/>
              </a:ext>
            </a:extLst>
          </p:cNvPr>
          <p:cNvSpPr>
            <a:spLocks noGrp="1"/>
          </p:cNvSpPr>
          <p:nvPr/>
        </p:nvSpPr>
        <p:spPr>
          <a:xfrm>
            <a:off x="6800850" y="5181600"/>
            <a:ext cx="3657600" cy="3810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The project can be reviewed from SQL files, processed CSVs, notebooks, dashboards, PDF/HTML report, and chart pack without relying on a hidden local state.</a:t>
            </a:r>
          </a:p>
        </p:txBody>
      </p:sp>
      <p:sp>
        <p:nvSpPr>
          <p:cNvPr id="42" name="Rectangle 41">
            <a:extLst>
              <a:ext uri="{FF2B5EF4-FFF2-40B4-BE49-F238E27FC236}">
                <a16:creationId xmlns:a16="http://schemas.microsoft.com/office/drawing/2014/main" id="{EB6F664D-237B-4385-9567-03D674BC20A4}"/>
              </a:ext>
            </a:extLst>
          </p:cNvPr>
          <p:cNvSpPr>
            <a:spLocks noGrp="1"/>
          </p:cNvSpPr>
          <p:nvPr/>
        </p:nvSpPr>
        <p:spPr>
          <a:xfrm>
            <a:off x="609600" y="6515100"/>
            <a:ext cx="10972800" cy="9525"/>
          </a:xfrm>
          <a:prstGeom prst="rect">
            <a:avLst/>
          </a:prstGeom>
          <a:solidFill>
            <a:srgbClr val="D8E0E7"/>
          </a:solidFill>
          <a:ln w="0">
            <a:noFill/>
            <a:prstDash val="solid"/>
          </a:ln>
        </p:spPr>
      </p:sp>
      <p:sp>
        <p:nvSpPr>
          <p:cNvPr id="43" name="Rectangle 42">
            <a:extLst>
              <a:ext uri="{FF2B5EF4-FFF2-40B4-BE49-F238E27FC236}">
                <a16:creationId xmlns:a16="http://schemas.microsoft.com/office/drawing/2014/main" id="{90930D94-04D7-48C1-9BBD-3A97F27E2D1F}"/>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44" name="Rectangle 43">
            <a:extLst>
              <a:ext uri="{FF2B5EF4-FFF2-40B4-BE49-F238E27FC236}">
                <a16:creationId xmlns:a16="http://schemas.microsoft.com/office/drawing/2014/main" id="{A8F2542A-D0B5-4218-AC90-5D2C184BCDCB}"/>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05</a:t>
            </a:r>
          </a:p>
        </p:txBody>
      </p:sp>
    </p:spTree>
    <p:extLst>
      <p:ext uri="{BB962C8B-B14F-4D97-AF65-F5344CB8AC3E}">
        <p14:creationId xmlns:p14="http://schemas.microsoft.com/office/powerpoint/2010/main" val="752763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ED2C2B9-4D6D-422E-B28B-64D92118CC4F}"/>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AD2671B5-2B7B-4C42-BC3A-220A6764D1F4}"/>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Analytical Framework</a:t>
            </a:r>
          </a:p>
        </p:txBody>
      </p:sp>
      <p:sp>
        <p:nvSpPr>
          <p:cNvPr id="3" name="Rectangle 2">
            <a:extLst>
              <a:ext uri="{FF2B5EF4-FFF2-40B4-BE49-F238E27FC236}">
                <a16:creationId xmlns:a16="http://schemas.microsoft.com/office/drawing/2014/main" id="{4D154907-C661-4C4F-A4BC-54A532290CBA}"/>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BD8A0E99-4EA8-442F-9BB6-B6F7A8DD2AC0}"/>
              </a:ext>
            </a:extLst>
          </p:cNvPr>
          <p:cNvSpPr>
            <a:spLocks noGrp="1"/>
          </p:cNvSpPr>
          <p:nvPr/>
        </p:nvSpPr>
        <p:spPr>
          <a:xfrm>
            <a:off x="609600" y="1352550"/>
            <a:ext cx="8382000" cy="41910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The project moves from descriptive market analysis to risk-adjusted fund selection and stakeholder-ready dashboards.</a:t>
            </a:r>
          </a:p>
        </p:txBody>
      </p:sp>
      <p:sp>
        <p:nvSpPr>
          <p:cNvPr id="5" name="Rectangle: Rounded Corners 4">
            <a:extLst>
              <a:ext uri="{FF2B5EF4-FFF2-40B4-BE49-F238E27FC236}">
                <a16:creationId xmlns:a16="http://schemas.microsoft.com/office/drawing/2014/main" id="{3059D4F3-14C6-4062-B3A1-952D448E3D67}"/>
              </a:ext>
            </a:extLst>
          </p:cNvPr>
          <p:cNvSpPr>
            <a:spLocks noGrp="1"/>
          </p:cNvSpPr>
          <p:nvPr/>
        </p:nvSpPr>
        <p:spPr>
          <a:xfrm>
            <a:off x="742950" y="2095500"/>
            <a:ext cx="3238500" cy="1581150"/>
          </a:xfrm>
          <a:prstGeom prst="roundRect">
            <a:avLst>
              <a:gd name="adj" fmla="val 3614"/>
            </a:avLst>
          </a:prstGeom>
          <a:solidFill>
            <a:srgbClr val="FFFFFF"/>
          </a:solidFill>
          <a:ln w="9525">
            <a:solidFill>
              <a:srgbClr val="D8E0E7"/>
            </a:solidFill>
            <a:prstDash val="solid"/>
          </a:ln>
        </p:spPr>
      </p:sp>
      <p:sp>
        <p:nvSpPr>
          <p:cNvPr id="6" name="Rectangle 5">
            <a:extLst>
              <a:ext uri="{FF2B5EF4-FFF2-40B4-BE49-F238E27FC236}">
                <a16:creationId xmlns:a16="http://schemas.microsoft.com/office/drawing/2014/main" id="{AB69CD21-818E-4E4A-8081-73ED3BFE62F8}"/>
              </a:ext>
            </a:extLst>
          </p:cNvPr>
          <p:cNvSpPr>
            <a:spLocks noGrp="1"/>
          </p:cNvSpPr>
          <p:nvPr/>
        </p:nvSpPr>
        <p:spPr>
          <a:xfrm>
            <a:off x="914400" y="2286000"/>
            <a:ext cx="323850" cy="38100"/>
          </a:xfrm>
          <a:prstGeom prst="rect">
            <a:avLst/>
          </a:prstGeom>
          <a:solidFill>
            <a:srgbClr val="0B3D5C"/>
          </a:solidFill>
          <a:ln w="0">
            <a:noFill/>
            <a:prstDash val="solid"/>
          </a:ln>
        </p:spPr>
      </p:sp>
      <p:sp>
        <p:nvSpPr>
          <p:cNvPr id="7" name="Rectangle 6">
            <a:extLst>
              <a:ext uri="{FF2B5EF4-FFF2-40B4-BE49-F238E27FC236}">
                <a16:creationId xmlns:a16="http://schemas.microsoft.com/office/drawing/2014/main" id="{3094B8AF-8907-4C79-8220-0533A9F98487}"/>
              </a:ext>
            </a:extLst>
          </p:cNvPr>
          <p:cNvSpPr>
            <a:spLocks noGrp="1"/>
          </p:cNvSpPr>
          <p:nvPr/>
        </p:nvSpPr>
        <p:spPr>
          <a:xfrm>
            <a:off x="914400" y="2419350"/>
            <a:ext cx="28956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Exploratory analysis</a:t>
            </a:r>
          </a:p>
        </p:txBody>
      </p:sp>
      <p:sp>
        <p:nvSpPr>
          <p:cNvPr id="8" name="Rectangle 7">
            <a:extLst>
              <a:ext uri="{FF2B5EF4-FFF2-40B4-BE49-F238E27FC236}">
                <a16:creationId xmlns:a16="http://schemas.microsoft.com/office/drawing/2014/main" id="{A85D82E3-FE6E-4A6C-84B7-CA4466FCC567}"/>
              </a:ext>
            </a:extLst>
          </p:cNvPr>
          <p:cNvSpPr>
            <a:spLocks noGrp="1"/>
          </p:cNvSpPr>
          <p:nvPr/>
        </p:nvSpPr>
        <p:spPr>
          <a:xfrm>
            <a:off x="914400" y="2762250"/>
            <a:ext cx="2895600" cy="7620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NAV trends, AUM by AMC, SIP inflows, category inflow heatmap, folio growth, investor demographics, and geography.</a:t>
            </a:r>
          </a:p>
        </p:txBody>
      </p:sp>
      <p:sp>
        <p:nvSpPr>
          <p:cNvPr id="9" name="Rectangle: Rounded Corners 8">
            <a:extLst>
              <a:ext uri="{FF2B5EF4-FFF2-40B4-BE49-F238E27FC236}">
                <a16:creationId xmlns:a16="http://schemas.microsoft.com/office/drawing/2014/main" id="{96A40160-C4E4-4CF4-A261-2524B9184D69}"/>
              </a:ext>
            </a:extLst>
          </p:cNvPr>
          <p:cNvSpPr>
            <a:spLocks noGrp="1"/>
          </p:cNvSpPr>
          <p:nvPr/>
        </p:nvSpPr>
        <p:spPr>
          <a:xfrm>
            <a:off x="4476750" y="2095500"/>
            <a:ext cx="3238500" cy="1581150"/>
          </a:xfrm>
          <a:prstGeom prst="roundRect">
            <a:avLst>
              <a:gd name="adj" fmla="val 3614"/>
            </a:avLst>
          </a:prstGeom>
          <a:solidFill>
            <a:srgbClr val="FFFFFF"/>
          </a:solidFill>
          <a:ln w="9525">
            <a:solidFill>
              <a:srgbClr val="D8E0E7"/>
            </a:solidFill>
            <a:prstDash val="solid"/>
          </a:ln>
        </p:spPr>
      </p:sp>
      <p:sp>
        <p:nvSpPr>
          <p:cNvPr id="10" name="Rectangle 9">
            <a:extLst>
              <a:ext uri="{FF2B5EF4-FFF2-40B4-BE49-F238E27FC236}">
                <a16:creationId xmlns:a16="http://schemas.microsoft.com/office/drawing/2014/main" id="{53779FA1-25A6-4FB7-8534-BB9D2F57C981}"/>
              </a:ext>
            </a:extLst>
          </p:cNvPr>
          <p:cNvSpPr>
            <a:spLocks noGrp="1"/>
          </p:cNvSpPr>
          <p:nvPr/>
        </p:nvSpPr>
        <p:spPr>
          <a:xfrm>
            <a:off x="4648200" y="2286000"/>
            <a:ext cx="323850" cy="38100"/>
          </a:xfrm>
          <a:prstGeom prst="rect">
            <a:avLst/>
          </a:prstGeom>
          <a:solidFill>
            <a:srgbClr val="00866E"/>
          </a:solidFill>
          <a:ln w="0">
            <a:noFill/>
            <a:prstDash val="solid"/>
          </a:ln>
        </p:spPr>
      </p:sp>
      <p:sp>
        <p:nvSpPr>
          <p:cNvPr id="11" name="Rectangle 10">
            <a:extLst>
              <a:ext uri="{FF2B5EF4-FFF2-40B4-BE49-F238E27FC236}">
                <a16:creationId xmlns:a16="http://schemas.microsoft.com/office/drawing/2014/main" id="{918DDC33-DDE2-4FEE-803E-382677F56FAB}"/>
              </a:ext>
            </a:extLst>
          </p:cNvPr>
          <p:cNvSpPr>
            <a:spLocks noGrp="1"/>
          </p:cNvSpPr>
          <p:nvPr/>
        </p:nvSpPr>
        <p:spPr>
          <a:xfrm>
            <a:off x="4648200" y="2419350"/>
            <a:ext cx="28956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Performance analytics</a:t>
            </a:r>
          </a:p>
        </p:txBody>
      </p:sp>
      <p:sp>
        <p:nvSpPr>
          <p:cNvPr id="12" name="Rectangle 11">
            <a:extLst>
              <a:ext uri="{FF2B5EF4-FFF2-40B4-BE49-F238E27FC236}">
                <a16:creationId xmlns:a16="http://schemas.microsoft.com/office/drawing/2014/main" id="{91DE0642-9ED9-4204-9C39-F870E9A596E9}"/>
              </a:ext>
            </a:extLst>
          </p:cNvPr>
          <p:cNvSpPr>
            <a:spLocks noGrp="1"/>
          </p:cNvSpPr>
          <p:nvPr/>
        </p:nvSpPr>
        <p:spPr>
          <a:xfrm>
            <a:off x="4648200" y="2762250"/>
            <a:ext cx="2895600" cy="7620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CAGR, Sharpe, Sortino, alpha, beta, drawdown, VaR, CVaR, tracking error, and risk-return scatter.</a:t>
            </a:r>
          </a:p>
        </p:txBody>
      </p:sp>
      <p:sp>
        <p:nvSpPr>
          <p:cNvPr id="13" name="Rectangle: Rounded Corners 12">
            <a:extLst>
              <a:ext uri="{FF2B5EF4-FFF2-40B4-BE49-F238E27FC236}">
                <a16:creationId xmlns:a16="http://schemas.microsoft.com/office/drawing/2014/main" id="{C9DE6CE3-964D-4447-BF41-AE36D49E6B6D}"/>
              </a:ext>
            </a:extLst>
          </p:cNvPr>
          <p:cNvSpPr>
            <a:spLocks noGrp="1"/>
          </p:cNvSpPr>
          <p:nvPr/>
        </p:nvSpPr>
        <p:spPr>
          <a:xfrm>
            <a:off x="8210550" y="2095500"/>
            <a:ext cx="3238500" cy="1581150"/>
          </a:xfrm>
          <a:prstGeom prst="roundRect">
            <a:avLst>
              <a:gd name="adj" fmla="val 3614"/>
            </a:avLst>
          </a:prstGeom>
          <a:solidFill>
            <a:srgbClr val="FFFFFF"/>
          </a:solidFill>
          <a:ln w="9525">
            <a:solidFill>
              <a:srgbClr val="D8E0E7"/>
            </a:solidFill>
            <a:prstDash val="solid"/>
          </a:ln>
        </p:spPr>
      </p:sp>
      <p:sp>
        <p:nvSpPr>
          <p:cNvPr id="14" name="Rectangle 13">
            <a:extLst>
              <a:ext uri="{FF2B5EF4-FFF2-40B4-BE49-F238E27FC236}">
                <a16:creationId xmlns:a16="http://schemas.microsoft.com/office/drawing/2014/main" id="{0E1ED8B5-876F-4D13-B60D-38F14E03F8A5}"/>
              </a:ext>
            </a:extLst>
          </p:cNvPr>
          <p:cNvSpPr>
            <a:spLocks noGrp="1"/>
          </p:cNvSpPr>
          <p:nvPr/>
        </p:nvSpPr>
        <p:spPr>
          <a:xfrm>
            <a:off x="8382000" y="2286000"/>
            <a:ext cx="323850" cy="38100"/>
          </a:xfrm>
          <a:prstGeom prst="rect">
            <a:avLst/>
          </a:prstGeom>
          <a:solidFill>
            <a:srgbClr val="F2A541"/>
          </a:solidFill>
          <a:ln w="0">
            <a:noFill/>
            <a:prstDash val="solid"/>
          </a:ln>
        </p:spPr>
      </p:sp>
      <p:sp>
        <p:nvSpPr>
          <p:cNvPr id="15" name="Rectangle 14">
            <a:extLst>
              <a:ext uri="{FF2B5EF4-FFF2-40B4-BE49-F238E27FC236}">
                <a16:creationId xmlns:a16="http://schemas.microsoft.com/office/drawing/2014/main" id="{71A855CD-3723-45DC-BD55-7B7E019394E7}"/>
              </a:ext>
            </a:extLst>
          </p:cNvPr>
          <p:cNvSpPr>
            <a:spLocks noGrp="1"/>
          </p:cNvSpPr>
          <p:nvPr/>
        </p:nvSpPr>
        <p:spPr>
          <a:xfrm>
            <a:off x="8382000" y="2419350"/>
            <a:ext cx="28956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Portfolio view</a:t>
            </a:r>
          </a:p>
        </p:txBody>
      </p:sp>
      <p:sp>
        <p:nvSpPr>
          <p:cNvPr id="16" name="Rectangle 15">
            <a:extLst>
              <a:ext uri="{FF2B5EF4-FFF2-40B4-BE49-F238E27FC236}">
                <a16:creationId xmlns:a16="http://schemas.microsoft.com/office/drawing/2014/main" id="{714BEE96-DCC3-4D6A-B0CD-AA6C18A9CBDE}"/>
              </a:ext>
            </a:extLst>
          </p:cNvPr>
          <p:cNvSpPr>
            <a:spLocks noGrp="1"/>
          </p:cNvSpPr>
          <p:nvPr/>
        </p:nvSpPr>
        <p:spPr>
          <a:xfrm>
            <a:off x="8382000" y="2762250"/>
            <a:ext cx="2895600" cy="7620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Sector allocation, concentration through HHI, holdings exposure, and benchmark comparison.</a:t>
            </a:r>
          </a:p>
        </p:txBody>
      </p:sp>
      <p:sp>
        <p:nvSpPr>
          <p:cNvPr id="17" name="Rectangle: Rounded Corners 16">
            <a:extLst>
              <a:ext uri="{FF2B5EF4-FFF2-40B4-BE49-F238E27FC236}">
                <a16:creationId xmlns:a16="http://schemas.microsoft.com/office/drawing/2014/main" id="{73C73140-0D2E-4084-A7E2-2C8EF5B8F9C0}"/>
              </a:ext>
            </a:extLst>
          </p:cNvPr>
          <p:cNvSpPr>
            <a:spLocks noGrp="1"/>
          </p:cNvSpPr>
          <p:nvPr/>
        </p:nvSpPr>
        <p:spPr>
          <a:xfrm>
            <a:off x="2247900" y="4248150"/>
            <a:ext cx="3238500" cy="1428750"/>
          </a:xfrm>
          <a:prstGeom prst="roundRect">
            <a:avLst>
              <a:gd name="adj" fmla="val 4000"/>
            </a:avLst>
          </a:prstGeom>
          <a:solidFill>
            <a:srgbClr val="FFFFFF"/>
          </a:solidFill>
          <a:ln w="9525">
            <a:solidFill>
              <a:srgbClr val="D8E0E7"/>
            </a:solidFill>
            <a:prstDash val="solid"/>
          </a:ln>
        </p:spPr>
      </p:sp>
      <p:sp>
        <p:nvSpPr>
          <p:cNvPr id="18" name="Rectangle 17">
            <a:extLst>
              <a:ext uri="{FF2B5EF4-FFF2-40B4-BE49-F238E27FC236}">
                <a16:creationId xmlns:a16="http://schemas.microsoft.com/office/drawing/2014/main" id="{F872495D-7D6C-47ED-951C-25C13D8B3499}"/>
              </a:ext>
            </a:extLst>
          </p:cNvPr>
          <p:cNvSpPr>
            <a:spLocks noGrp="1"/>
          </p:cNvSpPr>
          <p:nvPr/>
        </p:nvSpPr>
        <p:spPr>
          <a:xfrm>
            <a:off x="2419350" y="4438650"/>
            <a:ext cx="323850" cy="38100"/>
          </a:xfrm>
          <a:prstGeom prst="rect">
            <a:avLst/>
          </a:prstGeom>
          <a:solidFill>
            <a:srgbClr val="D1495B"/>
          </a:solidFill>
          <a:ln w="0">
            <a:noFill/>
            <a:prstDash val="solid"/>
          </a:ln>
        </p:spPr>
      </p:sp>
      <p:sp>
        <p:nvSpPr>
          <p:cNvPr id="19" name="Rectangle 18">
            <a:extLst>
              <a:ext uri="{FF2B5EF4-FFF2-40B4-BE49-F238E27FC236}">
                <a16:creationId xmlns:a16="http://schemas.microsoft.com/office/drawing/2014/main" id="{2BEAFFC6-9B57-4982-AD25-3E8E43A7C3F2}"/>
              </a:ext>
            </a:extLst>
          </p:cNvPr>
          <p:cNvSpPr>
            <a:spLocks noGrp="1"/>
          </p:cNvSpPr>
          <p:nvPr/>
        </p:nvSpPr>
        <p:spPr>
          <a:xfrm>
            <a:off x="2419350" y="4572000"/>
            <a:ext cx="28956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Decision layer</a:t>
            </a:r>
          </a:p>
        </p:txBody>
      </p:sp>
      <p:sp>
        <p:nvSpPr>
          <p:cNvPr id="20" name="Rectangle 19">
            <a:extLst>
              <a:ext uri="{FF2B5EF4-FFF2-40B4-BE49-F238E27FC236}">
                <a16:creationId xmlns:a16="http://schemas.microsoft.com/office/drawing/2014/main" id="{B93C3086-0183-4427-ACAE-D7F00CE15449}"/>
              </a:ext>
            </a:extLst>
          </p:cNvPr>
          <p:cNvSpPr>
            <a:spLocks noGrp="1"/>
          </p:cNvSpPr>
          <p:nvPr/>
        </p:nvSpPr>
        <p:spPr>
          <a:xfrm>
            <a:off x="2419350" y="4914900"/>
            <a:ext cx="289560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Composite fund scorecard and risk-appetite recommender translate analytics into selection guidance.</a:t>
            </a:r>
          </a:p>
        </p:txBody>
      </p:sp>
      <p:sp>
        <p:nvSpPr>
          <p:cNvPr id="21" name="Rectangle: Rounded Corners 20">
            <a:extLst>
              <a:ext uri="{FF2B5EF4-FFF2-40B4-BE49-F238E27FC236}">
                <a16:creationId xmlns:a16="http://schemas.microsoft.com/office/drawing/2014/main" id="{8AD561B0-3717-47E6-A259-A36294F35F00}"/>
              </a:ext>
            </a:extLst>
          </p:cNvPr>
          <p:cNvSpPr>
            <a:spLocks noGrp="1"/>
          </p:cNvSpPr>
          <p:nvPr/>
        </p:nvSpPr>
        <p:spPr>
          <a:xfrm>
            <a:off x="6705600" y="4248150"/>
            <a:ext cx="3238500" cy="1428750"/>
          </a:xfrm>
          <a:prstGeom prst="roundRect">
            <a:avLst>
              <a:gd name="adj" fmla="val 4000"/>
            </a:avLst>
          </a:prstGeom>
          <a:solidFill>
            <a:srgbClr val="FFFFFF"/>
          </a:solidFill>
          <a:ln w="9525">
            <a:solidFill>
              <a:srgbClr val="D8E0E7"/>
            </a:solidFill>
            <a:prstDash val="solid"/>
          </a:ln>
        </p:spPr>
      </p:sp>
      <p:sp>
        <p:nvSpPr>
          <p:cNvPr id="22" name="Rectangle 21">
            <a:extLst>
              <a:ext uri="{FF2B5EF4-FFF2-40B4-BE49-F238E27FC236}">
                <a16:creationId xmlns:a16="http://schemas.microsoft.com/office/drawing/2014/main" id="{D858E6C9-61AF-4EB3-8640-702579FC44BC}"/>
              </a:ext>
            </a:extLst>
          </p:cNvPr>
          <p:cNvSpPr>
            <a:spLocks noGrp="1"/>
          </p:cNvSpPr>
          <p:nvPr/>
        </p:nvSpPr>
        <p:spPr>
          <a:xfrm>
            <a:off x="6877050" y="4438650"/>
            <a:ext cx="323850" cy="38100"/>
          </a:xfrm>
          <a:prstGeom prst="rect">
            <a:avLst/>
          </a:prstGeom>
          <a:solidFill>
            <a:srgbClr val="0B3D5C"/>
          </a:solidFill>
          <a:ln w="0">
            <a:noFill/>
            <a:prstDash val="solid"/>
          </a:ln>
        </p:spPr>
      </p:sp>
      <p:sp>
        <p:nvSpPr>
          <p:cNvPr id="23" name="Rectangle 22">
            <a:extLst>
              <a:ext uri="{FF2B5EF4-FFF2-40B4-BE49-F238E27FC236}">
                <a16:creationId xmlns:a16="http://schemas.microsoft.com/office/drawing/2014/main" id="{32DBA7D6-4DD8-4EAE-8786-EFB22DE4B07A}"/>
              </a:ext>
            </a:extLst>
          </p:cNvPr>
          <p:cNvSpPr>
            <a:spLocks noGrp="1"/>
          </p:cNvSpPr>
          <p:nvPr/>
        </p:nvSpPr>
        <p:spPr>
          <a:xfrm>
            <a:off x="6877050" y="4572000"/>
            <a:ext cx="28956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BI layer</a:t>
            </a:r>
          </a:p>
        </p:txBody>
      </p:sp>
      <p:sp>
        <p:nvSpPr>
          <p:cNvPr id="24" name="Rectangle 23">
            <a:extLst>
              <a:ext uri="{FF2B5EF4-FFF2-40B4-BE49-F238E27FC236}">
                <a16:creationId xmlns:a16="http://schemas.microsoft.com/office/drawing/2014/main" id="{99CD4D37-503D-4C9F-9F4E-922B890C8C05}"/>
              </a:ext>
            </a:extLst>
          </p:cNvPr>
          <p:cNvSpPr>
            <a:spLocks noGrp="1"/>
          </p:cNvSpPr>
          <p:nvPr/>
        </p:nvSpPr>
        <p:spPr>
          <a:xfrm>
            <a:off x="6877050" y="4914900"/>
            <a:ext cx="289560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Power BI design organizes executive overview, fund performance, investor analytics, and SIP/market trends.</a:t>
            </a:r>
          </a:p>
        </p:txBody>
      </p:sp>
      <p:sp>
        <p:nvSpPr>
          <p:cNvPr id="25" name="Rectangle 24">
            <a:extLst>
              <a:ext uri="{FF2B5EF4-FFF2-40B4-BE49-F238E27FC236}">
                <a16:creationId xmlns:a16="http://schemas.microsoft.com/office/drawing/2014/main" id="{0787A25C-3FBF-4313-830F-22E51E7304B0}"/>
              </a:ext>
            </a:extLst>
          </p:cNvPr>
          <p:cNvSpPr>
            <a:spLocks noGrp="1"/>
          </p:cNvSpPr>
          <p:nvPr/>
        </p:nvSpPr>
        <p:spPr>
          <a:xfrm>
            <a:off x="609600" y="6515100"/>
            <a:ext cx="10972800" cy="9525"/>
          </a:xfrm>
          <a:prstGeom prst="rect">
            <a:avLst/>
          </a:prstGeom>
          <a:solidFill>
            <a:srgbClr val="D8E0E7"/>
          </a:solidFill>
          <a:ln w="0">
            <a:noFill/>
            <a:prstDash val="solid"/>
          </a:ln>
        </p:spPr>
      </p:sp>
      <p:sp>
        <p:nvSpPr>
          <p:cNvPr id="26" name="Rectangle 25">
            <a:extLst>
              <a:ext uri="{FF2B5EF4-FFF2-40B4-BE49-F238E27FC236}">
                <a16:creationId xmlns:a16="http://schemas.microsoft.com/office/drawing/2014/main" id="{0A407626-81E6-4043-BC0C-CCD27445F965}"/>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27" name="Rectangle 26">
            <a:extLst>
              <a:ext uri="{FF2B5EF4-FFF2-40B4-BE49-F238E27FC236}">
                <a16:creationId xmlns:a16="http://schemas.microsoft.com/office/drawing/2014/main" id="{D7375C85-7D63-4D4B-8B4D-C8E2BAF089EA}"/>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06</a:t>
            </a:r>
          </a:p>
        </p:txBody>
      </p:sp>
    </p:spTree>
    <p:extLst>
      <p:ext uri="{BB962C8B-B14F-4D97-AF65-F5344CB8AC3E}">
        <p14:creationId xmlns:p14="http://schemas.microsoft.com/office/powerpoint/2010/main" val="268578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A501A8-0C89-4572-8394-08CAA2CF198F}"/>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C98BEDE9-2BE8-44F0-98C8-1AD2347BED14}"/>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Industry Momentum Insights</a:t>
            </a:r>
          </a:p>
        </p:txBody>
      </p:sp>
      <p:sp>
        <p:nvSpPr>
          <p:cNvPr id="3" name="Rectangle 2">
            <a:extLst>
              <a:ext uri="{FF2B5EF4-FFF2-40B4-BE49-F238E27FC236}">
                <a16:creationId xmlns:a16="http://schemas.microsoft.com/office/drawing/2014/main" id="{B59623CE-61E8-48FA-A85A-509167CC9DA7}"/>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941B0B46-E6C8-4808-A87C-2CC9518D28C5}"/>
              </a:ext>
            </a:extLst>
          </p:cNvPr>
          <p:cNvSpPr>
            <a:spLocks noGrp="1"/>
          </p:cNvSpPr>
          <p:nvPr/>
        </p:nvSpPr>
        <p:spPr>
          <a:xfrm>
            <a:off x="609600" y="1352550"/>
            <a:ext cx="7143750" cy="41910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The cleaned data shows a strong growth story in SIP participation, industry folios, and AMC scale.</a:t>
            </a:r>
          </a:p>
        </p:txBody>
      </p:sp>
      <p:sp>
        <p:nvSpPr>
          <p:cNvPr id="5" name="Rectangle: Rounded Corners 4">
            <a:extLst>
              <a:ext uri="{FF2B5EF4-FFF2-40B4-BE49-F238E27FC236}">
                <a16:creationId xmlns:a16="http://schemas.microsoft.com/office/drawing/2014/main" id="{F752D4DC-CA27-4732-9A77-0F0E797A8FD4}"/>
              </a:ext>
            </a:extLst>
          </p:cNvPr>
          <p:cNvSpPr>
            <a:spLocks noGrp="1"/>
          </p:cNvSpPr>
          <p:nvPr/>
        </p:nvSpPr>
        <p:spPr>
          <a:xfrm>
            <a:off x="666750" y="2038350"/>
            <a:ext cx="5219700" cy="2990850"/>
          </a:xfrm>
          <a:prstGeom prst="roundRect">
            <a:avLst>
              <a:gd name="adj" fmla="val 1911"/>
            </a:avLst>
          </a:prstGeom>
          <a:solidFill>
            <a:srgbClr val="FFFFFF"/>
          </a:solidFill>
          <a:ln w="9525">
            <a:solidFill>
              <a:srgbClr val="D8E0E7"/>
            </a:solidFill>
            <a:prstDash val="solid"/>
          </a:ln>
        </p:spPr>
      </p:sp>
      <p:pic>
        <p:nvPicPr>
          <p:cNvPr id="31" name="Picture 30"/>
          <p:cNvPicPr>
            <a:picLocks noChangeAspect="1"/>
          </p:cNvPicPr>
          <p:nvPr/>
        </p:nvPicPr>
        <p:blipFill>
          <a:blip r:embed="rId3"/>
          <a:stretch/>
        </p:blipFill>
        <p:spPr>
          <a:xfrm>
            <a:off x="1081204" y="2133600"/>
            <a:ext cx="4390793" cy="2571750"/>
          </a:xfrm>
          <a:prstGeom prst="rect">
            <a:avLst/>
          </a:prstGeom>
        </p:spPr>
      </p:pic>
      <p:sp>
        <p:nvSpPr>
          <p:cNvPr id="7" name="Rectangle 6">
            <a:extLst>
              <a:ext uri="{FF2B5EF4-FFF2-40B4-BE49-F238E27FC236}">
                <a16:creationId xmlns:a16="http://schemas.microsoft.com/office/drawing/2014/main" id="{F1860E12-2A42-4969-8AD0-8E9F5C5E02C6}"/>
              </a:ext>
            </a:extLst>
          </p:cNvPr>
          <p:cNvSpPr>
            <a:spLocks noGrp="1"/>
          </p:cNvSpPr>
          <p:nvPr/>
        </p:nvSpPr>
        <p:spPr>
          <a:xfrm>
            <a:off x="819150" y="4762500"/>
            <a:ext cx="4914900" cy="171450"/>
          </a:xfrm>
          <a:prstGeom prst="rect">
            <a:avLst/>
          </a:prstGeom>
          <a:noFill/>
          <a:ln w="0">
            <a:noFill/>
            <a:prstDash val="solid"/>
          </a:ln>
        </p:spPr>
        <p:txBody>
          <a:bodyPr lIns="0" tIns="0" rIns="0" bIns="0" anchor="t"/>
          <a:lstStyle/>
          <a:p>
            <a:pPr algn="l">
              <a:defRPr sz="900" b="0">
                <a:solidFill>
                  <a:srgbClr val="7A8690"/>
                </a:solidFill>
                <a:latin typeface="Aptos"/>
                <a:ea typeface="Aptos"/>
                <a:cs typeface="Aptos"/>
              </a:defRPr>
            </a:pPr>
            <a:r>
              <a:rPr sz="900" b="0">
                <a:solidFill>
                  <a:srgbClr val="7A8690"/>
                </a:solidFill>
                <a:latin typeface="Aptos"/>
                <a:ea typeface="Aptos"/>
                <a:cs typeface="Aptos"/>
              </a:rPr>
              <a:t>SIP inflows grew to Rs 31,002 Cr by Dec 2025.</a:t>
            </a:r>
          </a:p>
        </p:txBody>
      </p:sp>
      <p:sp>
        <p:nvSpPr>
          <p:cNvPr id="8" name="Rectangle: Rounded Corners 7">
            <a:extLst>
              <a:ext uri="{FF2B5EF4-FFF2-40B4-BE49-F238E27FC236}">
                <a16:creationId xmlns:a16="http://schemas.microsoft.com/office/drawing/2014/main" id="{51E6B22B-F087-45A1-8FDF-D795288E25E1}"/>
              </a:ext>
            </a:extLst>
          </p:cNvPr>
          <p:cNvSpPr>
            <a:spLocks noGrp="1"/>
          </p:cNvSpPr>
          <p:nvPr/>
        </p:nvSpPr>
        <p:spPr>
          <a:xfrm>
            <a:off x="6305550" y="2038350"/>
            <a:ext cx="5219700" cy="2990850"/>
          </a:xfrm>
          <a:prstGeom prst="roundRect">
            <a:avLst>
              <a:gd name="adj" fmla="val 1911"/>
            </a:avLst>
          </a:prstGeom>
          <a:solidFill>
            <a:srgbClr val="FFFFFF"/>
          </a:solidFill>
          <a:ln w="9525">
            <a:solidFill>
              <a:srgbClr val="D8E0E7"/>
            </a:solidFill>
            <a:prstDash val="solid"/>
          </a:ln>
        </p:spPr>
      </p:sp>
      <p:pic>
        <p:nvPicPr>
          <p:cNvPr id="34" name="Picture 33"/>
          <p:cNvPicPr>
            <a:picLocks noChangeAspect="1"/>
          </p:cNvPicPr>
          <p:nvPr/>
        </p:nvPicPr>
        <p:blipFill>
          <a:blip r:embed="rId4"/>
          <a:stretch/>
        </p:blipFill>
        <p:spPr>
          <a:xfrm>
            <a:off x="6720004" y="2133600"/>
            <a:ext cx="4390793" cy="2571750"/>
          </a:xfrm>
          <a:prstGeom prst="rect">
            <a:avLst/>
          </a:prstGeom>
        </p:spPr>
      </p:pic>
      <p:sp>
        <p:nvSpPr>
          <p:cNvPr id="10" name="Rectangle 9">
            <a:extLst>
              <a:ext uri="{FF2B5EF4-FFF2-40B4-BE49-F238E27FC236}">
                <a16:creationId xmlns:a16="http://schemas.microsoft.com/office/drawing/2014/main" id="{26A9C47E-714D-4560-A596-7414453BCD45}"/>
              </a:ext>
            </a:extLst>
          </p:cNvPr>
          <p:cNvSpPr>
            <a:spLocks noGrp="1"/>
          </p:cNvSpPr>
          <p:nvPr/>
        </p:nvSpPr>
        <p:spPr>
          <a:xfrm>
            <a:off x="6457950" y="4762500"/>
            <a:ext cx="4914900" cy="171450"/>
          </a:xfrm>
          <a:prstGeom prst="rect">
            <a:avLst/>
          </a:prstGeom>
          <a:noFill/>
          <a:ln w="0">
            <a:noFill/>
            <a:prstDash val="solid"/>
          </a:ln>
        </p:spPr>
        <p:txBody>
          <a:bodyPr lIns="0" tIns="0" rIns="0" bIns="0" anchor="t"/>
          <a:lstStyle/>
          <a:p>
            <a:pPr algn="l">
              <a:defRPr sz="900" b="0">
                <a:solidFill>
                  <a:srgbClr val="7A8690"/>
                </a:solidFill>
                <a:latin typeface="Aptos"/>
                <a:ea typeface="Aptos"/>
                <a:cs typeface="Aptos"/>
              </a:defRPr>
            </a:pPr>
            <a:r>
              <a:rPr sz="900" b="0">
                <a:solidFill>
                  <a:srgbClr val="7A8690"/>
                </a:solidFill>
                <a:latin typeface="Aptos"/>
                <a:ea typeface="Aptos"/>
                <a:cs typeface="Aptos"/>
              </a:rPr>
              <a:t>SBI Mutual Fund led latest AMC AUM at 12.50 lakh crore.</a:t>
            </a:r>
          </a:p>
        </p:txBody>
      </p:sp>
      <p:sp>
        <p:nvSpPr>
          <p:cNvPr id="11" name="Rectangle: Rounded Corners 10">
            <a:extLst>
              <a:ext uri="{FF2B5EF4-FFF2-40B4-BE49-F238E27FC236}">
                <a16:creationId xmlns:a16="http://schemas.microsoft.com/office/drawing/2014/main" id="{F7E694B3-86B7-44D4-A382-101E99F00D6D}"/>
              </a:ext>
            </a:extLst>
          </p:cNvPr>
          <p:cNvSpPr>
            <a:spLocks noGrp="1"/>
          </p:cNvSpPr>
          <p:nvPr/>
        </p:nvSpPr>
        <p:spPr>
          <a:xfrm>
            <a:off x="1200150" y="5295900"/>
            <a:ext cx="2724150" cy="1085850"/>
          </a:xfrm>
          <a:prstGeom prst="roundRect">
            <a:avLst>
              <a:gd name="adj" fmla="val 5263"/>
            </a:avLst>
          </a:prstGeom>
          <a:solidFill>
            <a:srgbClr val="FFFFFF"/>
          </a:solidFill>
          <a:ln w="9525">
            <a:solidFill>
              <a:srgbClr val="D8E0E7"/>
            </a:solidFill>
            <a:prstDash val="solid"/>
          </a:ln>
        </p:spPr>
      </p:sp>
      <p:sp>
        <p:nvSpPr>
          <p:cNvPr id="12" name="Rectangle 11">
            <a:extLst>
              <a:ext uri="{FF2B5EF4-FFF2-40B4-BE49-F238E27FC236}">
                <a16:creationId xmlns:a16="http://schemas.microsoft.com/office/drawing/2014/main" id="{365FA680-04DA-4AEE-B61A-C6D00A3A01D9}"/>
              </a:ext>
            </a:extLst>
          </p:cNvPr>
          <p:cNvSpPr>
            <a:spLocks noGrp="1"/>
          </p:cNvSpPr>
          <p:nvPr/>
        </p:nvSpPr>
        <p:spPr>
          <a:xfrm>
            <a:off x="1200150" y="5295900"/>
            <a:ext cx="57150" cy="1085850"/>
          </a:xfrm>
          <a:prstGeom prst="rect">
            <a:avLst/>
          </a:prstGeom>
          <a:solidFill>
            <a:srgbClr val="00866E"/>
          </a:solidFill>
          <a:ln w="0">
            <a:noFill/>
            <a:prstDash val="solid"/>
          </a:ln>
        </p:spPr>
      </p:sp>
      <p:sp>
        <p:nvSpPr>
          <p:cNvPr id="13" name="Rectangle 12">
            <a:extLst>
              <a:ext uri="{FF2B5EF4-FFF2-40B4-BE49-F238E27FC236}">
                <a16:creationId xmlns:a16="http://schemas.microsoft.com/office/drawing/2014/main" id="{3F70C595-C7A7-43F8-A276-8CA13845E747}"/>
              </a:ext>
            </a:extLst>
          </p:cNvPr>
          <p:cNvSpPr>
            <a:spLocks noGrp="1"/>
          </p:cNvSpPr>
          <p:nvPr/>
        </p:nvSpPr>
        <p:spPr>
          <a:xfrm>
            <a:off x="1428750" y="5486400"/>
            <a:ext cx="22669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169.2%</a:t>
            </a:r>
          </a:p>
        </p:txBody>
      </p:sp>
      <p:sp>
        <p:nvSpPr>
          <p:cNvPr id="14" name="Rectangle 13">
            <a:extLst>
              <a:ext uri="{FF2B5EF4-FFF2-40B4-BE49-F238E27FC236}">
                <a16:creationId xmlns:a16="http://schemas.microsoft.com/office/drawing/2014/main" id="{68918F2C-63B6-4A92-8D1C-0E1C1F4F33C5}"/>
              </a:ext>
            </a:extLst>
          </p:cNvPr>
          <p:cNvSpPr>
            <a:spLocks noGrp="1"/>
          </p:cNvSpPr>
          <p:nvPr/>
        </p:nvSpPr>
        <p:spPr>
          <a:xfrm>
            <a:off x="1428750" y="5943600"/>
            <a:ext cx="22669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SIP inflow growth from Jan 2022 to Dec 2025</a:t>
            </a:r>
          </a:p>
        </p:txBody>
      </p:sp>
      <p:sp>
        <p:nvSpPr>
          <p:cNvPr id="15" name="Rectangle: Rounded Corners 14">
            <a:extLst>
              <a:ext uri="{FF2B5EF4-FFF2-40B4-BE49-F238E27FC236}">
                <a16:creationId xmlns:a16="http://schemas.microsoft.com/office/drawing/2014/main" id="{155B2279-343F-4177-9051-841AB7245A43}"/>
              </a:ext>
            </a:extLst>
          </p:cNvPr>
          <p:cNvSpPr>
            <a:spLocks noGrp="1"/>
          </p:cNvSpPr>
          <p:nvPr/>
        </p:nvSpPr>
        <p:spPr>
          <a:xfrm>
            <a:off x="4743450" y="5295900"/>
            <a:ext cx="2724150" cy="1085850"/>
          </a:xfrm>
          <a:prstGeom prst="roundRect">
            <a:avLst>
              <a:gd name="adj" fmla="val 5263"/>
            </a:avLst>
          </a:prstGeom>
          <a:solidFill>
            <a:srgbClr val="FFFFFF"/>
          </a:solidFill>
          <a:ln w="9525">
            <a:solidFill>
              <a:srgbClr val="D8E0E7"/>
            </a:solidFill>
            <a:prstDash val="solid"/>
          </a:ln>
        </p:spPr>
      </p:sp>
      <p:sp>
        <p:nvSpPr>
          <p:cNvPr id="16" name="Rectangle 15">
            <a:extLst>
              <a:ext uri="{FF2B5EF4-FFF2-40B4-BE49-F238E27FC236}">
                <a16:creationId xmlns:a16="http://schemas.microsoft.com/office/drawing/2014/main" id="{8334DE0D-5BAA-4F96-AE7A-2D182ADCB1A3}"/>
              </a:ext>
            </a:extLst>
          </p:cNvPr>
          <p:cNvSpPr>
            <a:spLocks noGrp="1"/>
          </p:cNvSpPr>
          <p:nvPr/>
        </p:nvSpPr>
        <p:spPr>
          <a:xfrm>
            <a:off x="4743450" y="5295900"/>
            <a:ext cx="57150" cy="1085850"/>
          </a:xfrm>
          <a:prstGeom prst="rect">
            <a:avLst/>
          </a:prstGeom>
          <a:solidFill>
            <a:srgbClr val="0B3D5C"/>
          </a:solidFill>
          <a:ln w="0">
            <a:noFill/>
            <a:prstDash val="solid"/>
          </a:ln>
        </p:spPr>
      </p:sp>
      <p:sp>
        <p:nvSpPr>
          <p:cNvPr id="17" name="Rectangle 16">
            <a:extLst>
              <a:ext uri="{FF2B5EF4-FFF2-40B4-BE49-F238E27FC236}">
                <a16:creationId xmlns:a16="http://schemas.microsoft.com/office/drawing/2014/main" id="{7DC1AC31-BD24-42C3-8F8A-DF14A6D27A4F}"/>
              </a:ext>
            </a:extLst>
          </p:cNvPr>
          <p:cNvSpPr>
            <a:spLocks noGrp="1"/>
          </p:cNvSpPr>
          <p:nvPr/>
        </p:nvSpPr>
        <p:spPr>
          <a:xfrm>
            <a:off x="4972050" y="5486400"/>
            <a:ext cx="22669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97.0%</a:t>
            </a:r>
          </a:p>
        </p:txBody>
      </p:sp>
      <p:sp>
        <p:nvSpPr>
          <p:cNvPr id="18" name="Rectangle 17">
            <a:extLst>
              <a:ext uri="{FF2B5EF4-FFF2-40B4-BE49-F238E27FC236}">
                <a16:creationId xmlns:a16="http://schemas.microsoft.com/office/drawing/2014/main" id="{8719292D-F122-4803-8263-79DB62CB7A23}"/>
              </a:ext>
            </a:extLst>
          </p:cNvPr>
          <p:cNvSpPr>
            <a:spLocks noGrp="1"/>
          </p:cNvSpPr>
          <p:nvPr/>
        </p:nvSpPr>
        <p:spPr>
          <a:xfrm>
            <a:off x="4972050" y="5943600"/>
            <a:ext cx="22669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total folio growth from Jan 2022 to Dec 2025</a:t>
            </a:r>
          </a:p>
        </p:txBody>
      </p:sp>
      <p:sp>
        <p:nvSpPr>
          <p:cNvPr id="19" name="Rectangle: Rounded Corners 18">
            <a:extLst>
              <a:ext uri="{FF2B5EF4-FFF2-40B4-BE49-F238E27FC236}">
                <a16:creationId xmlns:a16="http://schemas.microsoft.com/office/drawing/2014/main" id="{6B50D96B-F27B-4DAB-BBDB-D3064AA03BAD}"/>
              </a:ext>
            </a:extLst>
          </p:cNvPr>
          <p:cNvSpPr>
            <a:spLocks noGrp="1"/>
          </p:cNvSpPr>
          <p:nvPr/>
        </p:nvSpPr>
        <p:spPr>
          <a:xfrm>
            <a:off x="8286750" y="5295900"/>
            <a:ext cx="2724150" cy="1085850"/>
          </a:xfrm>
          <a:prstGeom prst="roundRect">
            <a:avLst>
              <a:gd name="adj" fmla="val 5263"/>
            </a:avLst>
          </a:prstGeom>
          <a:solidFill>
            <a:srgbClr val="FFFFFF"/>
          </a:solidFill>
          <a:ln w="9525">
            <a:solidFill>
              <a:srgbClr val="D8E0E7"/>
            </a:solidFill>
            <a:prstDash val="solid"/>
          </a:ln>
        </p:spPr>
      </p:sp>
      <p:sp>
        <p:nvSpPr>
          <p:cNvPr id="20" name="Rectangle 19">
            <a:extLst>
              <a:ext uri="{FF2B5EF4-FFF2-40B4-BE49-F238E27FC236}">
                <a16:creationId xmlns:a16="http://schemas.microsoft.com/office/drawing/2014/main" id="{D301A8E6-ECBD-4E9F-8745-15B2EE5617BF}"/>
              </a:ext>
            </a:extLst>
          </p:cNvPr>
          <p:cNvSpPr>
            <a:spLocks noGrp="1"/>
          </p:cNvSpPr>
          <p:nvPr/>
        </p:nvSpPr>
        <p:spPr>
          <a:xfrm>
            <a:off x="8286750" y="5295900"/>
            <a:ext cx="57150" cy="1085850"/>
          </a:xfrm>
          <a:prstGeom prst="rect">
            <a:avLst/>
          </a:prstGeom>
          <a:solidFill>
            <a:srgbClr val="F2A541"/>
          </a:solidFill>
          <a:ln w="0">
            <a:noFill/>
            <a:prstDash val="solid"/>
          </a:ln>
        </p:spPr>
      </p:sp>
      <p:sp>
        <p:nvSpPr>
          <p:cNvPr id="21" name="Rectangle 20">
            <a:extLst>
              <a:ext uri="{FF2B5EF4-FFF2-40B4-BE49-F238E27FC236}">
                <a16:creationId xmlns:a16="http://schemas.microsoft.com/office/drawing/2014/main" id="{A24F1634-2EF7-49A3-86F2-2194605C6418}"/>
              </a:ext>
            </a:extLst>
          </p:cNvPr>
          <p:cNvSpPr>
            <a:spLocks noGrp="1"/>
          </p:cNvSpPr>
          <p:nvPr/>
        </p:nvSpPr>
        <p:spPr>
          <a:xfrm>
            <a:off x="8515350" y="5486400"/>
            <a:ext cx="22669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17.17%</a:t>
            </a:r>
          </a:p>
        </p:txBody>
      </p:sp>
      <p:sp>
        <p:nvSpPr>
          <p:cNvPr id="22" name="Rectangle 21">
            <a:extLst>
              <a:ext uri="{FF2B5EF4-FFF2-40B4-BE49-F238E27FC236}">
                <a16:creationId xmlns:a16="http://schemas.microsoft.com/office/drawing/2014/main" id="{88F05D4E-4FC8-4C35-B35C-9BA819129002}"/>
              </a:ext>
            </a:extLst>
          </p:cNvPr>
          <p:cNvSpPr>
            <a:spLocks noGrp="1"/>
          </p:cNvSpPr>
          <p:nvPr/>
        </p:nvSpPr>
        <p:spPr>
          <a:xfrm>
            <a:off x="8515350" y="5943600"/>
            <a:ext cx="22669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Dec 2025 year-on-year SIP growth</a:t>
            </a:r>
          </a:p>
        </p:txBody>
      </p:sp>
      <p:sp>
        <p:nvSpPr>
          <p:cNvPr id="23" name="Rectangle 22">
            <a:extLst>
              <a:ext uri="{FF2B5EF4-FFF2-40B4-BE49-F238E27FC236}">
                <a16:creationId xmlns:a16="http://schemas.microsoft.com/office/drawing/2014/main" id="{666D74C3-7676-44B4-AB7A-7DD1C1208EA5}"/>
              </a:ext>
            </a:extLst>
          </p:cNvPr>
          <p:cNvSpPr>
            <a:spLocks noGrp="1"/>
          </p:cNvSpPr>
          <p:nvPr/>
        </p:nvSpPr>
        <p:spPr>
          <a:xfrm>
            <a:off x="609600" y="6515100"/>
            <a:ext cx="10972800" cy="9525"/>
          </a:xfrm>
          <a:prstGeom prst="rect">
            <a:avLst/>
          </a:prstGeom>
          <a:solidFill>
            <a:srgbClr val="D8E0E7"/>
          </a:solidFill>
          <a:ln w="0">
            <a:noFill/>
            <a:prstDash val="solid"/>
          </a:ln>
        </p:spPr>
      </p:sp>
      <p:sp>
        <p:nvSpPr>
          <p:cNvPr id="24" name="Rectangle 23">
            <a:extLst>
              <a:ext uri="{FF2B5EF4-FFF2-40B4-BE49-F238E27FC236}">
                <a16:creationId xmlns:a16="http://schemas.microsoft.com/office/drawing/2014/main" id="{0E2D2561-3825-43D5-B8D1-A4CDFB540E54}"/>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25" name="Rectangle 24">
            <a:extLst>
              <a:ext uri="{FF2B5EF4-FFF2-40B4-BE49-F238E27FC236}">
                <a16:creationId xmlns:a16="http://schemas.microsoft.com/office/drawing/2014/main" id="{E8B803CB-891B-47F5-9DE1-EC50F08BE2A3}"/>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07</a:t>
            </a:r>
          </a:p>
        </p:txBody>
      </p:sp>
    </p:spTree>
    <p:extLst>
      <p:ext uri="{BB962C8B-B14F-4D97-AF65-F5344CB8AC3E}">
        <p14:creationId xmlns:p14="http://schemas.microsoft.com/office/powerpoint/2010/main" val="1313975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4F1CC71-5B7C-42C3-850A-5FCA0C866207}"/>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EEF0CC7C-5975-4045-B11A-D418CA959F9D}"/>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Investor Behavior Insights</a:t>
            </a:r>
          </a:p>
        </p:txBody>
      </p:sp>
      <p:sp>
        <p:nvSpPr>
          <p:cNvPr id="3" name="Rectangle 2">
            <a:extLst>
              <a:ext uri="{FF2B5EF4-FFF2-40B4-BE49-F238E27FC236}">
                <a16:creationId xmlns:a16="http://schemas.microsoft.com/office/drawing/2014/main" id="{4DC9AB89-4455-48AD-AEF5-58A533176061}"/>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913BC4FC-6F28-46C2-8584-EB4D9672B1FA}"/>
              </a:ext>
            </a:extLst>
          </p:cNvPr>
          <p:cNvSpPr>
            <a:spLocks noGrp="1"/>
          </p:cNvSpPr>
          <p:nvPr/>
        </p:nvSpPr>
        <p:spPr>
          <a:xfrm>
            <a:off x="609600" y="1352550"/>
            <a:ext cx="8858250" cy="41910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The transaction layer turns individual activity into useful segments by state, transaction type, city tier, age group, gender, and payment mode.</a:t>
            </a:r>
          </a:p>
        </p:txBody>
      </p:sp>
      <p:sp>
        <p:nvSpPr>
          <p:cNvPr id="5" name="Rectangle: Rounded Corners 4">
            <a:extLst>
              <a:ext uri="{FF2B5EF4-FFF2-40B4-BE49-F238E27FC236}">
                <a16:creationId xmlns:a16="http://schemas.microsoft.com/office/drawing/2014/main" id="{79B4F7A1-ADF8-487C-8B0B-903B8C9BF8F9}"/>
              </a:ext>
            </a:extLst>
          </p:cNvPr>
          <p:cNvSpPr>
            <a:spLocks noGrp="1"/>
          </p:cNvSpPr>
          <p:nvPr/>
        </p:nvSpPr>
        <p:spPr>
          <a:xfrm>
            <a:off x="685800" y="2038350"/>
            <a:ext cx="4743450" cy="3143250"/>
          </a:xfrm>
          <a:prstGeom prst="roundRect">
            <a:avLst>
              <a:gd name="adj" fmla="val 1818"/>
            </a:avLst>
          </a:prstGeom>
          <a:solidFill>
            <a:srgbClr val="FFFFFF"/>
          </a:solidFill>
          <a:ln w="9525">
            <a:solidFill>
              <a:srgbClr val="D8E0E7"/>
            </a:solidFill>
            <a:prstDash val="solid"/>
          </a:ln>
        </p:spPr>
      </p:sp>
      <p:pic>
        <p:nvPicPr>
          <p:cNvPr id="27" name="Picture 26"/>
          <p:cNvPicPr>
            <a:picLocks noChangeAspect="1"/>
          </p:cNvPicPr>
          <p:nvPr/>
        </p:nvPicPr>
        <p:blipFill>
          <a:blip r:embed="rId3"/>
          <a:stretch/>
        </p:blipFill>
        <p:spPr>
          <a:xfrm>
            <a:off x="781050" y="2162311"/>
            <a:ext cx="4552950" cy="2666728"/>
          </a:xfrm>
          <a:prstGeom prst="rect">
            <a:avLst/>
          </a:prstGeom>
        </p:spPr>
      </p:pic>
      <p:sp>
        <p:nvSpPr>
          <p:cNvPr id="7" name="Rectangle 6">
            <a:extLst>
              <a:ext uri="{FF2B5EF4-FFF2-40B4-BE49-F238E27FC236}">
                <a16:creationId xmlns:a16="http://schemas.microsoft.com/office/drawing/2014/main" id="{A5C45DCE-8E4E-46D1-A8C3-4F22A613335E}"/>
              </a:ext>
            </a:extLst>
          </p:cNvPr>
          <p:cNvSpPr>
            <a:spLocks noGrp="1"/>
          </p:cNvSpPr>
          <p:nvPr/>
        </p:nvSpPr>
        <p:spPr>
          <a:xfrm>
            <a:off x="838200" y="4914900"/>
            <a:ext cx="4438650" cy="171450"/>
          </a:xfrm>
          <a:prstGeom prst="rect">
            <a:avLst/>
          </a:prstGeom>
          <a:noFill/>
          <a:ln w="0">
            <a:noFill/>
            <a:prstDash val="solid"/>
          </a:ln>
        </p:spPr>
        <p:txBody>
          <a:bodyPr lIns="0" tIns="0" rIns="0" bIns="0" anchor="t"/>
          <a:lstStyle/>
          <a:p>
            <a:pPr algn="l">
              <a:defRPr sz="900" b="0">
                <a:solidFill>
                  <a:srgbClr val="7A8690"/>
                </a:solidFill>
                <a:latin typeface="Aptos"/>
                <a:ea typeface="Aptos"/>
                <a:cs typeface="Aptos"/>
              </a:defRPr>
            </a:pPr>
            <a:r>
              <a:rPr sz="900" b="0">
                <a:solidFill>
                  <a:srgbClr val="7A8690"/>
                </a:solidFill>
                <a:latin typeface="Aptos"/>
                <a:ea typeface="Aptos"/>
                <a:cs typeface="Aptos"/>
              </a:rPr>
              <a:t>Geography view: top states by processed transaction amount.</a:t>
            </a:r>
          </a:p>
        </p:txBody>
      </p:sp>
      <p:sp>
        <p:nvSpPr>
          <p:cNvPr id="8" name="Rectangle: Rounded Corners 7">
            <a:extLst>
              <a:ext uri="{FF2B5EF4-FFF2-40B4-BE49-F238E27FC236}">
                <a16:creationId xmlns:a16="http://schemas.microsoft.com/office/drawing/2014/main" id="{C35294AF-3272-48AF-856B-9BBAC628D23A}"/>
              </a:ext>
            </a:extLst>
          </p:cNvPr>
          <p:cNvSpPr>
            <a:spLocks noGrp="1"/>
          </p:cNvSpPr>
          <p:nvPr/>
        </p:nvSpPr>
        <p:spPr>
          <a:xfrm>
            <a:off x="5848350" y="2038350"/>
            <a:ext cx="4743450" cy="3143250"/>
          </a:xfrm>
          <a:prstGeom prst="roundRect">
            <a:avLst>
              <a:gd name="adj" fmla="val 1818"/>
            </a:avLst>
          </a:prstGeom>
          <a:solidFill>
            <a:srgbClr val="FFFFFF"/>
          </a:solidFill>
          <a:ln w="9525">
            <a:solidFill>
              <a:srgbClr val="D8E0E7"/>
            </a:solidFill>
            <a:prstDash val="solid"/>
          </a:ln>
        </p:spPr>
      </p:sp>
      <p:pic>
        <p:nvPicPr>
          <p:cNvPr id="30" name="Picture 29"/>
          <p:cNvPicPr>
            <a:picLocks noChangeAspect="1"/>
          </p:cNvPicPr>
          <p:nvPr/>
        </p:nvPicPr>
        <p:blipFill>
          <a:blip r:embed="rId4"/>
          <a:stretch/>
        </p:blipFill>
        <p:spPr>
          <a:xfrm>
            <a:off x="5943600" y="2162311"/>
            <a:ext cx="4552950" cy="2666728"/>
          </a:xfrm>
          <a:prstGeom prst="rect">
            <a:avLst/>
          </a:prstGeom>
        </p:spPr>
      </p:pic>
      <p:sp>
        <p:nvSpPr>
          <p:cNvPr id="10" name="Rectangle 9">
            <a:extLst>
              <a:ext uri="{FF2B5EF4-FFF2-40B4-BE49-F238E27FC236}">
                <a16:creationId xmlns:a16="http://schemas.microsoft.com/office/drawing/2014/main" id="{C4C38B1D-4659-449A-8BDE-6B0AE0765520}"/>
              </a:ext>
            </a:extLst>
          </p:cNvPr>
          <p:cNvSpPr>
            <a:spLocks noGrp="1"/>
          </p:cNvSpPr>
          <p:nvPr/>
        </p:nvSpPr>
        <p:spPr>
          <a:xfrm>
            <a:off x="6000750" y="4914900"/>
            <a:ext cx="4438650" cy="171450"/>
          </a:xfrm>
          <a:prstGeom prst="rect">
            <a:avLst/>
          </a:prstGeom>
          <a:noFill/>
          <a:ln w="0">
            <a:noFill/>
            <a:prstDash val="solid"/>
          </a:ln>
        </p:spPr>
        <p:txBody>
          <a:bodyPr lIns="0" tIns="0" rIns="0" bIns="0" anchor="t"/>
          <a:lstStyle/>
          <a:p>
            <a:pPr algn="l">
              <a:defRPr sz="900" b="0">
                <a:solidFill>
                  <a:srgbClr val="7A8690"/>
                </a:solidFill>
                <a:latin typeface="Aptos"/>
                <a:ea typeface="Aptos"/>
                <a:cs typeface="Aptos"/>
              </a:defRPr>
            </a:pPr>
            <a:r>
              <a:rPr sz="900" b="0">
                <a:solidFill>
                  <a:srgbClr val="7A8690"/>
                </a:solidFill>
                <a:latin typeface="Aptos"/>
                <a:ea typeface="Aptos"/>
                <a:cs typeface="Aptos"/>
              </a:rPr>
              <a:t>Transaction mix: SIP dominates count, lumpsum dominates value.</a:t>
            </a:r>
          </a:p>
        </p:txBody>
      </p:sp>
      <p:sp>
        <p:nvSpPr>
          <p:cNvPr id="11" name="Rectangle: Rounded Corners 10">
            <a:extLst>
              <a:ext uri="{FF2B5EF4-FFF2-40B4-BE49-F238E27FC236}">
                <a16:creationId xmlns:a16="http://schemas.microsoft.com/office/drawing/2014/main" id="{AB051857-D48E-49EE-8049-4FCEF0FCC7E8}"/>
              </a:ext>
            </a:extLst>
          </p:cNvPr>
          <p:cNvSpPr>
            <a:spLocks noGrp="1"/>
          </p:cNvSpPr>
          <p:nvPr/>
        </p:nvSpPr>
        <p:spPr>
          <a:xfrm>
            <a:off x="1085850" y="5219700"/>
            <a:ext cx="4572000" cy="1257300"/>
          </a:xfrm>
          <a:prstGeom prst="roundRect">
            <a:avLst>
              <a:gd name="adj" fmla="val 4545"/>
            </a:avLst>
          </a:prstGeom>
          <a:solidFill>
            <a:srgbClr val="FFFFFF"/>
          </a:solidFill>
          <a:ln w="9525">
            <a:solidFill>
              <a:srgbClr val="D8E0E7"/>
            </a:solidFill>
            <a:prstDash val="solid"/>
          </a:ln>
        </p:spPr>
      </p:sp>
      <p:sp>
        <p:nvSpPr>
          <p:cNvPr id="12" name="Rectangle 11">
            <a:extLst>
              <a:ext uri="{FF2B5EF4-FFF2-40B4-BE49-F238E27FC236}">
                <a16:creationId xmlns:a16="http://schemas.microsoft.com/office/drawing/2014/main" id="{6F94F1AE-4472-40B7-AEBE-EF05ADE7B1C4}"/>
              </a:ext>
            </a:extLst>
          </p:cNvPr>
          <p:cNvSpPr>
            <a:spLocks noGrp="1"/>
          </p:cNvSpPr>
          <p:nvPr/>
        </p:nvSpPr>
        <p:spPr>
          <a:xfrm>
            <a:off x="1257300" y="5410200"/>
            <a:ext cx="323850" cy="38100"/>
          </a:xfrm>
          <a:prstGeom prst="rect">
            <a:avLst/>
          </a:prstGeom>
          <a:solidFill>
            <a:srgbClr val="00866E"/>
          </a:solidFill>
          <a:ln w="0">
            <a:noFill/>
            <a:prstDash val="solid"/>
          </a:ln>
        </p:spPr>
      </p:sp>
      <p:sp>
        <p:nvSpPr>
          <p:cNvPr id="13" name="Rectangle 12">
            <a:extLst>
              <a:ext uri="{FF2B5EF4-FFF2-40B4-BE49-F238E27FC236}">
                <a16:creationId xmlns:a16="http://schemas.microsoft.com/office/drawing/2014/main" id="{08617C9C-967B-41DA-883D-F005813CA708}"/>
              </a:ext>
            </a:extLst>
          </p:cNvPr>
          <p:cNvSpPr>
            <a:spLocks noGrp="1"/>
          </p:cNvSpPr>
          <p:nvPr/>
        </p:nvSpPr>
        <p:spPr>
          <a:xfrm>
            <a:off x="1257300" y="5543550"/>
            <a:ext cx="42291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Transaction profile</a:t>
            </a:r>
          </a:p>
        </p:txBody>
      </p:sp>
      <p:sp>
        <p:nvSpPr>
          <p:cNvPr id="14" name="Rectangle 13">
            <a:extLst>
              <a:ext uri="{FF2B5EF4-FFF2-40B4-BE49-F238E27FC236}">
                <a16:creationId xmlns:a16="http://schemas.microsoft.com/office/drawing/2014/main" id="{150A5928-FA0B-4536-AC59-1FCC39356D9A}"/>
              </a:ext>
            </a:extLst>
          </p:cNvPr>
          <p:cNvSpPr>
            <a:spLocks noGrp="1"/>
          </p:cNvSpPr>
          <p:nvPr/>
        </p:nvSpPr>
        <p:spPr>
          <a:xfrm>
            <a:off x="1257300" y="5886450"/>
            <a:ext cx="4229100" cy="4381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32,778 transactions, about Rs 352.16 Cr total. SIPs were 60.2% of count; lump-sum led value.</a:t>
            </a:r>
          </a:p>
        </p:txBody>
      </p:sp>
      <p:sp>
        <p:nvSpPr>
          <p:cNvPr id="15" name="Rectangle: Rounded Corners 14">
            <a:extLst>
              <a:ext uri="{FF2B5EF4-FFF2-40B4-BE49-F238E27FC236}">
                <a16:creationId xmlns:a16="http://schemas.microsoft.com/office/drawing/2014/main" id="{C4C51AD2-4613-4733-80ED-5968CC9F25DE}"/>
              </a:ext>
            </a:extLst>
          </p:cNvPr>
          <p:cNvSpPr>
            <a:spLocks noGrp="1"/>
          </p:cNvSpPr>
          <p:nvPr/>
        </p:nvSpPr>
        <p:spPr>
          <a:xfrm>
            <a:off x="6534150" y="5219700"/>
            <a:ext cx="4572000" cy="1257300"/>
          </a:xfrm>
          <a:prstGeom prst="roundRect">
            <a:avLst>
              <a:gd name="adj" fmla="val 4545"/>
            </a:avLst>
          </a:prstGeom>
          <a:solidFill>
            <a:srgbClr val="FFFFFF"/>
          </a:solidFill>
          <a:ln w="9525">
            <a:solidFill>
              <a:srgbClr val="D8E0E7"/>
            </a:solidFill>
            <a:prstDash val="solid"/>
          </a:ln>
        </p:spPr>
      </p:sp>
      <p:sp>
        <p:nvSpPr>
          <p:cNvPr id="16" name="Rectangle 15">
            <a:extLst>
              <a:ext uri="{FF2B5EF4-FFF2-40B4-BE49-F238E27FC236}">
                <a16:creationId xmlns:a16="http://schemas.microsoft.com/office/drawing/2014/main" id="{986C842D-720B-4210-828C-9D7878CED70D}"/>
              </a:ext>
            </a:extLst>
          </p:cNvPr>
          <p:cNvSpPr>
            <a:spLocks noGrp="1"/>
          </p:cNvSpPr>
          <p:nvPr/>
        </p:nvSpPr>
        <p:spPr>
          <a:xfrm>
            <a:off x="6705600" y="5410200"/>
            <a:ext cx="323850" cy="38100"/>
          </a:xfrm>
          <a:prstGeom prst="rect">
            <a:avLst/>
          </a:prstGeom>
          <a:solidFill>
            <a:srgbClr val="0B3D5C"/>
          </a:solidFill>
          <a:ln w="0">
            <a:noFill/>
            <a:prstDash val="solid"/>
          </a:ln>
        </p:spPr>
      </p:sp>
      <p:sp>
        <p:nvSpPr>
          <p:cNvPr id="17" name="Rectangle 16">
            <a:extLst>
              <a:ext uri="{FF2B5EF4-FFF2-40B4-BE49-F238E27FC236}">
                <a16:creationId xmlns:a16="http://schemas.microsoft.com/office/drawing/2014/main" id="{A5984721-933B-4720-9840-87870D7896C3}"/>
              </a:ext>
            </a:extLst>
          </p:cNvPr>
          <p:cNvSpPr>
            <a:spLocks noGrp="1"/>
          </p:cNvSpPr>
          <p:nvPr/>
        </p:nvSpPr>
        <p:spPr>
          <a:xfrm>
            <a:off x="6705600" y="5543550"/>
            <a:ext cx="42291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Market signal</a:t>
            </a:r>
          </a:p>
        </p:txBody>
      </p:sp>
      <p:sp>
        <p:nvSpPr>
          <p:cNvPr id="18" name="Rectangle 17">
            <a:extLst>
              <a:ext uri="{FF2B5EF4-FFF2-40B4-BE49-F238E27FC236}">
                <a16:creationId xmlns:a16="http://schemas.microsoft.com/office/drawing/2014/main" id="{55BA377B-8731-4D2C-AED2-0470DC17F05D}"/>
              </a:ext>
            </a:extLst>
          </p:cNvPr>
          <p:cNvSpPr>
            <a:spLocks noGrp="1"/>
          </p:cNvSpPr>
          <p:nvPr/>
        </p:nvSpPr>
        <p:spPr>
          <a:xfrm>
            <a:off x="6705600" y="5886450"/>
            <a:ext cx="4229100" cy="4381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Top amount states included Punjab, Tamil Nadu, Madhya Pradesh, Rajasthan, Gujarat, and West Bengal.</a:t>
            </a:r>
          </a:p>
        </p:txBody>
      </p:sp>
      <p:sp>
        <p:nvSpPr>
          <p:cNvPr id="19" name="Rectangle 18">
            <a:extLst>
              <a:ext uri="{FF2B5EF4-FFF2-40B4-BE49-F238E27FC236}">
                <a16:creationId xmlns:a16="http://schemas.microsoft.com/office/drawing/2014/main" id="{CA37124C-0C07-477F-8B01-C8AB74734D19}"/>
              </a:ext>
            </a:extLst>
          </p:cNvPr>
          <p:cNvSpPr>
            <a:spLocks noGrp="1"/>
          </p:cNvSpPr>
          <p:nvPr/>
        </p:nvSpPr>
        <p:spPr>
          <a:xfrm>
            <a:off x="609600" y="6515100"/>
            <a:ext cx="10972800" cy="9525"/>
          </a:xfrm>
          <a:prstGeom prst="rect">
            <a:avLst/>
          </a:prstGeom>
          <a:solidFill>
            <a:srgbClr val="D8E0E7"/>
          </a:solidFill>
          <a:ln w="0">
            <a:noFill/>
            <a:prstDash val="solid"/>
          </a:ln>
        </p:spPr>
      </p:sp>
      <p:sp>
        <p:nvSpPr>
          <p:cNvPr id="20" name="Rectangle 19">
            <a:extLst>
              <a:ext uri="{FF2B5EF4-FFF2-40B4-BE49-F238E27FC236}">
                <a16:creationId xmlns:a16="http://schemas.microsoft.com/office/drawing/2014/main" id="{72027BDC-6DC0-4F54-BCCC-6F5E63F062D9}"/>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21" name="Rectangle 20">
            <a:extLst>
              <a:ext uri="{FF2B5EF4-FFF2-40B4-BE49-F238E27FC236}">
                <a16:creationId xmlns:a16="http://schemas.microsoft.com/office/drawing/2014/main" id="{2F766E02-20B5-4E12-9BAF-B49D4A912221}"/>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08</a:t>
            </a:r>
          </a:p>
        </p:txBody>
      </p:sp>
    </p:spTree>
    <p:extLst>
      <p:ext uri="{BB962C8B-B14F-4D97-AF65-F5344CB8AC3E}">
        <p14:creationId xmlns:p14="http://schemas.microsoft.com/office/powerpoint/2010/main" val="3591530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EF1B0EF-4A02-4670-81BE-6189D4D42601}"/>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98C8692A-576E-4602-9B7C-9EF5BE926EE9}"/>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Fund Performance And Risk</a:t>
            </a:r>
          </a:p>
        </p:txBody>
      </p:sp>
      <p:sp>
        <p:nvSpPr>
          <p:cNvPr id="3" name="Rectangle 2">
            <a:extLst>
              <a:ext uri="{FF2B5EF4-FFF2-40B4-BE49-F238E27FC236}">
                <a16:creationId xmlns:a16="http://schemas.microsoft.com/office/drawing/2014/main" id="{745FAFB2-5ACB-427C-9405-3A24BDC86F40}"/>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8B06A661-FDF2-4467-BB27-3F4875EFF2BE}"/>
              </a:ext>
            </a:extLst>
          </p:cNvPr>
          <p:cNvSpPr>
            <a:spLocks noGrp="1"/>
          </p:cNvSpPr>
          <p:nvPr/>
        </p:nvSpPr>
        <p:spPr>
          <a:xfrm>
            <a:off x="609600" y="1352550"/>
            <a:ext cx="8858250" cy="41910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The scorecard balances return, risk-adjusted performance, alpha, expenses, and drawdown instead of ranking funds on returns alone.</a:t>
            </a:r>
          </a:p>
        </p:txBody>
      </p:sp>
      <p:sp>
        <p:nvSpPr>
          <p:cNvPr id="5" name="Rectangle: Rounded Corners 4">
            <a:extLst>
              <a:ext uri="{FF2B5EF4-FFF2-40B4-BE49-F238E27FC236}">
                <a16:creationId xmlns:a16="http://schemas.microsoft.com/office/drawing/2014/main" id="{717C762F-C724-45D7-BE3D-3FB0C72EA940}"/>
              </a:ext>
            </a:extLst>
          </p:cNvPr>
          <p:cNvSpPr>
            <a:spLocks noGrp="1"/>
          </p:cNvSpPr>
          <p:nvPr/>
        </p:nvSpPr>
        <p:spPr>
          <a:xfrm>
            <a:off x="666750" y="2038350"/>
            <a:ext cx="4819650" cy="2762250"/>
          </a:xfrm>
          <a:prstGeom prst="roundRect">
            <a:avLst>
              <a:gd name="adj" fmla="val 2069"/>
            </a:avLst>
          </a:prstGeom>
          <a:solidFill>
            <a:srgbClr val="FFFFFF"/>
          </a:solidFill>
          <a:ln w="9525">
            <a:solidFill>
              <a:srgbClr val="D8E0E7"/>
            </a:solidFill>
            <a:prstDash val="solid"/>
          </a:ln>
        </p:spPr>
      </p:sp>
      <p:pic>
        <p:nvPicPr>
          <p:cNvPr id="23" name="Picture 22"/>
          <p:cNvPicPr>
            <a:picLocks noChangeAspect="1"/>
          </p:cNvPicPr>
          <p:nvPr/>
        </p:nvPicPr>
        <p:blipFill>
          <a:blip r:embed="rId3"/>
          <a:stretch/>
        </p:blipFill>
        <p:spPr>
          <a:xfrm>
            <a:off x="1076325" y="2133600"/>
            <a:ext cx="4000500" cy="2343150"/>
          </a:xfrm>
          <a:prstGeom prst="rect">
            <a:avLst/>
          </a:prstGeom>
        </p:spPr>
      </p:pic>
      <p:sp>
        <p:nvSpPr>
          <p:cNvPr id="7" name="Rectangle 6">
            <a:extLst>
              <a:ext uri="{FF2B5EF4-FFF2-40B4-BE49-F238E27FC236}">
                <a16:creationId xmlns:a16="http://schemas.microsoft.com/office/drawing/2014/main" id="{541E90FD-1E67-4501-B588-A13567F2AF95}"/>
              </a:ext>
            </a:extLst>
          </p:cNvPr>
          <p:cNvSpPr>
            <a:spLocks noGrp="1"/>
          </p:cNvSpPr>
          <p:nvPr/>
        </p:nvSpPr>
        <p:spPr>
          <a:xfrm>
            <a:off x="819150" y="4533900"/>
            <a:ext cx="4514850" cy="171450"/>
          </a:xfrm>
          <a:prstGeom prst="rect">
            <a:avLst/>
          </a:prstGeom>
          <a:noFill/>
          <a:ln w="0">
            <a:noFill/>
            <a:prstDash val="solid"/>
          </a:ln>
        </p:spPr>
        <p:txBody>
          <a:bodyPr lIns="0" tIns="0" rIns="0" bIns="0" anchor="t"/>
          <a:lstStyle/>
          <a:p>
            <a:pPr algn="l">
              <a:defRPr sz="900" b="0">
                <a:solidFill>
                  <a:srgbClr val="7A8690"/>
                </a:solidFill>
                <a:latin typeface="Aptos"/>
                <a:ea typeface="Aptos"/>
                <a:cs typeface="Aptos"/>
              </a:defRPr>
            </a:pPr>
            <a:r>
              <a:rPr sz="900" b="0">
                <a:solidFill>
                  <a:srgbClr val="7A8690"/>
                </a:solidFill>
                <a:latin typeface="Aptos"/>
                <a:ea typeface="Aptos"/>
                <a:cs typeface="Aptos"/>
              </a:rPr>
              <a:t>Risk-return scatter supports category-aware comparison.</a:t>
            </a:r>
          </a:p>
        </p:txBody>
      </p:sp>
      <p:sp>
        <p:nvSpPr>
          <p:cNvPr id="8" name="Rectangle: Rounded Corners 7">
            <a:extLst>
              <a:ext uri="{FF2B5EF4-FFF2-40B4-BE49-F238E27FC236}">
                <a16:creationId xmlns:a16="http://schemas.microsoft.com/office/drawing/2014/main" id="{22D637DE-1CD2-43A3-AFE4-C8E6AD401FFE}"/>
              </a:ext>
            </a:extLst>
          </p:cNvPr>
          <p:cNvSpPr>
            <a:spLocks noGrp="1"/>
          </p:cNvSpPr>
          <p:nvPr/>
        </p:nvSpPr>
        <p:spPr>
          <a:xfrm>
            <a:off x="5943600" y="2038350"/>
            <a:ext cx="4819650" cy="2762250"/>
          </a:xfrm>
          <a:prstGeom prst="roundRect">
            <a:avLst>
              <a:gd name="adj" fmla="val 2069"/>
            </a:avLst>
          </a:prstGeom>
          <a:solidFill>
            <a:srgbClr val="FFFFFF"/>
          </a:solidFill>
          <a:ln w="9525">
            <a:solidFill>
              <a:srgbClr val="D8E0E7"/>
            </a:solidFill>
            <a:prstDash val="solid"/>
          </a:ln>
        </p:spPr>
      </p:sp>
      <p:pic>
        <p:nvPicPr>
          <p:cNvPr id="26" name="Picture 25"/>
          <p:cNvPicPr>
            <a:picLocks noChangeAspect="1"/>
          </p:cNvPicPr>
          <p:nvPr/>
        </p:nvPicPr>
        <p:blipFill>
          <a:blip r:embed="rId4"/>
          <a:stretch/>
        </p:blipFill>
        <p:spPr>
          <a:xfrm>
            <a:off x="6353175" y="2133600"/>
            <a:ext cx="4000500" cy="2343150"/>
          </a:xfrm>
          <a:prstGeom prst="rect">
            <a:avLst/>
          </a:prstGeom>
        </p:spPr>
      </p:pic>
      <p:sp>
        <p:nvSpPr>
          <p:cNvPr id="10" name="Rectangle 9">
            <a:extLst>
              <a:ext uri="{FF2B5EF4-FFF2-40B4-BE49-F238E27FC236}">
                <a16:creationId xmlns:a16="http://schemas.microsoft.com/office/drawing/2014/main" id="{BC1E5B53-89C2-46E9-98C6-89CFD10CFFD1}"/>
              </a:ext>
            </a:extLst>
          </p:cNvPr>
          <p:cNvSpPr>
            <a:spLocks noGrp="1"/>
          </p:cNvSpPr>
          <p:nvPr/>
        </p:nvSpPr>
        <p:spPr>
          <a:xfrm>
            <a:off x="6096000" y="4533900"/>
            <a:ext cx="4514850" cy="171450"/>
          </a:xfrm>
          <a:prstGeom prst="rect">
            <a:avLst/>
          </a:prstGeom>
          <a:noFill/>
          <a:ln w="0">
            <a:noFill/>
            <a:prstDash val="solid"/>
          </a:ln>
        </p:spPr>
        <p:txBody>
          <a:bodyPr lIns="0" tIns="0" rIns="0" bIns="0" anchor="t"/>
          <a:lstStyle/>
          <a:p>
            <a:pPr algn="l">
              <a:defRPr sz="900" b="0">
                <a:solidFill>
                  <a:srgbClr val="7A8690"/>
                </a:solidFill>
                <a:latin typeface="Aptos"/>
                <a:ea typeface="Aptos"/>
                <a:cs typeface="Aptos"/>
              </a:defRPr>
            </a:pPr>
            <a:r>
              <a:rPr sz="900" b="0">
                <a:solidFill>
                  <a:srgbClr val="7A8690"/>
                </a:solidFill>
                <a:latin typeface="Aptos"/>
                <a:ea typeface="Aptos"/>
                <a:cs typeface="Aptos"/>
              </a:rPr>
              <a:t>Sharpe view highlights risk-adjusted leaders.</a:t>
            </a:r>
          </a:p>
        </p:txBody>
      </p:sp>
      <p:sp>
        <p:nvSpPr>
          <p:cNvPr id="11" name="Rectangle: Rounded Corners 10">
            <a:extLst>
              <a:ext uri="{FF2B5EF4-FFF2-40B4-BE49-F238E27FC236}">
                <a16:creationId xmlns:a16="http://schemas.microsoft.com/office/drawing/2014/main" id="{24E377A7-A8E9-4EBE-9346-B326C1F02DDD}"/>
              </a:ext>
            </a:extLst>
          </p:cNvPr>
          <p:cNvSpPr>
            <a:spLocks noGrp="1"/>
          </p:cNvSpPr>
          <p:nvPr/>
        </p:nvSpPr>
        <p:spPr>
          <a:xfrm>
            <a:off x="933450" y="5219700"/>
            <a:ext cx="10325100" cy="838200"/>
          </a:xfrm>
          <a:prstGeom prst="roundRect">
            <a:avLst>
              <a:gd name="adj" fmla="val 6818"/>
            </a:avLst>
          </a:prstGeom>
          <a:solidFill>
            <a:srgbClr val="E8F5F1"/>
          </a:solidFill>
          <a:ln w="9525">
            <a:solidFill>
              <a:srgbClr val="B9DAD1"/>
            </a:solidFill>
            <a:prstDash val="solid"/>
          </a:ln>
        </p:spPr>
      </p:sp>
      <p:sp>
        <p:nvSpPr>
          <p:cNvPr id="12" name="Rectangle 11">
            <a:extLst>
              <a:ext uri="{FF2B5EF4-FFF2-40B4-BE49-F238E27FC236}">
                <a16:creationId xmlns:a16="http://schemas.microsoft.com/office/drawing/2014/main" id="{47B842E7-4059-4CEB-9500-47C0FFC55E83}"/>
              </a:ext>
            </a:extLst>
          </p:cNvPr>
          <p:cNvSpPr>
            <a:spLocks noGrp="1"/>
          </p:cNvSpPr>
          <p:nvPr/>
        </p:nvSpPr>
        <p:spPr>
          <a:xfrm>
            <a:off x="1162050" y="5372100"/>
            <a:ext cx="3143250" cy="266700"/>
          </a:xfrm>
          <a:prstGeom prst="rect">
            <a:avLst/>
          </a:prstGeom>
          <a:noFill/>
          <a:ln w="0">
            <a:noFill/>
            <a:prstDash val="solid"/>
          </a:ln>
        </p:spPr>
        <p:txBody>
          <a:bodyPr lIns="0" tIns="0" rIns="0" bIns="0" anchor="t"/>
          <a:lstStyle/>
          <a:p>
            <a:pPr algn="l">
              <a:defRPr sz="1575" b="1">
                <a:solidFill>
                  <a:srgbClr val="17202A"/>
                </a:solidFill>
                <a:latin typeface="Aptos"/>
                <a:ea typeface="Aptos"/>
                <a:cs typeface="Aptos"/>
              </a:defRPr>
            </a:pPr>
            <a:r>
              <a:rPr sz="1575" b="1">
                <a:solidFill>
                  <a:srgbClr val="17202A"/>
                </a:solidFill>
                <a:latin typeface="Aptos"/>
                <a:ea typeface="Aptos"/>
                <a:cs typeface="Aptos"/>
              </a:rPr>
              <a:t>Top computed score</a:t>
            </a:r>
          </a:p>
        </p:txBody>
      </p:sp>
      <p:sp>
        <p:nvSpPr>
          <p:cNvPr id="13" name="Rectangle 12">
            <a:extLst>
              <a:ext uri="{FF2B5EF4-FFF2-40B4-BE49-F238E27FC236}">
                <a16:creationId xmlns:a16="http://schemas.microsoft.com/office/drawing/2014/main" id="{631755F6-D49C-48BE-A158-51785A0AF85C}"/>
              </a:ext>
            </a:extLst>
          </p:cNvPr>
          <p:cNvSpPr>
            <a:spLocks noGrp="1"/>
          </p:cNvSpPr>
          <p:nvPr/>
        </p:nvSpPr>
        <p:spPr>
          <a:xfrm>
            <a:off x="1162050" y="5676900"/>
            <a:ext cx="5295900" cy="228600"/>
          </a:xfrm>
          <a:prstGeom prst="rect">
            <a:avLst/>
          </a:prstGeom>
          <a:noFill/>
          <a:ln w="0">
            <a:noFill/>
            <a:prstDash val="solid"/>
          </a:ln>
        </p:spPr>
        <p:txBody>
          <a:bodyPr lIns="0" tIns="0" rIns="0" bIns="0" anchor="t"/>
          <a:lstStyle/>
          <a:p>
            <a:pPr algn="l">
              <a:defRPr sz="1350" b="0">
                <a:solidFill>
                  <a:srgbClr val="52616B"/>
                </a:solidFill>
                <a:latin typeface="Aptos"/>
                <a:ea typeface="Aptos"/>
                <a:cs typeface="Aptos"/>
              </a:defRPr>
            </a:pPr>
            <a:r>
              <a:rPr sz="1350" b="0">
                <a:solidFill>
                  <a:srgbClr val="52616B"/>
                </a:solidFill>
                <a:latin typeface="Aptos"/>
                <a:ea typeface="Aptos"/>
                <a:cs typeface="Aptos"/>
              </a:rPr>
              <a:t>Mirae Asset Large Cap Fund - Regular - Growth scored 86.25.</a:t>
            </a:r>
          </a:p>
        </p:txBody>
      </p:sp>
      <p:sp>
        <p:nvSpPr>
          <p:cNvPr id="14" name="Rectangle 13">
            <a:extLst>
              <a:ext uri="{FF2B5EF4-FFF2-40B4-BE49-F238E27FC236}">
                <a16:creationId xmlns:a16="http://schemas.microsoft.com/office/drawing/2014/main" id="{2E38FA0C-79E5-40A2-B2FA-56978EF472A9}"/>
              </a:ext>
            </a:extLst>
          </p:cNvPr>
          <p:cNvSpPr>
            <a:spLocks noGrp="1"/>
          </p:cNvSpPr>
          <p:nvPr/>
        </p:nvSpPr>
        <p:spPr>
          <a:xfrm>
            <a:off x="6800850" y="5372100"/>
            <a:ext cx="3943350" cy="533400"/>
          </a:xfrm>
          <a:prstGeom prst="rect">
            <a:avLst/>
          </a:prstGeom>
          <a:noFill/>
          <a:ln w="0">
            <a:noFill/>
            <a:prstDash val="solid"/>
          </a:ln>
        </p:spPr>
        <p:txBody>
          <a:bodyPr lIns="0" tIns="0" rIns="0" bIns="0" anchor="t"/>
          <a:lstStyle/>
          <a:p>
            <a:pPr algn="l">
              <a:defRPr sz="1350" b="0">
                <a:solidFill>
                  <a:srgbClr val="52616B"/>
                </a:solidFill>
                <a:latin typeface="Aptos"/>
                <a:ea typeface="Aptos"/>
                <a:cs typeface="Aptos"/>
              </a:defRPr>
            </a:pPr>
            <a:r>
              <a:rPr sz="1350" b="0">
                <a:solidFill>
                  <a:srgbClr val="52616B"/>
                </a:solidFill>
                <a:latin typeface="Aptos"/>
                <a:ea typeface="Aptos"/>
                <a:cs typeface="Aptos"/>
              </a:rPr>
              <a:t>Small-cap schemes carried the deepest daily 95% VaR; liquid funds showed the lowest VaR.</a:t>
            </a:r>
          </a:p>
        </p:txBody>
      </p:sp>
      <p:sp>
        <p:nvSpPr>
          <p:cNvPr id="15" name="Rectangle 14">
            <a:extLst>
              <a:ext uri="{FF2B5EF4-FFF2-40B4-BE49-F238E27FC236}">
                <a16:creationId xmlns:a16="http://schemas.microsoft.com/office/drawing/2014/main" id="{2CEBEE5B-B550-4D0B-9B16-7631B208B89D}"/>
              </a:ext>
            </a:extLst>
          </p:cNvPr>
          <p:cNvSpPr>
            <a:spLocks noGrp="1"/>
          </p:cNvSpPr>
          <p:nvPr/>
        </p:nvSpPr>
        <p:spPr>
          <a:xfrm>
            <a:off x="609600" y="6515100"/>
            <a:ext cx="10972800" cy="9525"/>
          </a:xfrm>
          <a:prstGeom prst="rect">
            <a:avLst/>
          </a:prstGeom>
          <a:solidFill>
            <a:srgbClr val="D8E0E7"/>
          </a:solidFill>
          <a:ln w="0">
            <a:noFill/>
            <a:prstDash val="solid"/>
          </a:ln>
        </p:spPr>
      </p:sp>
      <p:sp>
        <p:nvSpPr>
          <p:cNvPr id="16" name="Rectangle 15">
            <a:extLst>
              <a:ext uri="{FF2B5EF4-FFF2-40B4-BE49-F238E27FC236}">
                <a16:creationId xmlns:a16="http://schemas.microsoft.com/office/drawing/2014/main" id="{A9B9B0F4-4629-4A04-938D-37B9A95A0B36}"/>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17" name="Rectangle 16">
            <a:extLst>
              <a:ext uri="{FF2B5EF4-FFF2-40B4-BE49-F238E27FC236}">
                <a16:creationId xmlns:a16="http://schemas.microsoft.com/office/drawing/2014/main" id="{3CC75F48-2224-441F-BE2D-6A9F336550B9}"/>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09</a:t>
            </a:r>
          </a:p>
        </p:txBody>
      </p:sp>
    </p:spTree>
    <p:extLst>
      <p:ext uri="{BB962C8B-B14F-4D97-AF65-F5344CB8AC3E}">
        <p14:creationId xmlns:p14="http://schemas.microsoft.com/office/powerpoint/2010/main" val="1497688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1061515-D893-449A-9FD6-6553D1AA28A5}"/>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BBE17639-DCAB-4839-9EC8-964E69B59207}"/>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Dashboard Deliverable</a:t>
            </a:r>
          </a:p>
        </p:txBody>
      </p:sp>
      <p:sp>
        <p:nvSpPr>
          <p:cNvPr id="3" name="Rectangle 2">
            <a:extLst>
              <a:ext uri="{FF2B5EF4-FFF2-40B4-BE49-F238E27FC236}">
                <a16:creationId xmlns:a16="http://schemas.microsoft.com/office/drawing/2014/main" id="{220453C8-0BA0-4874-A25C-60E2DA95F8D3}"/>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1B8DA7B9-1510-4CE7-B8B6-F13F950381AD}"/>
              </a:ext>
            </a:extLst>
          </p:cNvPr>
          <p:cNvSpPr>
            <a:spLocks noGrp="1"/>
          </p:cNvSpPr>
          <p:nvPr/>
        </p:nvSpPr>
        <p:spPr>
          <a:xfrm>
            <a:off x="609600" y="1352550"/>
            <a:ext cx="8191500" cy="41910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The Power BI design converts the analytical model into four business-facing pages for review, filtering, and discussion.</a:t>
            </a:r>
          </a:p>
        </p:txBody>
      </p:sp>
      <p:sp>
        <p:nvSpPr>
          <p:cNvPr id="5" name="Rectangle: Rounded Corners 4">
            <a:extLst>
              <a:ext uri="{FF2B5EF4-FFF2-40B4-BE49-F238E27FC236}">
                <a16:creationId xmlns:a16="http://schemas.microsoft.com/office/drawing/2014/main" id="{CB9C27FB-C392-4948-BF6C-4D22193B5B9E}"/>
              </a:ext>
            </a:extLst>
          </p:cNvPr>
          <p:cNvSpPr>
            <a:spLocks noGrp="1"/>
          </p:cNvSpPr>
          <p:nvPr/>
        </p:nvSpPr>
        <p:spPr>
          <a:xfrm>
            <a:off x="647700" y="2000250"/>
            <a:ext cx="2514600" cy="1714500"/>
          </a:xfrm>
          <a:prstGeom prst="roundRect">
            <a:avLst>
              <a:gd name="adj" fmla="val 3333"/>
            </a:avLst>
          </a:prstGeom>
          <a:solidFill>
            <a:srgbClr val="FFFFFF"/>
          </a:solidFill>
          <a:ln w="9525">
            <a:solidFill>
              <a:srgbClr val="D8E0E7"/>
            </a:solidFill>
            <a:prstDash val="solid"/>
          </a:ln>
        </p:spPr>
      </p:sp>
      <p:pic>
        <p:nvPicPr>
          <p:cNvPr id="37" name="Picture 36"/>
          <p:cNvPicPr>
            <a:picLocks noChangeAspect="1"/>
          </p:cNvPicPr>
          <p:nvPr/>
        </p:nvPicPr>
        <p:blipFill>
          <a:blip r:embed="rId3"/>
          <a:srcRect l="4411" r="4411"/>
          <a:stretch>
            <a:fillRect/>
          </a:stretch>
        </p:blipFill>
        <p:spPr>
          <a:xfrm>
            <a:off x="742950" y="2095500"/>
            <a:ext cx="2324100" cy="1295400"/>
          </a:xfrm>
          <a:prstGeom prst="rect">
            <a:avLst/>
          </a:prstGeom>
        </p:spPr>
      </p:pic>
      <p:sp>
        <p:nvSpPr>
          <p:cNvPr id="7" name="Rectangle 6">
            <a:extLst>
              <a:ext uri="{FF2B5EF4-FFF2-40B4-BE49-F238E27FC236}">
                <a16:creationId xmlns:a16="http://schemas.microsoft.com/office/drawing/2014/main" id="{7B31C23A-B183-476B-900B-D6254B1C5CB3}"/>
              </a:ext>
            </a:extLst>
          </p:cNvPr>
          <p:cNvSpPr>
            <a:spLocks noGrp="1"/>
          </p:cNvSpPr>
          <p:nvPr/>
        </p:nvSpPr>
        <p:spPr>
          <a:xfrm>
            <a:off x="800100" y="3448050"/>
            <a:ext cx="2209800" cy="171450"/>
          </a:xfrm>
          <a:prstGeom prst="rect">
            <a:avLst/>
          </a:prstGeom>
          <a:noFill/>
          <a:ln w="0">
            <a:noFill/>
            <a:prstDash val="solid"/>
          </a:ln>
        </p:spPr>
        <p:txBody>
          <a:bodyPr lIns="0" tIns="0" rIns="0" bIns="0" anchor="t"/>
          <a:lstStyle/>
          <a:p>
            <a:pPr algn="l">
              <a:defRPr sz="900" b="0">
                <a:solidFill>
                  <a:srgbClr val="7A8690"/>
                </a:solidFill>
                <a:latin typeface="Aptos"/>
                <a:ea typeface="Aptos"/>
                <a:cs typeface="Aptos"/>
              </a:defRPr>
            </a:pPr>
            <a:r>
              <a:rPr sz="900" b="0">
                <a:solidFill>
                  <a:srgbClr val="7A8690"/>
                </a:solidFill>
                <a:latin typeface="Aptos"/>
                <a:ea typeface="Aptos"/>
                <a:cs typeface="Aptos"/>
              </a:rPr>
              <a:t>1. Executive Overview</a:t>
            </a:r>
          </a:p>
        </p:txBody>
      </p:sp>
      <p:sp>
        <p:nvSpPr>
          <p:cNvPr id="8" name="Rectangle: Rounded Corners 7">
            <a:extLst>
              <a:ext uri="{FF2B5EF4-FFF2-40B4-BE49-F238E27FC236}">
                <a16:creationId xmlns:a16="http://schemas.microsoft.com/office/drawing/2014/main" id="{12F10A68-DD43-4C48-A147-4C76DB093585}"/>
              </a:ext>
            </a:extLst>
          </p:cNvPr>
          <p:cNvSpPr>
            <a:spLocks noGrp="1"/>
          </p:cNvSpPr>
          <p:nvPr/>
        </p:nvSpPr>
        <p:spPr>
          <a:xfrm>
            <a:off x="3505200" y="2000250"/>
            <a:ext cx="2514600" cy="1714500"/>
          </a:xfrm>
          <a:prstGeom prst="roundRect">
            <a:avLst>
              <a:gd name="adj" fmla="val 3333"/>
            </a:avLst>
          </a:prstGeom>
          <a:solidFill>
            <a:srgbClr val="FFFFFF"/>
          </a:solidFill>
          <a:ln w="9525">
            <a:solidFill>
              <a:srgbClr val="D8E0E7"/>
            </a:solidFill>
            <a:prstDash val="solid"/>
          </a:ln>
        </p:spPr>
      </p:sp>
      <p:pic>
        <p:nvPicPr>
          <p:cNvPr id="40" name="Picture 39"/>
          <p:cNvPicPr>
            <a:picLocks noChangeAspect="1"/>
          </p:cNvPicPr>
          <p:nvPr/>
        </p:nvPicPr>
        <p:blipFill>
          <a:blip r:embed="rId4"/>
          <a:srcRect t="4450" b="4450"/>
          <a:stretch>
            <a:fillRect/>
          </a:stretch>
        </p:blipFill>
        <p:spPr>
          <a:xfrm>
            <a:off x="3600450" y="2095500"/>
            <a:ext cx="2324100" cy="1295400"/>
          </a:xfrm>
          <a:prstGeom prst="rect">
            <a:avLst/>
          </a:prstGeom>
        </p:spPr>
      </p:pic>
      <p:sp>
        <p:nvSpPr>
          <p:cNvPr id="10" name="Rectangle 9">
            <a:extLst>
              <a:ext uri="{FF2B5EF4-FFF2-40B4-BE49-F238E27FC236}">
                <a16:creationId xmlns:a16="http://schemas.microsoft.com/office/drawing/2014/main" id="{9CCD5B92-607C-45B4-ABC0-5C36164F9910}"/>
              </a:ext>
            </a:extLst>
          </p:cNvPr>
          <p:cNvSpPr>
            <a:spLocks noGrp="1"/>
          </p:cNvSpPr>
          <p:nvPr/>
        </p:nvSpPr>
        <p:spPr>
          <a:xfrm>
            <a:off x="3657600" y="3448050"/>
            <a:ext cx="2209800" cy="171450"/>
          </a:xfrm>
          <a:prstGeom prst="rect">
            <a:avLst/>
          </a:prstGeom>
          <a:noFill/>
          <a:ln w="0">
            <a:noFill/>
            <a:prstDash val="solid"/>
          </a:ln>
        </p:spPr>
        <p:txBody>
          <a:bodyPr lIns="0" tIns="0" rIns="0" bIns="0" anchor="t"/>
          <a:lstStyle/>
          <a:p>
            <a:pPr algn="l">
              <a:defRPr sz="900" b="0">
                <a:solidFill>
                  <a:srgbClr val="7A8690"/>
                </a:solidFill>
                <a:latin typeface="Aptos"/>
                <a:ea typeface="Aptos"/>
                <a:cs typeface="Aptos"/>
              </a:defRPr>
            </a:pPr>
            <a:r>
              <a:rPr sz="900" b="0">
                <a:solidFill>
                  <a:srgbClr val="7A8690"/>
                </a:solidFill>
                <a:latin typeface="Aptos"/>
                <a:ea typeface="Aptos"/>
                <a:cs typeface="Aptos"/>
              </a:rPr>
              <a:t>2. Fund Performance</a:t>
            </a:r>
          </a:p>
        </p:txBody>
      </p:sp>
      <p:sp>
        <p:nvSpPr>
          <p:cNvPr id="11" name="Rectangle: Rounded Corners 10">
            <a:extLst>
              <a:ext uri="{FF2B5EF4-FFF2-40B4-BE49-F238E27FC236}">
                <a16:creationId xmlns:a16="http://schemas.microsoft.com/office/drawing/2014/main" id="{4923109E-97EE-4CFC-8DFA-586D3712EE32}"/>
              </a:ext>
            </a:extLst>
          </p:cNvPr>
          <p:cNvSpPr>
            <a:spLocks noGrp="1"/>
          </p:cNvSpPr>
          <p:nvPr/>
        </p:nvSpPr>
        <p:spPr>
          <a:xfrm>
            <a:off x="6362700" y="2000250"/>
            <a:ext cx="2514600" cy="1714500"/>
          </a:xfrm>
          <a:prstGeom prst="roundRect">
            <a:avLst>
              <a:gd name="adj" fmla="val 3333"/>
            </a:avLst>
          </a:prstGeom>
          <a:solidFill>
            <a:srgbClr val="FFFFFF"/>
          </a:solidFill>
          <a:ln w="9525">
            <a:solidFill>
              <a:srgbClr val="D8E0E7"/>
            </a:solidFill>
            <a:prstDash val="solid"/>
          </a:ln>
        </p:spPr>
      </p:sp>
      <p:pic>
        <p:nvPicPr>
          <p:cNvPr id="43" name="Picture 42"/>
          <p:cNvPicPr>
            <a:picLocks noChangeAspect="1"/>
          </p:cNvPicPr>
          <p:nvPr/>
        </p:nvPicPr>
        <p:blipFill>
          <a:blip r:embed="rId5"/>
          <a:srcRect t="4450" b="4450"/>
          <a:stretch>
            <a:fillRect/>
          </a:stretch>
        </p:blipFill>
        <p:spPr>
          <a:xfrm>
            <a:off x="6457950" y="2095500"/>
            <a:ext cx="2324100" cy="1295400"/>
          </a:xfrm>
          <a:prstGeom prst="rect">
            <a:avLst/>
          </a:prstGeom>
        </p:spPr>
      </p:pic>
      <p:sp>
        <p:nvSpPr>
          <p:cNvPr id="13" name="Rectangle 12">
            <a:extLst>
              <a:ext uri="{FF2B5EF4-FFF2-40B4-BE49-F238E27FC236}">
                <a16:creationId xmlns:a16="http://schemas.microsoft.com/office/drawing/2014/main" id="{5F4B1BC5-D09C-4DFC-96EB-112CCF2E34F3}"/>
              </a:ext>
            </a:extLst>
          </p:cNvPr>
          <p:cNvSpPr>
            <a:spLocks noGrp="1"/>
          </p:cNvSpPr>
          <p:nvPr/>
        </p:nvSpPr>
        <p:spPr>
          <a:xfrm>
            <a:off x="6515100" y="3448050"/>
            <a:ext cx="2209800" cy="171450"/>
          </a:xfrm>
          <a:prstGeom prst="rect">
            <a:avLst/>
          </a:prstGeom>
          <a:noFill/>
          <a:ln w="0">
            <a:noFill/>
            <a:prstDash val="solid"/>
          </a:ln>
        </p:spPr>
        <p:txBody>
          <a:bodyPr lIns="0" tIns="0" rIns="0" bIns="0" anchor="t"/>
          <a:lstStyle/>
          <a:p>
            <a:pPr algn="l">
              <a:defRPr sz="900" b="0">
                <a:solidFill>
                  <a:srgbClr val="7A8690"/>
                </a:solidFill>
                <a:latin typeface="Aptos"/>
                <a:ea typeface="Aptos"/>
                <a:cs typeface="Aptos"/>
              </a:defRPr>
            </a:pPr>
            <a:r>
              <a:rPr sz="900" b="0">
                <a:solidFill>
                  <a:srgbClr val="7A8690"/>
                </a:solidFill>
                <a:latin typeface="Aptos"/>
                <a:ea typeface="Aptos"/>
                <a:cs typeface="Aptos"/>
              </a:rPr>
              <a:t>3. Investor Analytics</a:t>
            </a:r>
          </a:p>
        </p:txBody>
      </p:sp>
      <p:sp>
        <p:nvSpPr>
          <p:cNvPr id="14" name="Rectangle: Rounded Corners 13">
            <a:extLst>
              <a:ext uri="{FF2B5EF4-FFF2-40B4-BE49-F238E27FC236}">
                <a16:creationId xmlns:a16="http://schemas.microsoft.com/office/drawing/2014/main" id="{92577949-79E8-47BC-983F-804591956857}"/>
              </a:ext>
            </a:extLst>
          </p:cNvPr>
          <p:cNvSpPr>
            <a:spLocks noGrp="1"/>
          </p:cNvSpPr>
          <p:nvPr/>
        </p:nvSpPr>
        <p:spPr>
          <a:xfrm>
            <a:off x="9220200" y="2000250"/>
            <a:ext cx="2514600" cy="1714500"/>
          </a:xfrm>
          <a:prstGeom prst="roundRect">
            <a:avLst>
              <a:gd name="adj" fmla="val 3333"/>
            </a:avLst>
          </a:prstGeom>
          <a:solidFill>
            <a:srgbClr val="FFFFFF"/>
          </a:solidFill>
          <a:ln w="9525">
            <a:solidFill>
              <a:srgbClr val="D8E0E7"/>
            </a:solidFill>
            <a:prstDash val="solid"/>
          </a:ln>
        </p:spPr>
      </p:sp>
      <p:pic>
        <p:nvPicPr>
          <p:cNvPr id="46" name="Picture 45"/>
          <p:cNvPicPr>
            <a:picLocks noChangeAspect="1"/>
          </p:cNvPicPr>
          <p:nvPr/>
        </p:nvPicPr>
        <p:blipFill>
          <a:blip r:embed="rId6"/>
          <a:srcRect t="4450" b="4450"/>
          <a:stretch>
            <a:fillRect/>
          </a:stretch>
        </p:blipFill>
        <p:spPr>
          <a:xfrm>
            <a:off x="9315450" y="2095500"/>
            <a:ext cx="2324100" cy="1295400"/>
          </a:xfrm>
          <a:prstGeom prst="rect">
            <a:avLst/>
          </a:prstGeom>
        </p:spPr>
      </p:pic>
      <p:sp>
        <p:nvSpPr>
          <p:cNvPr id="16" name="Rectangle 15">
            <a:extLst>
              <a:ext uri="{FF2B5EF4-FFF2-40B4-BE49-F238E27FC236}">
                <a16:creationId xmlns:a16="http://schemas.microsoft.com/office/drawing/2014/main" id="{729A417F-3305-4EF1-A9A7-229CD100DA61}"/>
              </a:ext>
            </a:extLst>
          </p:cNvPr>
          <p:cNvSpPr>
            <a:spLocks noGrp="1"/>
          </p:cNvSpPr>
          <p:nvPr/>
        </p:nvSpPr>
        <p:spPr>
          <a:xfrm>
            <a:off x="9372600" y="3448050"/>
            <a:ext cx="2209800" cy="171450"/>
          </a:xfrm>
          <a:prstGeom prst="rect">
            <a:avLst/>
          </a:prstGeom>
          <a:noFill/>
          <a:ln w="0">
            <a:noFill/>
            <a:prstDash val="solid"/>
          </a:ln>
        </p:spPr>
        <p:txBody>
          <a:bodyPr lIns="0" tIns="0" rIns="0" bIns="0" anchor="t"/>
          <a:lstStyle/>
          <a:p>
            <a:pPr algn="l">
              <a:defRPr sz="900" b="0">
                <a:solidFill>
                  <a:srgbClr val="7A8690"/>
                </a:solidFill>
                <a:latin typeface="Aptos"/>
                <a:ea typeface="Aptos"/>
                <a:cs typeface="Aptos"/>
              </a:defRPr>
            </a:pPr>
            <a:r>
              <a:rPr sz="900" b="0">
                <a:solidFill>
                  <a:srgbClr val="7A8690"/>
                </a:solidFill>
                <a:latin typeface="Aptos"/>
                <a:ea typeface="Aptos"/>
                <a:cs typeface="Aptos"/>
              </a:rPr>
              <a:t>4. SIP and Market Trends</a:t>
            </a:r>
          </a:p>
        </p:txBody>
      </p:sp>
      <p:sp>
        <p:nvSpPr>
          <p:cNvPr id="17" name="Rectangle: Rounded Corners 16">
            <a:extLst>
              <a:ext uri="{FF2B5EF4-FFF2-40B4-BE49-F238E27FC236}">
                <a16:creationId xmlns:a16="http://schemas.microsoft.com/office/drawing/2014/main" id="{1E323760-C905-4E1E-A1DC-A678DCA28BCE}"/>
              </a:ext>
            </a:extLst>
          </p:cNvPr>
          <p:cNvSpPr>
            <a:spLocks noGrp="1"/>
          </p:cNvSpPr>
          <p:nvPr/>
        </p:nvSpPr>
        <p:spPr>
          <a:xfrm>
            <a:off x="1066800" y="4191000"/>
            <a:ext cx="2971800" cy="1371600"/>
          </a:xfrm>
          <a:prstGeom prst="roundRect">
            <a:avLst>
              <a:gd name="adj" fmla="val 4167"/>
            </a:avLst>
          </a:prstGeom>
          <a:solidFill>
            <a:srgbClr val="FFFFFF"/>
          </a:solidFill>
          <a:ln w="9525">
            <a:solidFill>
              <a:srgbClr val="D8E0E7"/>
            </a:solidFill>
            <a:prstDash val="solid"/>
          </a:ln>
        </p:spPr>
      </p:sp>
      <p:sp>
        <p:nvSpPr>
          <p:cNvPr id="18" name="Rectangle 17">
            <a:extLst>
              <a:ext uri="{FF2B5EF4-FFF2-40B4-BE49-F238E27FC236}">
                <a16:creationId xmlns:a16="http://schemas.microsoft.com/office/drawing/2014/main" id="{E7B9ED8E-460F-4852-8D9B-4DE9BB606179}"/>
              </a:ext>
            </a:extLst>
          </p:cNvPr>
          <p:cNvSpPr>
            <a:spLocks noGrp="1"/>
          </p:cNvSpPr>
          <p:nvPr/>
        </p:nvSpPr>
        <p:spPr>
          <a:xfrm>
            <a:off x="1238250" y="4381500"/>
            <a:ext cx="323850" cy="38100"/>
          </a:xfrm>
          <a:prstGeom prst="rect">
            <a:avLst/>
          </a:prstGeom>
          <a:solidFill>
            <a:srgbClr val="0B3D5C"/>
          </a:solidFill>
          <a:ln w="0">
            <a:noFill/>
            <a:prstDash val="solid"/>
          </a:ln>
        </p:spPr>
      </p:sp>
      <p:sp>
        <p:nvSpPr>
          <p:cNvPr id="19" name="Rectangle 18">
            <a:extLst>
              <a:ext uri="{FF2B5EF4-FFF2-40B4-BE49-F238E27FC236}">
                <a16:creationId xmlns:a16="http://schemas.microsoft.com/office/drawing/2014/main" id="{4748F5BC-886D-4510-9240-4B9FB3FA59AD}"/>
              </a:ext>
            </a:extLst>
          </p:cNvPr>
          <p:cNvSpPr>
            <a:spLocks noGrp="1"/>
          </p:cNvSpPr>
          <p:nvPr/>
        </p:nvSpPr>
        <p:spPr>
          <a:xfrm>
            <a:off x="1238250" y="4514850"/>
            <a:ext cx="26289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Dashboard pages</a:t>
            </a:r>
          </a:p>
        </p:txBody>
      </p:sp>
      <p:sp>
        <p:nvSpPr>
          <p:cNvPr id="20" name="Rectangle 19">
            <a:extLst>
              <a:ext uri="{FF2B5EF4-FFF2-40B4-BE49-F238E27FC236}">
                <a16:creationId xmlns:a16="http://schemas.microsoft.com/office/drawing/2014/main" id="{F4B1576A-E330-4AC2-AEE5-C30D25086224}"/>
              </a:ext>
            </a:extLst>
          </p:cNvPr>
          <p:cNvSpPr>
            <a:spLocks noGrp="1"/>
          </p:cNvSpPr>
          <p:nvPr/>
        </p:nvSpPr>
        <p:spPr>
          <a:xfrm>
            <a:off x="1238250" y="4857750"/>
            <a:ext cx="2628900" cy="5524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Executive Overview, Fund Performance, Investor Analytics, and SIP &amp; Market Trends.</a:t>
            </a:r>
          </a:p>
        </p:txBody>
      </p:sp>
      <p:sp>
        <p:nvSpPr>
          <p:cNvPr id="21" name="Rectangle: Rounded Corners 20">
            <a:extLst>
              <a:ext uri="{FF2B5EF4-FFF2-40B4-BE49-F238E27FC236}">
                <a16:creationId xmlns:a16="http://schemas.microsoft.com/office/drawing/2014/main" id="{C311D1B8-89CD-4150-896F-680E680896E6}"/>
              </a:ext>
            </a:extLst>
          </p:cNvPr>
          <p:cNvSpPr>
            <a:spLocks noGrp="1"/>
          </p:cNvSpPr>
          <p:nvPr/>
        </p:nvSpPr>
        <p:spPr>
          <a:xfrm>
            <a:off x="4629150" y="4191000"/>
            <a:ext cx="2971800" cy="1371600"/>
          </a:xfrm>
          <a:prstGeom prst="roundRect">
            <a:avLst>
              <a:gd name="adj" fmla="val 4167"/>
            </a:avLst>
          </a:prstGeom>
          <a:solidFill>
            <a:srgbClr val="FFFFFF"/>
          </a:solidFill>
          <a:ln w="9525">
            <a:solidFill>
              <a:srgbClr val="D8E0E7"/>
            </a:solidFill>
            <a:prstDash val="solid"/>
          </a:ln>
        </p:spPr>
      </p:sp>
      <p:sp>
        <p:nvSpPr>
          <p:cNvPr id="22" name="Rectangle 21">
            <a:extLst>
              <a:ext uri="{FF2B5EF4-FFF2-40B4-BE49-F238E27FC236}">
                <a16:creationId xmlns:a16="http://schemas.microsoft.com/office/drawing/2014/main" id="{7E5D96C2-FA2D-4176-A9A6-A7AF5FD9C988}"/>
              </a:ext>
            </a:extLst>
          </p:cNvPr>
          <p:cNvSpPr>
            <a:spLocks noGrp="1"/>
          </p:cNvSpPr>
          <p:nvPr/>
        </p:nvSpPr>
        <p:spPr>
          <a:xfrm>
            <a:off x="4800600" y="4381500"/>
            <a:ext cx="323850" cy="38100"/>
          </a:xfrm>
          <a:prstGeom prst="rect">
            <a:avLst/>
          </a:prstGeom>
          <a:solidFill>
            <a:srgbClr val="00866E"/>
          </a:solidFill>
          <a:ln w="0">
            <a:noFill/>
            <a:prstDash val="solid"/>
          </a:ln>
        </p:spPr>
      </p:sp>
      <p:sp>
        <p:nvSpPr>
          <p:cNvPr id="23" name="Rectangle 22">
            <a:extLst>
              <a:ext uri="{FF2B5EF4-FFF2-40B4-BE49-F238E27FC236}">
                <a16:creationId xmlns:a16="http://schemas.microsoft.com/office/drawing/2014/main" id="{5A7F05E1-D450-4E1A-9437-5B78DC5EF560}"/>
              </a:ext>
            </a:extLst>
          </p:cNvPr>
          <p:cNvSpPr>
            <a:spLocks noGrp="1"/>
          </p:cNvSpPr>
          <p:nvPr/>
        </p:nvSpPr>
        <p:spPr>
          <a:xfrm>
            <a:off x="4800600" y="4514850"/>
            <a:ext cx="26289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Review controls</a:t>
            </a:r>
          </a:p>
        </p:txBody>
      </p:sp>
      <p:sp>
        <p:nvSpPr>
          <p:cNvPr id="24" name="Rectangle 23">
            <a:extLst>
              <a:ext uri="{FF2B5EF4-FFF2-40B4-BE49-F238E27FC236}">
                <a16:creationId xmlns:a16="http://schemas.microsoft.com/office/drawing/2014/main" id="{2BB615C9-3064-40E6-A036-84A7BC335B22}"/>
              </a:ext>
            </a:extLst>
          </p:cNvPr>
          <p:cNvSpPr>
            <a:spLocks noGrp="1"/>
          </p:cNvSpPr>
          <p:nvPr/>
        </p:nvSpPr>
        <p:spPr>
          <a:xfrm>
            <a:off x="4800600" y="4857750"/>
            <a:ext cx="2628900" cy="5524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Slicers cover year, AMC, fund house, category, plan, risk, state, age group, city tier, gender, month, and benchmark.</a:t>
            </a:r>
          </a:p>
        </p:txBody>
      </p:sp>
      <p:sp>
        <p:nvSpPr>
          <p:cNvPr id="25" name="Rectangle: Rounded Corners 24">
            <a:extLst>
              <a:ext uri="{FF2B5EF4-FFF2-40B4-BE49-F238E27FC236}">
                <a16:creationId xmlns:a16="http://schemas.microsoft.com/office/drawing/2014/main" id="{7F0B04D0-8639-43C9-87CE-A15DC34F655A}"/>
              </a:ext>
            </a:extLst>
          </p:cNvPr>
          <p:cNvSpPr>
            <a:spLocks noGrp="1"/>
          </p:cNvSpPr>
          <p:nvPr/>
        </p:nvSpPr>
        <p:spPr>
          <a:xfrm>
            <a:off x="8191500" y="4191000"/>
            <a:ext cx="2971800" cy="1371600"/>
          </a:xfrm>
          <a:prstGeom prst="roundRect">
            <a:avLst>
              <a:gd name="adj" fmla="val 4167"/>
            </a:avLst>
          </a:prstGeom>
          <a:solidFill>
            <a:srgbClr val="FFFFFF"/>
          </a:solidFill>
          <a:ln w="9525">
            <a:solidFill>
              <a:srgbClr val="D8E0E7"/>
            </a:solidFill>
            <a:prstDash val="solid"/>
          </a:ln>
        </p:spPr>
      </p:sp>
      <p:sp>
        <p:nvSpPr>
          <p:cNvPr id="26" name="Rectangle 25">
            <a:extLst>
              <a:ext uri="{FF2B5EF4-FFF2-40B4-BE49-F238E27FC236}">
                <a16:creationId xmlns:a16="http://schemas.microsoft.com/office/drawing/2014/main" id="{6531FED3-80BD-4901-9A18-BBD0069C1789}"/>
              </a:ext>
            </a:extLst>
          </p:cNvPr>
          <p:cNvSpPr>
            <a:spLocks noGrp="1"/>
          </p:cNvSpPr>
          <p:nvPr/>
        </p:nvSpPr>
        <p:spPr>
          <a:xfrm>
            <a:off x="8362950" y="4381500"/>
            <a:ext cx="323850" cy="38100"/>
          </a:xfrm>
          <a:prstGeom prst="rect">
            <a:avLst/>
          </a:prstGeom>
          <a:solidFill>
            <a:srgbClr val="F2A541"/>
          </a:solidFill>
          <a:ln w="0">
            <a:noFill/>
            <a:prstDash val="solid"/>
          </a:ln>
        </p:spPr>
      </p:sp>
      <p:sp>
        <p:nvSpPr>
          <p:cNvPr id="27" name="Rectangle 26">
            <a:extLst>
              <a:ext uri="{FF2B5EF4-FFF2-40B4-BE49-F238E27FC236}">
                <a16:creationId xmlns:a16="http://schemas.microsoft.com/office/drawing/2014/main" id="{43375441-E62F-4DE9-AD99-F501359C247D}"/>
              </a:ext>
            </a:extLst>
          </p:cNvPr>
          <p:cNvSpPr>
            <a:spLocks noGrp="1"/>
          </p:cNvSpPr>
          <p:nvPr/>
        </p:nvSpPr>
        <p:spPr>
          <a:xfrm>
            <a:off x="8362950" y="4514850"/>
            <a:ext cx="262890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Deliverable depth</a:t>
            </a:r>
          </a:p>
        </p:txBody>
      </p:sp>
      <p:sp>
        <p:nvSpPr>
          <p:cNvPr id="28" name="Rectangle 27">
            <a:extLst>
              <a:ext uri="{FF2B5EF4-FFF2-40B4-BE49-F238E27FC236}">
                <a16:creationId xmlns:a16="http://schemas.microsoft.com/office/drawing/2014/main" id="{90CFF02D-C58C-4B81-BF63-6DE81AD31380}"/>
              </a:ext>
            </a:extLst>
          </p:cNvPr>
          <p:cNvSpPr>
            <a:spLocks noGrp="1"/>
          </p:cNvSpPr>
          <p:nvPr/>
        </p:nvSpPr>
        <p:spPr>
          <a:xfrm>
            <a:off x="8362950" y="4857750"/>
            <a:ext cx="2628900" cy="5524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Includes PBIX/PDF assets, page previews, chart pack, SQL, notebooks, and final report files.</a:t>
            </a:r>
          </a:p>
        </p:txBody>
      </p:sp>
      <p:sp>
        <p:nvSpPr>
          <p:cNvPr id="29" name="Rectangle 28">
            <a:extLst>
              <a:ext uri="{FF2B5EF4-FFF2-40B4-BE49-F238E27FC236}">
                <a16:creationId xmlns:a16="http://schemas.microsoft.com/office/drawing/2014/main" id="{AF3638B2-5528-47DB-9B62-B6BCF44C9466}"/>
              </a:ext>
            </a:extLst>
          </p:cNvPr>
          <p:cNvSpPr>
            <a:spLocks noGrp="1"/>
          </p:cNvSpPr>
          <p:nvPr/>
        </p:nvSpPr>
        <p:spPr>
          <a:xfrm>
            <a:off x="609600" y="6515100"/>
            <a:ext cx="10972800" cy="9525"/>
          </a:xfrm>
          <a:prstGeom prst="rect">
            <a:avLst/>
          </a:prstGeom>
          <a:solidFill>
            <a:srgbClr val="D8E0E7"/>
          </a:solidFill>
          <a:ln w="0">
            <a:noFill/>
            <a:prstDash val="solid"/>
          </a:ln>
        </p:spPr>
      </p:sp>
      <p:sp>
        <p:nvSpPr>
          <p:cNvPr id="30" name="Rectangle 29">
            <a:extLst>
              <a:ext uri="{FF2B5EF4-FFF2-40B4-BE49-F238E27FC236}">
                <a16:creationId xmlns:a16="http://schemas.microsoft.com/office/drawing/2014/main" id="{B114F1DA-51ED-40EA-AC67-2CACC0550F7F}"/>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31" name="Rectangle 30">
            <a:extLst>
              <a:ext uri="{FF2B5EF4-FFF2-40B4-BE49-F238E27FC236}">
                <a16:creationId xmlns:a16="http://schemas.microsoft.com/office/drawing/2014/main" id="{A3022686-BE76-453C-B0D9-E177D77CADF1}"/>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10</a:t>
            </a:r>
          </a:p>
        </p:txBody>
      </p:sp>
    </p:spTree>
    <p:extLst>
      <p:ext uri="{BB962C8B-B14F-4D97-AF65-F5344CB8AC3E}">
        <p14:creationId xmlns:p14="http://schemas.microsoft.com/office/powerpoint/2010/main" val="357084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1BFED7AA-F7CD-46EB-9863-4B89B26520E3}"/>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EECB548C-B2BA-47A8-B020-DBE56AB6B048}"/>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Skills Demonstrated For HR Review</a:t>
            </a:r>
          </a:p>
        </p:txBody>
      </p:sp>
      <p:sp>
        <p:nvSpPr>
          <p:cNvPr id="3" name="Rectangle 2">
            <a:extLst>
              <a:ext uri="{FF2B5EF4-FFF2-40B4-BE49-F238E27FC236}">
                <a16:creationId xmlns:a16="http://schemas.microsoft.com/office/drawing/2014/main" id="{B03DBFD7-533C-4C29-B818-30904FE5E255}"/>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B547B6EB-5C34-41F8-97E1-1E78AA1F7D41}"/>
              </a:ext>
            </a:extLst>
          </p:cNvPr>
          <p:cNvSpPr>
            <a:spLocks noGrp="1"/>
          </p:cNvSpPr>
          <p:nvPr/>
        </p:nvSpPr>
        <p:spPr>
          <a:xfrm>
            <a:off x="609600" y="1352550"/>
            <a:ext cx="8953500" cy="41910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The project is valuable in an interview setting because it shows practical ownership from data to decision, not a single isolated notebook.</a:t>
            </a:r>
          </a:p>
        </p:txBody>
      </p:sp>
      <p:sp>
        <p:nvSpPr>
          <p:cNvPr id="5" name="Rectangle: Rounded Corners 4">
            <a:extLst>
              <a:ext uri="{FF2B5EF4-FFF2-40B4-BE49-F238E27FC236}">
                <a16:creationId xmlns:a16="http://schemas.microsoft.com/office/drawing/2014/main" id="{6D5F4DD7-70C5-4496-BC8B-83346175B39E}"/>
              </a:ext>
            </a:extLst>
          </p:cNvPr>
          <p:cNvSpPr>
            <a:spLocks noGrp="1"/>
          </p:cNvSpPr>
          <p:nvPr/>
        </p:nvSpPr>
        <p:spPr>
          <a:xfrm>
            <a:off x="781050" y="2152650"/>
            <a:ext cx="3219450" cy="1276350"/>
          </a:xfrm>
          <a:prstGeom prst="roundRect">
            <a:avLst>
              <a:gd name="adj" fmla="val 4478"/>
            </a:avLst>
          </a:prstGeom>
          <a:solidFill>
            <a:srgbClr val="FFFFFF"/>
          </a:solidFill>
          <a:ln w="9525">
            <a:solidFill>
              <a:srgbClr val="D8E0E7"/>
            </a:solidFill>
            <a:prstDash val="solid"/>
          </a:ln>
        </p:spPr>
      </p:sp>
      <p:sp>
        <p:nvSpPr>
          <p:cNvPr id="6" name="Oval 5">
            <a:extLst>
              <a:ext uri="{FF2B5EF4-FFF2-40B4-BE49-F238E27FC236}">
                <a16:creationId xmlns:a16="http://schemas.microsoft.com/office/drawing/2014/main" id="{C0ABBCF0-233C-4274-AEF8-4236ED8DFBE4}"/>
              </a:ext>
            </a:extLst>
          </p:cNvPr>
          <p:cNvSpPr>
            <a:spLocks noGrp="1"/>
          </p:cNvSpPr>
          <p:nvPr/>
        </p:nvSpPr>
        <p:spPr>
          <a:xfrm>
            <a:off x="952500" y="2324100"/>
            <a:ext cx="361950" cy="361950"/>
          </a:xfrm>
          <a:prstGeom prst="ellipse">
            <a:avLst/>
          </a:prstGeom>
          <a:solidFill>
            <a:srgbClr val="0B3D5C"/>
          </a:solidFill>
          <a:ln w="0">
            <a:noFill/>
            <a:prstDash val="solid"/>
          </a:ln>
        </p:spPr>
      </p:sp>
      <p:sp>
        <p:nvSpPr>
          <p:cNvPr id="7" name="Rectangle 6">
            <a:extLst>
              <a:ext uri="{FF2B5EF4-FFF2-40B4-BE49-F238E27FC236}">
                <a16:creationId xmlns:a16="http://schemas.microsoft.com/office/drawing/2014/main" id="{575A5794-8769-4CDC-8350-B5C3D2897995}"/>
              </a:ext>
            </a:extLst>
          </p:cNvPr>
          <p:cNvSpPr>
            <a:spLocks noGrp="1"/>
          </p:cNvSpPr>
          <p:nvPr/>
        </p:nvSpPr>
        <p:spPr>
          <a:xfrm>
            <a:off x="952500" y="237172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A</a:t>
            </a:r>
          </a:p>
        </p:txBody>
      </p:sp>
      <p:sp>
        <p:nvSpPr>
          <p:cNvPr id="8" name="Rectangle 7">
            <a:extLst>
              <a:ext uri="{FF2B5EF4-FFF2-40B4-BE49-F238E27FC236}">
                <a16:creationId xmlns:a16="http://schemas.microsoft.com/office/drawing/2014/main" id="{7BBB34D2-CD9B-4A19-A988-E2AAA7B14817}"/>
              </a:ext>
            </a:extLst>
          </p:cNvPr>
          <p:cNvSpPr>
            <a:spLocks noGrp="1"/>
          </p:cNvSpPr>
          <p:nvPr/>
        </p:nvSpPr>
        <p:spPr>
          <a:xfrm>
            <a:off x="1447800" y="2324100"/>
            <a:ext cx="23812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Data engineering</a:t>
            </a:r>
          </a:p>
        </p:txBody>
      </p:sp>
      <p:sp>
        <p:nvSpPr>
          <p:cNvPr id="9" name="Rectangle 8">
            <a:extLst>
              <a:ext uri="{FF2B5EF4-FFF2-40B4-BE49-F238E27FC236}">
                <a16:creationId xmlns:a16="http://schemas.microsoft.com/office/drawing/2014/main" id="{9783A52F-837F-4D56-8506-80E66A481250}"/>
              </a:ext>
            </a:extLst>
          </p:cNvPr>
          <p:cNvSpPr>
            <a:spLocks noGrp="1"/>
          </p:cNvSpPr>
          <p:nvPr/>
        </p:nvSpPr>
        <p:spPr>
          <a:xfrm>
            <a:off x="1447800" y="2647950"/>
            <a:ext cx="23812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Reusable Python pipeline, source profiling, cleaning rules, SQLite schema, row-count validation, and reproducible runs.</a:t>
            </a:r>
          </a:p>
        </p:txBody>
      </p:sp>
      <p:sp>
        <p:nvSpPr>
          <p:cNvPr id="10" name="Rectangle: Rounded Corners 9">
            <a:extLst>
              <a:ext uri="{FF2B5EF4-FFF2-40B4-BE49-F238E27FC236}">
                <a16:creationId xmlns:a16="http://schemas.microsoft.com/office/drawing/2014/main" id="{3EFFC323-C996-434B-88E4-96EFC0643D45}"/>
              </a:ext>
            </a:extLst>
          </p:cNvPr>
          <p:cNvSpPr>
            <a:spLocks noGrp="1"/>
          </p:cNvSpPr>
          <p:nvPr/>
        </p:nvSpPr>
        <p:spPr>
          <a:xfrm>
            <a:off x="4476750" y="2152650"/>
            <a:ext cx="3219450" cy="1276350"/>
          </a:xfrm>
          <a:prstGeom prst="roundRect">
            <a:avLst>
              <a:gd name="adj" fmla="val 4478"/>
            </a:avLst>
          </a:prstGeom>
          <a:solidFill>
            <a:srgbClr val="FFFFFF"/>
          </a:solidFill>
          <a:ln w="9525">
            <a:solidFill>
              <a:srgbClr val="D8E0E7"/>
            </a:solidFill>
            <a:prstDash val="solid"/>
          </a:ln>
        </p:spPr>
      </p:sp>
      <p:sp>
        <p:nvSpPr>
          <p:cNvPr id="11" name="Oval 10">
            <a:extLst>
              <a:ext uri="{FF2B5EF4-FFF2-40B4-BE49-F238E27FC236}">
                <a16:creationId xmlns:a16="http://schemas.microsoft.com/office/drawing/2014/main" id="{53491A1D-F2D1-460C-BED0-097B7D99E7D0}"/>
              </a:ext>
            </a:extLst>
          </p:cNvPr>
          <p:cNvSpPr>
            <a:spLocks noGrp="1"/>
          </p:cNvSpPr>
          <p:nvPr/>
        </p:nvSpPr>
        <p:spPr>
          <a:xfrm>
            <a:off x="4648200" y="2324100"/>
            <a:ext cx="361950" cy="361950"/>
          </a:xfrm>
          <a:prstGeom prst="ellipse">
            <a:avLst/>
          </a:prstGeom>
          <a:solidFill>
            <a:srgbClr val="00866E"/>
          </a:solidFill>
          <a:ln w="0">
            <a:noFill/>
            <a:prstDash val="solid"/>
          </a:ln>
        </p:spPr>
      </p:sp>
      <p:sp>
        <p:nvSpPr>
          <p:cNvPr id="12" name="Rectangle 11">
            <a:extLst>
              <a:ext uri="{FF2B5EF4-FFF2-40B4-BE49-F238E27FC236}">
                <a16:creationId xmlns:a16="http://schemas.microsoft.com/office/drawing/2014/main" id="{7E1D1CE7-A0EF-40C9-A9B2-F922B9A4CE6D}"/>
              </a:ext>
            </a:extLst>
          </p:cNvPr>
          <p:cNvSpPr>
            <a:spLocks noGrp="1"/>
          </p:cNvSpPr>
          <p:nvPr/>
        </p:nvSpPr>
        <p:spPr>
          <a:xfrm>
            <a:off x="4648200" y="237172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B</a:t>
            </a:r>
          </a:p>
        </p:txBody>
      </p:sp>
      <p:sp>
        <p:nvSpPr>
          <p:cNvPr id="13" name="Rectangle 12">
            <a:extLst>
              <a:ext uri="{FF2B5EF4-FFF2-40B4-BE49-F238E27FC236}">
                <a16:creationId xmlns:a16="http://schemas.microsoft.com/office/drawing/2014/main" id="{0C0724FA-FC71-425C-8BDA-1C2D37EF0927}"/>
              </a:ext>
            </a:extLst>
          </p:cNvPr>
          <p:cNvSpPr>
            <a:spLocks noGrp="1"/>
          </p:cNvSpPr>
          <p:nvPr/>
        </p:nvSpPr>
        <p:spPr>
          <a:xfrm>
            <a:off x="5143500" y="2324100"/>
            <a:ext cx="23812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Analytics thinking</a:t>
            </a:r>
          </a:p>
        </p:txBody>
      </p:sp>
      <p:sp>
        <p:nvSpPr>
          <p:cNvPr id="14" name="Rectangle 13">
            <a:extLst>
              <a:ext uri="{FF2B5EF4-FFF2-40B4-BE49-F238E27FC236}">
                <a16:creationId xmlns:a16="http://schemas.microsoft.com/office/drawing/2014/main" id="{D724CBF8-CC7E-40C6-BA5D-B5D429319110}"/>
              </a:ext>
            </a:extLst>
          </p:cNvPr>
          <p:cNvSpPr>
            <a:spLocks noGrp="1"/>
          </p:cNvSpPr>
          <p:nvPr/>
        </p:nvSpPr>
        <p:spPr>
          <a:xfrm>
            <a:off x="5143500" y="2647950"/>
            <a:ext cx="23812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Metric design across CAGR, Sharpe, Sortino, alpha, beta, VaR, CVaR, drawdown, tracking error, and HHI.</a:t>
            </a:r>
          </a:p>
        </p:txBody>
      </p:sp>
      <p:sp>
        <p:nvSpPr>
          <p:cNvPr id="15" name="Rectangle: Rounded Corners 14">
            <a:extLst>
              <a:ext uri="{FF2B5EF4-FFF2-40B4-BE49-F238E27FC236}">
                <a16:creationId xmlns:a16="http://schemas.microsoft.com/office/drawing/2014/main" id="{940AFF34-6739-4921-873B-46A00B1249C7}"/>
              </a:ext>
            </a:extLst>
          </p:cNvPr>
          <p:cNvSpPr>
            <a:spLocks noGrp="1"/>
          </p:cNvSpPr>
          <p:nvPr/>
        </p:nvSpPr>
        <p:spPr>
          <a:xfrm>
            <a:off x="8172450" y="2152650"/>
            <a:ext cx="3219450" cy="1276350"/>
          </a:xfrm>
          <a:prstGeom prst="roundRect">
            <a:avLst>
              <a:gd name="adj" fmla="val 4478"/>
            </a:avLst>
          </a:prstGeom>
          <a:solidFill>
            <a:srgbClr val="FFFFFF"/>
          </a:solidFill>
          <a:ln w="9525">
            <a:solidFill>
              <a:srgbClr val="D8E0E7"/>
            </a:solidFill>
            <a:prstDash val="solid"/>
          </a:ln>
        </p:spPr>
      </p:sp>
      <p:sp>
        <p:nvSpPr>
          <p:cNvPr id="16" name="Oval 15">
            <a:extLst>
              <a:ext uri="{FF2B5EF4-FFF2-40B4-BE49-F238E27FC236}">
                <a16:creationId xmlns:a16="http://schemas.microsoft.com/office/drawing/2014/main" id="{8A71C715-5C3F-4604-A829-7CD07E1172D5}"/>
              </a:ext>
            </a:extLst>
          </p:cNvPr>
          <p:cNvSpPr>
            <a:spLocks noGrp="1"/>
          </p:cNvSpPr>
          <p:nvPr/>
        </p:nvSpPr>
        <p:spPr>
          <a:xfrm>
            <a:off x="8343900" y="2324100"/>
            <a:ext cx="361950" cy="361950"/>
          </a:xfrm>
          <a:prstGeom prst="ellipse">
            <a:avLst/>
          </a:prstGeom>
          <a:solidFill>
            <a:srgbClr val="F2A541"/>
          </a:solidFill>
          <a:ln w="0">
            <a:noFill/>
            <a:prstDash val="solid"/>
          </a:ln>
        </p:spPr>
      </p:sp>
      <p:sp>
        <p:nvSpPr>
          <p:cNvPr id="17" name="Rectangle 16">
            <a:extLst>
              <a:ext uri="{FF2B5EF4-FFF2-40B4-BE49-F238E27FC236}">
                <a16:creationId xmlns:a16="http://schemas.microsoft.com/office/drawing/2014/main" id="{3FF65818-001F-4701-85E9-7FC38722ACC3}"/>
              </a:ext>
            </a:extLst>
          </p:cNvPr>
          <p:cNvSpPr>
            <a:spLocks noGrp="1"/>
          </p:cNvSpPr>
          <p:nvPr/>
        </p:nvSpPr>
        <p:spPr>
          <a:xfrm>
            <a:off x="8343900" y="237172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C</a:t>
            </a:r>
          </a:p>
        </p:txBody>
      </p:sp>
      <p:sp>
        <p:nvSpPr>
          <p:cNvPr id="18" name="Rectangle 17">
            <a:extLst>
              <a:ext uri="{FF2B5EF4-FFF2-40B4-BE49-F238E27FC236}">
                <a16:creationId xmlns:a16="http://schemas.microsoft.com/office/drawing/2014/main" id="{25C8CF25-E7D9-4561-86DC-2C9059807183}"/>
              </a:ext>
            </a:extLst>
          </p:cNvPr>
          <p:cNvSpPr>
            <a:spLocks noGrp="1"/>
          </p:cNvSpPr>
          <p:nvPr/>
        </p:nvSpPr>
        <p:spPr>
          <a:xfrm>
            <a:off x="8839200" y="2324100"/>
            <a:ext cx="23812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BI storytelling</a:t>
            </a:r>
          </a:p>
        </p:txBody>
      </p:sp>
      <p:sp>
        <p:nvSpPr>
          <p:cNvPr id="19" name="Rectangle 18">
            <a:extLst>
              <a:ext uri="{FF2B5EF4-FFF2-40B4-BE49-F238E27FC236}">
                <a16:creationId xmlns:a16="http://schemas.microsoft.com/office/drawing/2014/main" id="{61F49E69-A1E1-4C2B-80DA-3654FFF1CFDE}"/>
              </a:ext>
            </a:extLst>
          </p:cNvPr>
          <p:cNvSpPr>
            <a:spLocks noGrp="1"/>
          </p:cNvSpPr>
          <p:nvPr/>
        </p:nvSpPr>
        <p:spPr>
          <a:xfrm>
            <a:off x="8839200" y="2647950"/>
            <a:ext cx="23812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Four-page dashboard blueprint with executive, performance, investor, and market trend views.</a:t>
            </a:r>
          </a:p>
        </p:txBody>
      </p:sp>
      <p:sp>
        <p:nvSpPr>
          <p:cNvPr id="20" name="Rectangle: Rounded Corners 19">
            <a:extLst>
              <a:ext uri="{FF2B5EF4-FFF2-40B4-BE49-F238E27FC236}">
                <a16:creationId xmlns:a16="http://schemas.microsoft.com/office/drawing/2014/main" id="{66C22942-9F4B-4BB0-AB21-759D21F1904D}"/>
              </a:ext>
            </a:extLst>
          </p:cNvPr>
          <p:cNvSpPr>
            <a:spLocks noGrp="1"/>
          </p:cNvSpPr>
          <p:nvPr/>
        </p:nvSpPr>
        <p:spPr>
          <a:xfrm>
            <a:off x="2667000" y="4267200"/>
            <a:ext cx="3219450" cy="1276350"/>
          </a:xfrm>
          <a:prstGeom prst="roundRect">
            <a:avLst>
              <a:gd name="adj" fmla="val 4478"/>
            </a:avLst>
          </a:prstGeom>
          <a:solidFill>
            <a:srgbClr val="FFFFFF"/>
          </a:solidFill>
          <a:ln w="9525">
            <a:solidFill>
              <a:srgbClr val="D8E0E7"/>
            </a:solidFill>
            <a:prstDash val="solid"/>
          </a:ln>
        </p:spPr>
      </p:sp>
      <p:sp>
        <p:nvSpPr>
          <p:cNvPr id="21" name="Oval 20">
            <a:extLst>
              <a:ext uri="{FF2B5EF4-FFF2-40B4-BE49-F238E27FC236}">
                <a16:creationId xmlns:a16="http://schemas.microsoft.com/office/drawing/2014/main" id="{3508ECB4-66DA-4AAE-8951-F781525AA025}"/>
              </a:ext>
            </a:extLst>
          </p:cNvPr>
          <p:cNvSpPr>
            <a:spLocks noGrp="1"/>
          </p:cNvSpPr>
          <p:nvPr/>
        </p:nvSpPr>
        <p:spPr>
          <a:xfrm>
            <a:off x="2838450" y="4438650"/>
            <a:ext cx="361950" cy="361950"/>
          </a:xfrm>
          <a:prstGeom prst="ellipse">
            <a:avLst/>
          </a:prstGeom>
          <a:solidFill>
            <a:srgbClr val="D1495B"/>
          </a:solidFill>
          <a:ln w="0">
            <a:noFill/>
            <a:prstDash val="solid"/>
          </a:ln>
        </p:spPr>
      </p:sp>
      <p:sp>
        <p:nvSpPr>
          <p:cNvPr id="22" name="Rectangle 21">
            <a:extLst>
              <a:ext uri="{FF2B5EF4-FFF2-40B4-BE49-F238E27FC236}">
                <a16:creationId xmlns:a16="http://schemas.microsoft.com/office/drawing/2014/main" id="{A49B59BA-A3F3-48D7-B29C-13E3D9CC2629}"/>
              </a:ext>
            </a:extLst>
          </p:cNvPr>
          <p:cNvSpPr>
            <a:spLocks noGrp="1"/>
          </p:cNvSpPr>
          <p:nvPr/>
        </p:nvSpPr>
        <p:spPr>
          <a:xfrm>
            <a:off x="2838450" y="448627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D</a:t>
            </a:r>
          </a:p>
        </p:txBody>
      </p:sp>
      <p:sp>
        <p:nvSpPr>
          <p:cNvPr id="23" name="Rectangle 22">
            <a:extLst>
              <a:ext uri="{FF2B5EF4-FFF2-40B4-BE49-F238E27FC236}">
                <a16:creationId xmlns:a16="http://schemas.microsoft.com/office/drawing/2014/main" id="{24036DE9-72FD-4CC7-85BC-3661CA2138E4}"/>
              </a:ext>
            </a:extLst>
          </p:cNvPr>
          <p:cNvSpPr>
            <a:spLocks noGrp="1"/>
          </p:cNvSpPr>
          <p:nvPr/>
        </p:nvSpPr>
        <p:spPr>
          <a:xfrm>
            <a:off x="3333750" y="4438650"/>
            <a:ext cx="23812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Communication</a:t>
            </a:r>
          </a:p>
        </p:txBody>
      </p:sp>
      <p:sp>
        <p:nvSpPr>
          <p:cNvPr id="24" name="Rectangle 23">
            <a:extLst>
              <a:ext uri="{FF2B5EF4-FFF2-40B4-BE49-F238E27FC236}">
                <a16:creationId xmlns:a16="http://schemas.microsoft.com/office/drawing/2014/main" id="{0C3546AA-C77E-4CBD-9362-F42A554EE54A}"/>
              </a:ext>
            </a:extLst>
          </p:cNvPr>
          <p:cNvSpPr>
            <a:spLocks noGrp="1"/>
          </p:cNvSpPr>
          <p:nvPr/>
        </p:nvSpPr>
        <p:spPr>
          <a:xfrm>
            <a:off x="3333750" y="4762500"/>
            <a:ext cx="23812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Final report, presentation outline, chart map, data dictionary, dashboard screenshots, and submission README.</a:t>
            </a:r>
          </a:p>
        </p:txBody>
      </p:sp>
      <p:sp>
        <p:nvSpPr>
          <p:cNvPr id="25" name="Rectangle: Rounded Corners 24">
            <a:extLst>
              <a:ext uri="{FF2B5EF4-FFF2-40B4-BE49-F238E27FC236}">
                <a16:creationId xmlns:a16="http://schemas.microsoft.com/office/drawing/2014/main" id="{B487C4C0-83A7-4066-9204-B0C54711D934}"/>
              </a:ext>
            </a:extLst>
          </p:cNvPr>
          <p:cNvSpPr>
            <a:spLocks noGrp="1"/>
          </p:cNvSpPr>
          <p:nvPr/>
        </p:nvSpPr>
        <p:spPr>
          <a:xfrm>
            <a:off x="6343650" y="4267200"/>
            <a:ext cx="3219450" cy="1276350"/>
          </a:xfrm>
          <a:prstGeom prst="roundRect">
            <a:avLst>
              <a:gd name="adj" fmla="val 4478"/>
            </a:avLst>
          </a:prstGeom>
          <a:solidFill>
            <a:srgbClr val="FFFFFF"/>
          </a:solidFill>
          <a:ln w="9525">
            <a:solidFill>
              <a:srgbClr val="D8E0E7"/>
            </a:solidFill>
            <a:prstDash val="solid"/>
          </a:ln>
        </p:spPr>
      </p:sp>
      <p:sp>
        <p:nvSpPr>
          <p:cNvPr id="26" name="Oval 25">
            <a:extLst>
              <a:ext uri="{FF2B5EF4-FFF2-40B4-BE49-F238E27FC236}">
                <a16:creationId xmlns:a16="http://schemas.microsoft.com/office/drawing/2014/main" id="{BD95134E-8166-4FED-94F0-EB4C2EEA3601}"/>
              </a:ext>
            </a:extLst>
          </p:cNvPr>
          <p:cNvSpPr>
            <a:spLocks noGrp="1"/>
          </p:cNvSpPr>
          <p:nvPr/>
        </p:nvSpPr>
        <p:spPr>
          <a:xfrm>
            <a:off x="6515100" y="4438650"/>
            <a:ext cx="361950" cy="361950"/>
          </a:xfrm>
          <a:prstGeom prst="ellipse">
            <a:avLst/>
          </a:prstGeom>
          <a:solidFill>
            <a:srgbClr val="0B3D5C"/>
          </a:solidFill>
          <a:ln w="0">
            <a:noFill/>
            <a:prstDash val="solid"/>
          </a:ln>
        </p:spPr>
      </p:sp>
      <p:sp>
        <p:nvSpPr>
          <p:cNvPr id="27" name="Rectangle 26">
            <a:extLst>
              <a:ext uri="{FF2B5EF4-FFF2-40B4-BE49-F238E27FC236}">
                <a16:creationId xmlns:a16="http://schemas.microsoft.com/office/drawing/2014/main" id="{0B308796-1D30-4C78-9C64-575783119318}"/>
              </a:ext>
            </a:extLst>
          </p:cNvPr>
          <p:cNvSpPr>
            <a:spLocks noGrp="1"/>
          </p:cNvSpPr>
          <p:nvPr/>
        </p:nvSpPr>
        <p:spPr>
          <a:xfrm>
            <a:off x="6515100" y="4486275"/>
            <a:ext cx="361950" cy="228600"/>
          </a:xfrm>
          <a:prstGeom prst="rect">
            <a:avLst/>
          </a:prstGeom>
          <a:noFill/>
          <a:ln w="0">
            <a:noFill/>
            <a:prstDash val="solid"/>
          </a:ln>
        </p:spPr>
        <p:txBody>
          <a:bodyPr lIns="0" tIns="0" rIns="0" bIns="0" anchor="t"/>
          <a:lstStyle/>
          <a:p>
            <a:pPr algn="ctr">
              <a:defRPr sz="1350" b="1">
                <a:solidFill>
                  <a:srgbClr val="FFFFFF"/>
                </a:solidFill>
                <a:latin typeface="Aptos"/>
                <a:ea typeface="Aptos"/>
                <a:cs typeface="Aptos"/>
              </a:defRPr>
            </a:pPr>
            <a:r>
              <a:rPr sz="1350" b="1">
                <a:solidFill>
                  <a:srgbClr val="FFFFFF"/>
                </a:solidFill>
                <a:latin typeface="Aptos"/>
                <a:ea typeface="Aptos"/>
                <a:cs typeface="Aptos"/>
              </a:rPr>
              <a:t>E</a:t>
            </a:r>
          </a:p>
        </p:txBody>
      </p:sp>
      <p:sp>
        <p:nvSpPr>
          <p:cNvPr id="28" name="Rectangle 27">
            <a:extLst>
              <a:ext uri="{FF2B5EF4-FFF2-40B4-BE49-F238E27FC236}">
                <a16:creationId xmlns:a16="http://schemas.microsoft.com/office/drawing/2014/main" id="{051C7F17-F4C0-4D36-B6C7-3C048E1E0261}"/>
              </a:ext>
            </a:extLst>
          </p:cNvPr>
          <p:cNvSpPr>
            <a:spLocks noGrp="1"/>
          </p:cNvSpPr>
          <p:nvPr/>
        </p:nvSpPr>
        <p:spPr>
          <a:xfrm>
            <a:off x="7010400" y="4438650"/>
            <a:ext cx="2381250" cy="285750"/>
          </a:xfrm>
          <a:prstGeom prst="rect">
            <a:avLst/>
          </a:prstGeom>
          <a:noFill/>
          <a:ln w="0">
            <a:noFill/>
            <a:prstDash val="solid"/>
          </a:ln>
        </p:spPr>
        <p:txBody>
          <a:bodyPr lIns="0" tIns="0" rIns="0" bIns="0" anchor="t"/>
          <a:lstStyle/>
          <a:p>
            <a:pPr algn="l">
              <a:defRPr sz="1425" b="1">
                <a:solidFill>
                  <a:srgbClr val="17202A"/>
                </a:solidFill>
                <a:latin typeface="Aptos"/>
                <a:ea typeface="Aptos"/>
                <a:cs typeface="Aptos"/>
              </a:defRPr>
            </a:pPr>
            <a:r>
              <a:rPr sz="1425" b="1">
                <a:solidFill>
                  <a:srgbClr val="17202A"/>
                </a:solidFill>
                <a:latin typeface="Aptos"/>
                <a:ea typeface="Aptos"/>
                <a:cs typeface="Aptos"/>
              </a:rPr>
              <a:t>Business judgment</a:t>
            </a:r>
          </a:p>
        </p:txBody>
      </p:sp>
      <p:sp>
        <p:nvSpPr>
          <p:cNvPr id="29" name="Rectangle 28">
            <a:extLst>
              <a:ext uri="{FF2B5EF4-FFF2-40B4-BE49-F238E27FC236}">
                <a16:creationId xmlns:a16="http://schemas.microsoft.com/office/drawing/2014/main" id="{5F6D5771-1952-44E5-B27D-C596DF32FCE5}"/>
              </a:ext>
            </a:extLst>
          </p:cNvPr>
          <p:cNvSpPr>
            <a:spLocks noGrp="1"/>
          </p:cNvSpPr>
          <p:nvPr/>
        </p:nvSpPr>
        <p:spPr>
          <a:xfrm>
            <a:off x="7010400" y="4762500"/>
            <a:ext cx="2381250" cy="6096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Fund selection scorecard, risk-appetite recommender, limitations, and next-step recommendations.</a:t>
            </a:r>
          </a:p>
        </p:txBody>
      </p:sp>
      <p:sp>
        <p:nvSpPr>
          <p:cNvPr id="30" name="Rectangle 29">
            <a:extLst>
              <a:ext uri="{FF2B5EF4-FFF2-40B4-BE49-F238E27FC236}">
                <a16:creationId xmlns:a16="http://schemas.microsoft.com/office/drawing/2014/main" id="{FF26C35A-28F1-433E-A276-F320BB713749}"/>
              </a:ext>
            </a:extLst>
          </p:cNvPr>
          <p:cNvSpPr>
            <a:spLocks noGrp="1"/>
          </p:cNvSpPr>
          <p:nvPr/>
        </p:nvSpPr>
        <p:spPr>
          <a:xfrm>
            <a:off x="609600" y="6515100"/>
            <a:ext cx="10972800" cy="9525"/>
          </a:xfrm>
          <a:prstGeom prst="rect">
            <a:avLst/>
          </a:prstGeom>
          <a:solidFill>
            <a:srgbClr val="D8E0E7"/>
          </a:solidFill>
          <a:ln w="0">
            <a:noFill/>
            <a:prstDash val="solid"/>
          </a:ln>
        </p:spPr>
      </p:sp>
      <p:sp>
        <p:nvSpPr>
          <p:cNvPr id="31" name="Rectangle 30">
            <a:extLst>
              <a:ext uri="{FF2B5EF4-FFF2-40B4-BE49-F238E27FC236}">
                <a16:creationId xmlns:a16="http://schemas.microsoft.com/office/drawing/2014/main" id="{0D82854C-5C57-4A60-A5E7-AAFBF6F1F676}"/>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32" name="Rectangle 31">
            <a:extLst>
              <a:ext uri="{FF2B5EF4-FFF2-40B4-BE49-F238E27FC236}">
                <a16:creationId xmlns:a16="http://schemas.microsoft.com/office/drawing/2014/main" id="{8A2B4283-9BA3-438A-9C14-872E9422329F}"/>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11</a:t>
            </a:r>
          </a:p>
        </p:txBody>
      </p:sp>
    </p:spTree>
    <p:extLst>
      <p:ext uri="{BB962C8B-B14F-4D97-AF65-F5344CB8AC3E}">
        <p14:creationId xmlns:p14="http://schemas.microsoft.com/office/powerpoint/2010/main" val="91301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790CBE22-1A68-4CB9-B039-6D8C18B5F9FE}"/>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B626C7C8-7627-4228-B4BA-5FA7454E69A5}"/>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Python Files And Outputs</a:t>
            </a:r>
          </a:p>
        </p:txBody>
      </p:sp>
      <p:sp>
        <p:nvSpPr>
          <p:cNvPr id="3" name="Rectangle 2">
            <a:extLst>
              <a:ext uri="{FF2B5EF4-FFF2-40B4-BE49-F238E27FC236}">
                <a16:creationId xmlns:a16="http://schemas.microsoft.com/office/drawing/2014/main" id="{187378BA-3F44-467D-B946-86D16E51A77B}"/>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D164B429-B4E2-411F-9C80-64700D140A32}"/>
              </a:ext>
            </a:extLst>
          </p:cNvPr>
          <p:cNvSpPr>
            <a:spLocks noGrp="1"/>
          </p:cNvSpPr>
          <p:nvPr/>
        </p:nvSpPr>
        <p:spPr>
          <a:xfrm>
            <a:off x="609600" y="1352550"/>
            <a:ext cx="9048750" cy="41910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This section makes the code output explicit: each Python file writes a clear reviewable artifact, not just internal calculations.</a:t>
            </a:r>
          </a:p>
        </p:txBody>
      </p:sp>
      <p:sp>
        <p:nvSpPr>
          <p:cNvPr id="5" name="Rectangle 4">
            <a:extLst>
              <a:ext uri="{FF2B5EF4-FFF2-40B4-BE49-F238E27FC236}">
                <a16:creationId xmlns:a16="http://schemas.microsoft.com/office/drawing/2014/main" id="{7390EF03-3731-4709-BFC1-C629DF44CA30}"/>
              </a:ext>
            </a:extLst>
          </p:cNvPr>
          <p:cNvSpPr>
            <a:spLocks noGrp="1"/>
          </p:cNvSpPr>
          <p:nvPr/>
        </p:nvSpPr>
        <p:spPr>
          <a:xfrm>
            <a:off x="1314450" y="2019300"/>
            <a:ext cx="180975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PYTHON FILE</a:t>
            </a:r>
          </a:p>
        </p:txBody>
      </p:sp>
      <p:sp>
        <p:nvSpPr>
          <p:cNvPr id="6" name="Rectangle 5">
            <a:extLst>
              <a:ext uri="{FF2B5EF4-FFF2-40B4-BE49-F238E27FC236}">
                <a16:creationId xmlns:a16="http://schemas.microsoft.com/office/drawing/2014/main" id="{9141141F-643F-4D79-B9E3-BC9670AF1F31}"/>
              </a:ext>
            </a:extLst>
          </p:cNvPr>
          <p:cNvSpPr>
            <a:spLocks noGrp="1"/>
          </p:cNvSpPr>
          <p:nvPr/>
        </p:nvSpPr>
        <p:spPr>
          <a:xfrm>
            <a:off x="3257550" y="2019300"/>
            <a:ext cx="2667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PURPOSE</a:t>
            </a:r>
          </a:p>
        </p:txBody>
      </p:sp>
      <p:sp>
        <p:nvSpPr>
          <p:cNvPr id="7" name="Rectangle 6">
            <a:extLst>
              <a:ext uri="{FF2B5EF4-FFF2-40B4-BE49-F238E27FC236}">
                <a16:creationId xmlns:a16="http://schemas.microsoft.com/office/drawing/2014/main" id="{EFF7582B-7400-43E1-9B35-B7DB7BC960F3}"/>
              </a:ext>
            </a:extLst>
          </p:cNvPr>
          <p:cNvSpPr>
            <a:spLocks noGrp="1"/>
          </p:cNvSpPr>
          <p:nvPr/>
        </p:nvSpPr>
        <p:spPr>
          <a:xfrm>
            <a:off x="6419850" y="2019300"/>
            <a:ext cx="43815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OUTPUT GENERATED</a:t>
            </a:r>
          </a:p>
        </p:txBody>
      </p:sp>
      <p:sp>
        <p:nvSpPr>
          <p:cNvPr id="8" name="Rectangle: Rounded Corners 7">
            <a:extLst>
              <a:ext uri="{FF2B5EF4-FFF2-40B4-BE49-F238E27FC236}">
                <a16:creationId xmlns:a16="http://schemas.microsoft.com/office/drawing/2014/main" id="{0098DD1C-BCAB-43DF-8C52-C860C7AFEF75}"/>
              </a:ext>
            </a:extLst>
          </p:cNvPr>
          <p:cNvSpPr>
            <a:spLocks noGrp="1"/>
          </p:cNvSpPr>
          <p:nvPr/>
        </p:nvSpPr>
        <p:spPr>
          <a:xfrm>
            <a:off x="685800" y="2324100"/>
            <a:ext cx="10820400" cy="723900"/>
          </a:xfrm>
          <a:prstGeom prst="roundRect">
            <a:avLst>
              <a:gd name="adj" fmla="val 7895"/>
            </a:avLst>
          </a:prstGeom>
          <a:solidFill>
            <a:srgbClr val="FFFFFF"/>
          </a:solidFill>
          <a:ln w="9525">
            <a:solidFill>
              <a:srgbClr val="D8E0E7"/>
            </a:solidFill>
            <a:prstDash val="solid"/>
          </a:ln>
        </p:spPr>
      </p:sp>
      <p:sp>
        <p:nvSpPr>
          <p:cNvPr id="9" name="Oval 8">
            <a:extLst>
              <a:ext uri="{FF2B5EF4-FFF2-40B4-BE49-F238E27FC236}">
                <a16:creationId xmlns:a16="http://schemas.microsoft.com/office/drawing/2014/main" id="{28446245-9D69-4C8F-B7B3-9395A1D48717}"/>
              </a:ext>
            </a:extLst>
          </p:cNvPr>
          <p:cNvSpPr>
            <a:spLocks noGrp="1"/>
          </p:cNvSpPr>
          <p:nvPr/>
        </p:nvSpPr>
        <p:spPr>
          <a:xfrm>
            <a:off x="819150" y="2495550"/>
            <a:ext cx="323850" cy="323850"/>
          </a:xfrm>
          <a:prstGeom prst="ellipse">
            <a:avLst/>
          </a:prstGeom>
          <a:solidFill>
            <a:srgbClr val="0B3D5C"/>
          </a:solidFill>
          <a:ln w="0">
            <a:noFill/>
            <a:prstDash val="solid"/>
          </a:ln>
        </p:spPr>
      </p:sp>
      <p:sp>
        <p:nvSpPr>
          <p:cNvPr id="10" name="Rectangle 9">
            <a:extLst>
              <a:ext uri="{FF2B5EF4-FFF2-40B4-BE49-F238E27FC236}">
                <a16:creationId xmlns:a16="http://schemas.microsoft.com/office/drawing/2014/main" id="{2BBDA15E-326D-4BE3-A620-D4A0FDE9C98F}"/>
              </a:ext>
            </a:extLst>
          </p:cNvPr>
          <p:cNvSpPr>
            <a:spLocks noGrp="1"/>
          </p:cNvSpPr>
          <p:nvPr/>
        </p:nvSpPr>
        <p:spPr>
          <a:xfrm>
            <a:off x="819150" y="2543175"/>
            <a:ext cx="323850" cy="209550"/>
          </a:xfrm>
          <a:prstGeom prst="rect">
            <a:avLst/>
          </a:prstGeom>
          <a:noFill/>
          <a:ln w="0">
            <a:no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11" name="Rectangle 10">
            <a:extLst>
              <a:ext uri="{FF2B5EF4-FFF2-40B4-BE49-F238E27FC236}">
                <a16:creationId xmlns:a16="http://schemas.microsoft.com/office/drawing/2014/main" id="{4C55EF26-DCE8-4E11-B4FE-05D989217F5F}"/>
              </a:ext>
            </a:extLst>
          </p:cNvPr>
          <p:cNvSpPr>
            <a:spLocks noGrp="1"/>
          </p:cNvSpPr>
          <p:nvPr/>
        </p:nvSpPr>
        <p:spPr>
          <a:xfrm>
            <a:off x="1276350" y="2457450"/>
            <a:ext cx="1809750" cy="495300"/>
          </a:xfrm>
          <a:prstGeom prst="rect">
            <a:avLst/>
          </a:prstGeom>
          <a:noFill/>
          <a:ln w="0">
            <a:noFill/>
            <a:prstDash val="solid"/>
          </a:ln>
        </p:spPr>
        <p:txBody>
          <a:bodyPr lIns="0" tIns="0" rIns="0" bIns="0" anchor="t"/>
          <a:lstStyle/>
          <a:p>
            <a:pPr algn="l">
              <a:defRPr sz="1275" b="1">
                <a:solidFill>
                  <a:srgbClr val="17202A"/>
                </a:solidFill>
                <a:latin typeface="Aptos Mono"/>
                <a:ea typeface="Aptos Mono"/>
                <a:cs typeface="Aptos Mono"/>
              </a:defRPr>
            </a:pPr>
            <a:r>
              <a:rPr sz="1275" b="1">
                <a:solidFill>
                  <a:srgbClr val="17202A"/>
                </a:solidFill>
                <a:latin typeface="Aptos Mono"/>
                <a:ea typeface="Aptos Mono"/>
                <a:cs typeface="Aptos Mono"/>
              </a:rPr>
              <a:t>run_pipeline.py</a:t>
            </a:r>
          </a:p>
        </p:txBody>
      </p:sp>
      <p:sp>
        <p:nvSpPr>
          <p:cNvPr id="12" name="Rectangle 11">
            <a:extLst>
              <a:ext uri="{FF2B5EF4-FFF2-40B4-BE49-F238E27FC236}">
                <a16:creationId xmlns:a16="http://schemas.microsoft.com/office/drawing/2014/main" id="{DA040498-5F04-442C-80F2-999381DAAE93}"/>
              </a:ext>
            </a:extLst>
          </p:cNvPr>
          <p:cNvSpPr>
            <a:spLocks noGrp="1"/>
          </p:cNvSpPr>
          <p:nvPr/>
        </p:nvSpPr>
        <p:spPr>
          <a:xfrm>
            <a:off x="3257550" y="2457450"/>
            <a:ext cx="2971800" cy="4953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Master runner that executes the full project flow in order.</a:t>
            </a:r>
          </a:p>
        </p:txBody>
      </p:sp>
      <p:sp>
        <p:nvSpPr>
          <p:cNvPr id="13" name="Rectangle 12">
            <a:extLst>
              <a:ext uri="{FF2B5EF4-FFF2-40B4-BE49-F238E27FC236}">
                <a16:creationId xmlns:a16="http://schemas.microsoft.com/office/drawing/2014/main" id="{7170374B-1ABC-4676-AC4B-8A070E92308F}"/>
              </a:ext>
            </a:extLst>
          </p:cNvPr>
          <p:cNvSpPr>
            <a:spLocks noGrp="1"/>
          </p:cNvSpPr>
          <p:nvPr/>
        </p:nvSpPr>
        <p:spPr>
          <a:xfrm>
            <a:off x="6438900" y="2457450"/>
            <a:ext cx="4857750" cy="4953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Profiles data, cleans/loads SQLite, computes metrics, generates charts, creates notebooks and report starters.</a:t>
            </a:r>
          </a:p>
        </p:txBody>
      </p:sp>
      <p:sp>
        <p:nvSpPr>
          <p:cNvPr id="14" name="Rectangle: Rounded Corners 13">
            <a:extLst>
              <a:ext uri="{FF2B5EF4-FFF2-40B4-BE49-F238E27FC236}">
                <a16:creationId xmlns:a16="http://schemas.microsoft.com/office/drawing/2014/main" id="{A7A360C8-17C2-4764-BA52-1B1DE2920C85}"/>
              </a:ext>
            </a:extLst>
          </p:cNvPr>
          <p:cNvSpPr>
            <a:spLocks noGrp="1"/>
          </p:cNvSpPr>
          <p:nvPr/>
        </p:nvSpPr>
        <p:spPr>
          <a:xfrm>
            <a:off x="685800" y="3181350"/>
            <a:ext cx="10820400" cy="819150"/>
          </a:xfrm>
          <a:prstGeom prst="roundRect">
            <a:avLst>
              <a:gd name="adj" fmla="val 6977"/>
            </a:avLst>
          </a:prstGeom>
          <a:solidFill>
            <a:srgbClr val="FFFFFF"/>
          </a:solidFill>
          <a:ln w="9525">
            <a:solidFill>
              <a:srgbClr val="D8E0E7"/>
            </a:solidFill>
            <a:prstDash val="solid"/>
          </a:ln>
        </p:spPr>
      </p:sp>
      <p:sp>
        <p:nvSpPr>
          <p:cNvPr id="15" name="Oval 14">
            <a:extLst>
              <a:ext uri="{FF2B5EF4-FFF2-40B4-BE49-F238E27FC236}">
                <a16:creationId xmlns:a16="http://schemas.microsoft.com/office/drawing/2014/main" id="{92E7A997-8E34-4E20-AD18-F05459AF8718}"/>
              </a:ext>
            </a:extLst>
          </p:cNvPr>
          <p:cNvSpPr>
            <a:spLocks noGrp="1"/>
          </p:cNvSpPr>
          <p:nvPr/>
        </p:nvSpPr>
        <p:spPr>
          <a:xfrm>
            <a:off x="819150" y="3352800"/>
            <a:ext cx="323850" cy="323850"/>
          </a:xfrm>
          <a:prstGeom prst="ellipse">
            <a:avLst/>
          </a:prstGeom>
          <a:solidFill>
            <a:srgbClr val="00866E"/>
          </a:solidFill>
          <a:ln w="0">
            <a:noFill/>
            <a:prstDash val="solid"/>
          </a:ln>
        </p:spPr>
      </p:sp>
      <p:sp>
        <p:nvSpPr>
          <p:cNvPr id="16" name="Rectangle 15">
            <a:extLst>
              <a:ext uri="{FF2B5EF4-FFF2-40B4-BE49-F238E27FC236}">
                <a16:creationId xmlns:a16="http://schemas.microsoft.com/office/drawing/2014/main" id="{860085CA-A135-4445-AB5D-01067CA383D3}"/>
              </a:ext>
            </a:extLst>
          </p:cNvPr>
          <p:cNvSpPr>
            <a:spLocks noGrp="1"/>
          </p:cNvSpPr>
          <p:nvPr/>
        </p:nvSpPr>
        <p:spPr>
          <a:xfrm>
            <a:off x="819150" y="3400425"/>
            <a:ext cx="323850" cy="209550"/>
          </a:xfrm>
          <a:prstGeom prst="rect">
            <a:avLst/>
          </a:prstGeom>
          <a:noFill/>
          <a:ln w="0">
            <a:no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17" name="Rectangle 16">
            <a:extLst>
              <a:ext uri="{FF2B5EF4-FFF2-40B4-BE49-F238E27FC236}">
                <a16:creationId xmlns:a16="http://schemas.microsoft.com/office/drawing/2014/main" id="{35A37434-EB30-4945-A391-6DDDB3AFBA45}"/>
              </a:ext>
            </a:extLst>
          </p:cNvPr>
          <p:cNvSpPr>
            <a:spLocks noGrp="1"/>
          </p:cNvSpPr>
          <p:nvPr/>
        </p:nvSpPr>
        <p:spPr>
          <a:xfrm>
            <a:off x="1276350" y="3314700"/>
            <a:ext cx="1809750" cy="590550"/>
          </a:xfrm>
          <a:prstGeom prst="rect">
            <a:avLst/>
          </a:prstGeom>
          <a:noFill/>
          <a:ln w="0">
            <a:noFill/>
            <a:prstDash val="solid"/>
          </a:ln>
        </p:spPr>
        <p:txBody>
          <a:bodyPr lIns="0" tIns="0" rIns="0" bIns="0" anchor="t"/>
          <a:lstStyle/>
          <a:p>
            <a:pPr algn="l">
              <a:defRPr sz="1275" b="1">
                <a:solidFill>
                  <a:srgbClr val="17202A"/>
                </a:solidFill>
                <a:latin typeface="Aptos Mono"/>
                <a:ea typeface="Aptos Mono"/>
                <a:cs typeface="Aptos Mono"/>
              </a:defRPr>
            </a:pPr>
            <a:r>
              <a:rPr sz="1275" b="1">
                <a:solidFill>
                  <a:srgbClr val="17202A"/>
                </a:solidFill>
                <a:latin typeface="Aptos Mono"/>
                <a:ea typeface="Aptos Mono"/>
                <a:cs typeface="Aptos Mono"/>
              </a:rPr>
              <a:t>data_ingestion.py</a:t>
            </a:r>
          </a:p>
        </p:txBody>
      </p:sp>
      <p:sp>
        <p:nvSpPr>
          <p:cNvPr id="18" name="Rectangle 17">
            <a:extLst>
              <a:ext uri="{FF2B5EF4-FFF2-40B4-BE49-F238E27FC236}">
                <a16:creationId xmlns:a16="http://schemas.microsoft.com/office/drawing/2014/main" id="{0BADF992-CC30-4077-9B41-5ADDC6C50288}"/>
              </a:ext>
            </a:extLst>
          </p:cNvPr>
          <p:cNvSpPr>
            <a:spLocks noGrp="1"/>
          </p:cNvSpPr>
          <p:nvPr/>
        </p:nvSpPr>
        <p:spPr>
          <a:xfrm>
            <a:off x="3257550" y="3314700"/>
            <a:ext cx="2971800" cy="5905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Reads and profiles all raw mutual fund datasets.</a:t>
            </a:r>
          </a:p>
        </p:txBody>
      </p:sp>
      <p:sp>
        <p:nvSpPr>
          <p:cNvPr id="19" name="Rectangle 18">
            <a:extLst>
              <a:ext uri="{FF2B5EF4-FFF2-40B4-BE49-F238E27FC236}">
                <a16:creationId xmlns:a16="http://schemas.microsoft.com/office/drawing/2014/main" id="{3D22E0E1-456F-4232-84D0-22A811F868C9}"/>
              </a:ext>
            </a:extLst>
          </p:cNvPr>
          <p:cNvSpPr>
            <a:spLocks noGrp="1"/>
          </p:cNvSpPr>
          <p:nvPr/>
        </p:nvSpPr>
        <p:spPr>
          <a:xfrm>
            <a:off x="6438900" y="3314700"/>
            <a:ext cx="4857750" cy="5905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docs/ingestion_profile.md plus console dataset shape, dtypes, head, null columns, duplicate checks, and AMFI validation.</a:t>
            </a:r>
          </a:p>
        </p:txBody>
      </p:sp>
      <p:sp>
        <p:nvSpPr>
          <p:cNvPr id="20" name="Rectangle: Rounded Corners 19">
            <a:extLst>
              <a:ext uri="{FF2B5EF4-FFF2-40B4-BE49-F238E27FC236}">
                <a16:creationId xmlns:a16="http://schemas.microsoft.com/office/drawing/2014/main" id="{A28297C5-78EE-413C-98A9-DEB35241E368}"/>
              </a:ext>
            </a:extLst>
          </p:cNvPr>
          <p:cNvSpPr>
            <a:spLocks noGrp="1"/>
          </p:cNvSpPr>
          <p:nvPr/>
        </p:nvSpPr>
        <p:spPr>
          <a:xfrm>
            <a:off x="685800" y="4133850"/>
            <a:ext cx="10820400" cy="990600"/>
          </a:xfrm>
          <a:prstGeom prst="roundRect">
            <a:avLst>
              <a:gd name="adj" fmla="val 5769"/>
            </a:avLst>
          </a:prstGeom>
          <a:solidFill>
            <a:srgbClr val="FFFFFF"/>
          </a:solidFill>
          <a:ln w="9525">
            <a:solidFill>
              <a:srgbClr val="D8E0E7"/>
            </a:solidFill>
            <a:prstDash val="solid"/>
          </a:ln>
        </p:spPr>
      </p:sp>
      <p:sp>
        <p:nvSpPr>
          <p:cNvPr id="21" name="Oval 20">
            <a:extLst>
              <a:ext uri="{FF2B5EF4-FFF2-40B4-BE49-F238E27FC236}">
                <a16:creationId xmlns:a16="http://schemas.microsoft.com/office/drawing/2014/main" id="{48B46038-CC66-4C31-970A-C73E32423FC8}"/>
              </a:ext>
            </a:extLst>
          </p:cNvPr>
          <p:cNvSpPr>
            <a:spLocks noGrp="1"/>
          </p:cNvSpPr>
          <p:nvPr/>
        </p:nvSpPr>
        <p:spPr>
          <a:xfrm>
            <a:off x="819150" y="4305300"/>
            <a:ext cx="323850" cy="323850"/>
          </a:xfrm>
          <a:prstGeom prst="ellipse">
            <a:avLst/>
          </a:prstGeom>
          <a:solidFill>
            <a:srgbClr val="F2A541"/>
          </a:solidFill>
          <a:ln w="0">
            <a:noFill/>
            <a:prstDash val="solid"/>
          </a:ln>
        </p:spPr>
      </p:sp>
      <p:sp>
        <p:nvSpPr>
          <p:cNvPr id="22" name="Rectangle 21">
            <a:extLst>
              <a:ext uri="{FF2B5EF4-FFF2-40B4-BE49-F238E27FC236}">
                <a16:creationId xmlns:a16="http://schemas.microsoft.com/office/drawing/2014/main" id="{779CA97E-D63D-4D69-95F3-9F4872413BA0}"/>
              </a:ext>
            </a:extLst>
          </p:cNvPr>
          <p:cNvSpPr>
            <a:spLocks noGrp="1"/>
          </p:cNvSpPr>
          <p:nvPr/>
        </p:nvSpPr>
        <p:spPr>
          <a:xfrm>
            <a:off x="819150" y="4352925"/>
            <a:ext cx="323850" cy="209550"/>
          </a:xfrm>
          <a:prstGeom prst="rect">
            <a:avLst/>
          </a:prstGeom>
          <a:noFill/>
          <a:ln w="0">
            <a:no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23" name="Rectangle 22">
            <a:extLst>
              <a:ext uri="{FF2B5EF4-FFF2-40B4-BE49-F238E27FC236}">
                <a16:creationId xmlns:a16="http://schemas.microsoft.com/office/drawing/2014/main" id="{3321CBF2-F37E-4962-BF3E-282E25EE80C4}"/>
              </a:ext>
            </a:extLst>
          </p:cNvPr>
          <p:cNvSpPr>
            <a:spLocks noGrp="1"/>
          </p:cNvSpPr>
          <p:nvPr/>
        </p:nvSpPr>
        <p:spPr>
          <a:xfrm>
            <a:off x="1276350" y="4267200"/>
            <a:ext cx="1809750" cy="762000"/>
          </a:xfrm>
          <a:prstGeom prst="rect">
            <a:avLst/>
          </a:prstGeom>
          <a:noFill/>
          <a:ln w="0">
            <a:noFill/>
            <a:prstDash val="solid"/>
          </a:ln>
        </p:spPr>
        <p:txBody>
          <a:bodyPr lIns="0" tIns="0" rIns="0" bIns="0" anchor="t"/>
          <a:lstStyle/>
          <a:p>
            <a:pPr algn="l">
              <a:defRPr sz="1275" b="1">
                <a:solidFill>
                  <a:srgbClr val="17202A"/>
                </a:solidFill>
                <a:latin typeface="Aptos Mono"/>
                <a:ea typeface="Aptos Mono"/>
                <a:cs typeface="Aptos Mono"/>
              </a:defRPr>
            </a:pPr>
            <a:r>
              <a:rPr sz="1275" b="1">
                <a:solidFill>
                  <a:srgbClr val="17202A"/>
                </a:solidFill>
                <a:latin typeface="Aptos Mono"/>
                <a:ea typeface="Aptos Mono"/>
                <a:cs typeface="Aptos Mono"/>
              </a:rPr>
              <a:t>etl_pipeline.py</a:t>
            </a:r>
          </a:p>
        </p:txBody>
      </p:sp>
      <p:sp>
        <p:nvSpPr>
          <p:cNvPr id="24" name="Rectangle 23">
            <a:extLst>
              <a:ext uri="{FF2B5EF4-FFF2-40B4-BE49-F238E27FC236}">
                <a16:creationId xmlns:a16="http://schemas.microsoft.com/office/drawing/2014/main" id="{D1A14A33-EE37-470D-990F-98A8F66052B4}"/>
              </a:ext>
            </a:extLst>
          </p:cNvPr>
          <p:cNvSpPr>
            <a:spLocks noGrp="1"/>
          </p:cNvSpPr>
          <p:nvPr/>
        </p:nvSpPr>
        <p:spPr>
          <a:xfrm>
            <a:off x="3257550" y="4267200"/>
            <a:ext cx="2971800" cy="7620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Cleans raw files, forward-fills NAV, builds date/investor dimensions, and loads the database.</a:t>
            </a:r>
          </a:p>
        </p:txBody>
      </p:sp>
      <p:sp>
        <p:nvSpPr>
          <p:cNvPr id="25" name="Rectangle 24">
            <a:extLst>
              <a:ext uri="{FF2B5EF4-FFF2-40B4-BE49-F238E27FC236}">
                <a16:creationId xmlns:a16="http://schemas.microsoft.com/office/drawing/2014/main" id="{DC7CF5EA-ADA0-4621-8055-DA3C1689ABA6}"/>
              </a:ext>
            </a:extLst>
          </p:cNvPr>
          <p:cNvSpPr>
            <a:spLocks noGrp="1"/>
          </p:cNvSpPr>
          <p:nvPr/>
        </p:nvSpPr>
        <p:spPr>
          <a:xfrm>
            <a:off x="6438900" y="4267200"/>
            <a:ext cx="4857750" cy="7620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15 processed CSVs, data/db/bluestock_mf.db, sql/schema.sql, sql/queries.sql, docs/data_dictionary.md, docs/data_quality_summary.md, sqlite_row_audit.csv.</a:t>
            </a:r>
          </a:p>
        </p:txBody>
      </p:sp>
      <p:sp>
        <p:nvSpPr>
          <p:cNvPr id="26" name="Rectangle: Rounded Corners 25">
            <a:extLst>
              <a:ext uri="{FF2B5EF4-FFF2-40B4-BE49-F238E27FC236}">
                <a16:creationId xmlns:a16="http://schemas.microsoft.com/office/drawing/2014/main" id="{CA4C81BF-06FE-4ABC-A36E-659BFCDC52E4}"/>
              </a:ext>
            </a:extLst>
          </p:cNvPr>
          <p:cNvSpPr>
            <a:spLocks noGrp="1"/>
          </p:cNvSpPr>
          <p:nvPr/>
        </p:nvSpPr>
        <p:spPr>
          <a:xfrm>
            <a:off x="685800" y="5257800"/>
            <a:ext cx="10820400" cy="990600"/>
          </a:xfrm>
          <a:prstGeom prst="roundRect">
            <a:avLst>
              <a:gd name="adj" fmla="val 5769"/>
            </a:avLst>
          </a:prstGeom>
          <a:solidFill>
            <a:srgbClr val="FFFFFF"/>
          </a:solidFill>
          <a:ln w="9525">
            <a:solidFill>
              <a:srgbClr val="D8E0E7"/>
            </a:solidFill>
            <a:prstDash val="solid"/>
          </a:ln>
        </p:spPr>
      </p:sp>
      <p:sp>
        <p:nvSpPr>
          <p:cNvPr id="27" name="Oval 26">
            <a:extLst>
              <a:ext uri="{FF2B5EF4-FFF2-40B4-BE49-F238E27FC236}">
                <a16:creationId xmlns:a16="http://schemas.microsoft.com/office/drawing/2014/main" id="{33389314-A97D-4D3C-A8AB-F0C26F97C6CE}"/>
              </a:ext>
            </a:extLst>
          </p:cNvPr>
          <p:cNvSpPr>
            <a:spLocks noGrp="1"/>
          </p:cNvSpPr>
          <p:nvPr/>
        </p:nvSpPr>
        <p:spPr>
          <a:xfrm>
            <a:off x="819150" y="5429250"/>
            <a:ext cx="323850" cy="323850"/>
          </a:xfrm>
          <a:prstGeom prst="ellipse">
            <a:avLst/>
          </a:prstGeom>
          <a:solidFill>
            <a:srgbClr val="D1495B"/>
          </a:solidFill>
          <a:ln w="0">
            <a:noFill/>
            <a:prstDash val="solid"/>
          </a:ln>
        </p:spPr>
      </p:sp>
      <p:sp>
        <p:nvSpPr>
          <p:cNvPr id="28" name="Rectangle 27">
            <a:extLst>
              <a:ext uri="{FF2B5EF4-FFF2-40B4-BE49-F238E27FC236}">
                <a16:creationId xmlns:a16="http://schemas.microsoft.com/office/drawing/2014/main" id="{C1273FBB-B866-43A3-A60E-26F38685CBB5}"/>
              </a:ext>
            </a:extLst>
          </p:cNvPr>
          <p:cNvSpPr>
            <a:spLocks noGrp="1"/>
          </p:cNvSpPr>
          <p:nvPr/>
        </p:nvSpPr>
        <p:spPr>
          <a:xfrm>
            <a:off x="819150" y="5476875"/>
            <a:ext cx="323850" cy="209550"/>
          </a:xfrm>
          <a:prstGeom prst="rect">
            <a:avLst/>
          </a:prstGeom>
          <a:noFill/>
          <a:ln w="0">
            <a:no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29" name="Rectangle 28">
            <a:extLst>
              <a:ext uri="{FF2B5EF4-FFF2-40B4-BE49-F238E27FC236}">
                <a16:creationId xmlns:a16="http://schemas.microsoft.com/office/drawing/2014/main" id="{0358688C-93E6-4BA5-9E8F-37241D9733C7}"/>
              </a:ext>
            </a:extLst>
          </p:cNvPr>
          <p:cNvSpPr>
            <a:spLocks noGrp="1"/>
          </p:cNvSpPr>
          <p:nvPr/>
        </p:nvSpPr>
        <p:spPr>
          <a:xfrm>
            <a:off x="1276350" y="5391150"/>
            <a:ext cx="1809750" cy="762000"/>
          </a:xfrm>
          <a:prstGeom prst="rect">
            <a:avLst/>
          </a:prstGeom>
          <a:noFill/>
          <a:ln w="0">
            <a:noFill/>
            <a:prstDash val="solid"/>
          </a:ln>
        </p:spPr>
        <p:txBody>
          <a:bodyPr lIns="0" tIns="0" rIns="0" bIns="0" anchor="t"/>
          <a:lstStyle/>
          <a:p>
            <a:pPr algn="l">
              <a:defRPr sz="1275" b="1">
                <a:solidFill>
                  <a:srgbClr val="17202A"/>
                </a:solidFill>
                <a:latin typeface="Aptos Mono"/>
                <a:ea typeface="Aptos Mono"/>
                <a:cs typeface="Aptos Mono"/>
              </a:defRPr>
            </a:pPr>
            <a:r>
              <a:rPr sz="1275" b="1">
                <a:solidFill>
                  <a:srgbClr val="17202A"/>
                </a:solidFill>
                <a:latin typeface="Aptos Mono"/>
                <a:ea typeface="Aptos Mono"/>
                <a:cs typeface="Aptos Mono"/>
              </a:rPr>
              <a:t>compute_metrics.py</a:t>
            </a:r>
          </a:p>
        </p:txBody>
      </p:sp>
      <p:sp>
        <p:nvSpPr>
          <p:cNvPr id="30" name="Rectangle 29">
            <a:extLst>
              <a:ext uri="{FF2B5EF4-FFF2-40B4-BE49-F238E27FC236}">
                <a16:creationId xmlns:a16="http://schemas.microsoft.com/office/drawing/2014/main" id="{9647A4DE-1A7B-4307-9D9D-33862355A039}"/>
              </a:ext>
            </a:extLst>
          </p:cNvPr>
          <p:cNvSpPr>
            <a:spLocks noGrp="1"/>
          </p:cNvSpPr>
          <p:nvPr/>
        </p:nvSpPr>
        <p:spPr>
          <a:xfrm>
            <a:off x="3257550" y="5391150"/>
            <a:ext cx="2971800" cy="7620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Calculates risk and performance metrics from NAV, benchmark, and holdings data.</a:t>
            </a:r>
          </a:p>
        </p:txBody>
      </p:sp>
      <p:sp>
        <p:nvSpPr>
          <p:cNvPr id="31" name="Rectangle 30">
            <a:extLst>
              <a:ext uri="{FF2B5EF4-FFF2-40B4-BE49-F238E27FC236}">
                <a16:creationId xmlns:a16="http://schemas.microsoft.com/office/drawing/2014/main" id="{DCD4AB11-6ABF-4F98-A4A0-F84D8A95A112}"/>
              </a:ext>
            </a:extLst>
          </p:cNvPr>
          <p:cNvSpPr>
            <a:spLocks noGrp="1"/>
          </p:cNvSpPr>
          <p:nvPr/>
        </p:nvSpPr>
        <p:spPr>
          <a:xfrm>
            <a:off x="6438900" y="5391150"/>
            <a:ext cx="4857750" cy="7620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daily_returns.csv, fund_metrics_computed.csv, fund_scorecard.csv, alpha_beta.csv, var_cvar_report.csv, tracking_error.csv, sector_hhi.csv, rolling Sharpe and benchmark charts.</a:t>
            </a:r>
          </a:p>
        </p:txBody>
      </p:sp>
      <p:sp>
        <p:nvSpPr>
          <p:cNvPr id="32" name="Rectangle 31">
            <a:extLst>
              <a:ext uri="{FF2B5EF4-FFF2-40B4-BE49-F238E27FC236}">
                <a16:creationId xmlns:a16="http://schemas.microsoft.com/office/drawing/2014/main" id="{294BE2CC-9942-4CAD-884A-8AFEA7E782E4}"/>
              </a:ext>
            </a:extLst>
          </p:cNvPr>
          <p:cNvSpPr>
            <a:spLocks noGrp="1"/>
          </p:cNvSpPr>
          <p:nvPr/>
        </p:nvSpPr>
        <p:spPr>
          <a:xfrm>
            <a:off x="609600" y="6515100"/>
            <a:ext cx="10972800" cy="9525"/>
          </a:xfrm>
          <a:prstGeom prst="rect">
            <a:avLst/>
          </a:prstGeom>
          <a:solidFill>
            <a:srgbClr val="D8E0E7"/>
          </a:solidFill>
          <a:ln w="0">
            <a:noFill/>
            <a:prstDash val="solid"/>
          </a:ln>
        </p:spPr>
      </p:sp>
      <p:sp>
        <p:nvSpPr>
          <p:cNvPr id="33" name="Rectangle 32">
            <a:extLst>
              <a:ext uri="{FF2B5EF4-FFF2-40B4-BE49-F238E27FC236}">
                <a16:creationId xmlns:a16="http://schemas.microsoft.com/office/drawing/2014/main" id="{9C0665A6-D13C-4499-9CE9-2A2D1D018EF6}"/>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34" name="Rectangle 33">
            <a:extLst>
              <a:ext uri="{FF2B5EF4-FFF2-40B4-BE49-F238E27FC236}">
                <a16:creationId xmlns:a16="http://schemas.microsoft.com/office/drawing/2014/main" id="{10A20438-9290-4643-BD81-68AE54FB40F7}"/>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12</a:t>
            </a:r>
          </a:p>
        </p:txBody>
      </p:sp>
    </p:spTree>
    <p:extLst>
      <p:ext uri="{BB962C8B-B14F-4D97-AF65-F5344CB8AC3E}">
        <p14:creationId xmlns:p14="http://schemas.microsoft.com/office/powerpoint/2010/main" val="1018733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5E0A007B-410C-4CE0-B742-5D093640562C}"/>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2C4EA8BE-35D7-44DF-B6F4-F746DA7E45C6}"/>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More Python Output Artifacts</a:t>
            </a:r>
          </a:p>
        </p:txBody>
      </p:sp>
      <p:sp>
        <p:nvSpPr>
          <p:cNvPr id="3" name="Rectangle 2">
            <a:extLst>
              <a:ext uri="{FF2B5EF4-FFF2-40B4-BE49-F238E27FC236}">
                <a16:creationId xmlns:a16="http://schemas.microsoft.com/office/drawing/2014/main" id="{8F547333-1B35-46BF-91CF-E415E46245FE}"/>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145B29EE-2021-4127-A935-5D1A2426BC63}"/>
              </a:ext>
            </a:extLst>
          </p:cNvPr>
          <p:cNvSpPr>
            <a:spLocks noGrp="1"/>
          </p:cNvSpPr>
          <p:nvPr/>
        </p:nvSpPr>
        <p:spPr>
          <a:xfrm>
            <a:off x="609600" y="1352550"/>
            <a:ext cx="8001000" cy="41910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The remaining scripts turn the cleaned model into presentation-ready files and practical utilities.</a:t>
            </a:r>
          </a:p>
        </p:txBody>
      </p:sp>
      <p:sp>
        <p:nvSpPr>
          <p:cNvPr id="5" name="Rectangle 4">
            <a:extLst>
              <a:ext uri="{FF2B5EF4-FFF2-40B4-BE49-F238E27FC236}">
                <a16:creationId xmlns:a16="http://schemas.microsoft.com/office/drawing/2014/main" id="{D776DEE6-6B6E-45C3-B520-8BF0233BE95F}"/>
              </a:ext>
            </a:extLst>
          </p:cNvPr>
          <p:cNvSpPr>
            <a:spLocks noGrp="1"/>
          </p:cNvSpPr>
          <p:nvPr/>
        </p:nvSpPr>
        <p:spPr>
          <a:xfrm>
            <a:off x="1314450" y="2019300"/>
            <a:ext cx="180975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PYTHON FILE</a:t>
            </a:r>
          </a:p>
        </p:txBody>
      </p:sp>
      <p:sp>
        <p:nvSpPr>
          <p:cNvPr id="6" name="Rectangle 5">
            <a:extLst>
              <a:ext uri="{FF2B5EF4-FFF2-40B4-BE49-F238E27FC236}">
                <a16:creationId xmlns:a16="http://schemas.microsoft.com/office/drawing/2014/main" id="{58B28D3F-02B6-4128-B3A5-EE0D3B621902}"/>
              </a:ext>
            </a:extLst>
          </p:cNvPr>
          <p:cNvSpPr>
            <a:spLocks noGrp="1"/>
          </p:cNvSpPr>
          <p:nvPr/>
        </p:nvSpPr>
        <p:spPr>
          <a:xfrm>
            <a:off x="3257550" y="2019300"/>
            <a:ext cx="2667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PURPOSE</a:t>
            </a:r>
          </a:p>
        </p:txBody>
      </p:sp>
      <p:sp>
        <p:nvSpPr>
          <p:cNvPr id="7" name="Rectangle 6">
            <a:extLst>
              <a:ext uri="{FF2B5EF4-FFF2-40B4-BE49-F238E27FC236}">
                <a16:creationId xmlns:a16="http://schemas.microsoft.com/office/drawing/2014/main" id="{94D2F6D0-0678-4728-AC76-5C04DBB03D6F}"/>
              </a:ext>
            </a:extLst>
          </p:cNvPr>
          <p:cNvSpPr>
            <a:spLocks noGrp="1"/>
          </p:cNvSpPr>
          <p:nvPr/>
        </p:nvSpPr>
        <p:spPr>
          <a:xfrm>
            <a:off x="6419850" y="2019300"/>
            <a:ext cx="43815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OUTPUT GENERATED</a:t>
            </a:r>
          </a:p>
        </p:txBody>
      </p:sp>
      <p:sp>
        <p:nvSpPr>
          <p:cNvPr id="8" name="Rectangle: Rounded Corners 7">
            <a:extLst>
              <a:ext uri="{FF2B5EF4-FFF2-40B4-BE49-F238E27FC236}">
                <a16:creationId xmlns:a16="http://schemas.microsoft.com/office/drawing/2014/main" id="{2D9B9E4B-94CF-4DBB-B77B-194A56DDD9AD}"/>
              </a:ext>
            </a:extLst>
          </p:cNvPr>
          <p:cNvSpPr>
            <a:spLocks noGrp="1"/>
          </p:cNvSpPr>
          <p:nvPr/>
        </p:nvSpPr>
        <p:spPr>
          <a:xfrm>
            <a:off x="685800" y="2324100"/>
            <a:ext cx="10820400" cy="952500"/>
          </a:xfrm>
          <a:prstGeom prst="roundRect">
            <a:avLst>
              <a:gd name="adj" fmla="val 6000"/>
            </a:avLst>
          </a:prstGeom>
          <a:solidFill>
            <a:srgbClr val="FFFFFF"/>
          </a:solidFill>
          <a:ln w="9525">
            <a:solidFill>
              <a:srgbClr val="D8E0E7"/>
            </a:solidFill>
            <a:prstDash val="solid"/>
          </a:ln>
        </p:spPr>
      </p:sp>
      <p:sp>
        <p:nvSpPr>
          <p:cNvPr id="9" name="Oval 8">
            <a:extLst>
              <a:ext uri="{FF2B5EF4-FFF2-40B4-BE49-F238E27FC236}">
                <a16:creationId xmlns:a16="http://schemas.microsoft.com/office/drawing/2014/main" id="{97211BE0-D078-443E-8ABA-40420C3936BF}"/>
              </a:ext>
            </a:extLst>
          </p:cNvPr>
          <p:cNvSpPr>
            <a:spLocks noGrp="1"/>
          </p:cNvSpPr>
          <p:nvPr/>
        </p:nvSpPr>
        <p:spPr>
          <a:xfrm>
            <a:off x="819150" y="2495550"/>
            <a:ext cx="323850" cy="323850"/>
          </a:xfrm>
          <a:prstGeom prst="ellipse">
            <a:avLst/>
          </a:prstGeom>
          <a:solidFill>
            <a:srgbClr val="0B3D5C"/>
          </a:solidFill>
          <a:ln w="0">
            <a:noFill/>
            <a:prstDash val="solid"/>
          </a:ln>
        </p:spPr>
      </p:sp>
      <p:sp>
        <p:nvSpPr>
          <p:cNvPr id="10" name="Rectangle 9">
            <a:extLst>
              <a:ext uri="{FF2B5EF4-FFF2-40B4-BE49-F238E27FC236}">
                <a16:creationId xmlns:a16="http://schemas.microsoft.com/office/drawing/2014/main" id="{5EEB50BE-9CE1-4CD5-B525-2B5891531F8E}"/>
              </a:ext>
            </a:extLst>
          </p:cNvPr>
          <p:cNvSpPr>
            <a:spLocks noGrp="1"/>
          </p:cNvSpPr>
          <p:nvPr/>
        </p:nvSpPr>
        <p:spPr>
          <a:xfrm>
            <a:off x="819150" y="2543175"/>
            <a:ext cx="323850" cy="209550"/>
          </a:xfrm>
          <a:prstGeom prst="rect">
            <a:avLst/>
          </a:prstGeom>
          <a:noFill/>
          <a:ln w="0">
            <a:no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5</a:t>
            </a:r>
          </a:p>
        </p:txBody>
      </p:sp>
      <p:sp>
        <p:nvSpPr>
          <p:cNvPr id="11" name="Rectangle 10">
            <a:extLst>
              <a:ext uri="{FF2B5EF4-FFF2-40B4-BE49-F238E27FC236}">
                <a16:creationId xmlns:a16="http://schemas.microsoft.com/office/drawing/2014/main" id="{DC050912-09DA-47DE-8B4A-502D474E00AE}"/>
              </a:ext>
            </a:extLst>
          </p:cNvPr>
          <p:cNvSpPr>
            <a:spLocks noGrp="1"/>
          </p:cNvSpPr>
          <p:nvPr/>
        </p:nvSpPr>
        <p:spPr>
          <a:xfrm>
            <a:off x="1276350" y="2457450"/>
            <a:ext cx="1809750" cy="723900"/>
          </a:xfrm>
          <a:prstGeom prst="rect">
            <a:avLst/>
          </a:prstGeom>
          <a:noFill/>
          <a:ln w="0">
            <a:noFill/>
            <a:prstDash val="solid"/>
          </a:ln>
        </p:spPr>
        <p:txBody>
          <a:bodyPr lIns="0" tIns="0" rIns="0" bIns="0" anchor="t"/>
          <a:lstStyle/>
          <a:p>
            <a:pPr algn="l">
              <a:defRPr sz="1275" b="1">
                <a:solidFill>
                  <a:srgbClr val="17202A"/>
                </a:solidFill>
                <a:latin typeface="Aptos Mono"/>
                <a:ea typeface="Aptos Mono"/>
                <a:cs typeface="Aptos Mono"/>
              </a:defRPr>
            </a:pPr>
            <a:r>
              <a:rPr sz="1275" b="1">
                <a:solidFill>
                  <a:srgbClr val="17202A"/>
                </a:solidFill>
                <a:latin typeface="Aptos Mono"/>
                <a:ea typeface="Aptos Mono"/>
                <a:cs typeface="Aptos Mono"/>
              </a:rPr>
              <a:t>generate_charts.py</a:t>
            </a:r>
          </a:p>
        </p:txBody>
      </p:sp>
      <p:sp>
        <p:nvSpPr>
          <p:cNvPr id="12" name="Rectangle 11">
            <a:extLst>
              <a:ext uri="{FF2B5EF4-FFF2-40B4-BE49-F238E27FC236}">
                <a16:creationId xmlns:a16="http://schemas.microsoft.com/office/drawing/2014/main" id="{398E03D0-1DEE-4461-8C3B-6CB8A43567F6}"/>
              </a:ext>
            </a:extLst>
          </p:cNvPr>
          <p:cNvSpPr>
            <a:spLocks noGrp="1"/>
          </p:cNvSpPr>
          <p:nvPr/>
        </p:nvSpPr>
        <p:spPr>
          <a:xfrm>
            <a:off x="3257550" y="2457450"/>
            <a:ext cx="2971800" cy="723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Creates static visualizations for EDA, performance, investor behavior, category flows, and risk.</a:t>
            </a:r>
          </a:p>
        </p:txBody>
      </p:sp>
      <p:sp>
        <p:nvSpPr>
          <p:cNvPr id="13" name="Rectangle 12">
            <a:extLst>
              <a:ext uri="{FF2B5EF4-FFF2-40B4-BE49-F238E27FC236}">
                <a16:creationId xmlns:a16="http://schemas.microsoft.com/office/drawing/2014/main" id="{2C6E946D-DC79-4E03-A5AC-B719FA96373F}"/>
              </a:ext>
            </a:extLst>
          </p:cNvPr>
          <p:cNvSpPr>
            <a:spLocks noGrp="1"/>
          </p:cNvSpPr>
          <p:nvPr/>
        </p:nvSpPr>
        <p:spPr>
          <a:xfrm>
            <a:off x="6438900" y="2457450"/>
            <a:ext cx="4857750" cy="723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21 chart PNG files under reports/charts, including NAV trends, AUM growth, SIP trend, heatmap, demographic charts, risk-return scatter, drawdown, VaR, and SIP vs NIFTY50.</a:t>
            </a:r>
          </a:p>
        </p:txBody>
      </p:sp>
      <p:sp>
        <p:nvSpPr>
          <p:cNvPr id="14" name="Rectangle: Rounded Corners 13">
            <a:extLst>
              <a:ext uri="{FF2B5EF4-FFF2-40B4-BE49-F238E27FC236}">
                <a16:creationId xmlns:a16="http://schemas.microsoft.com/office/drawing/2014/main" id="{21B27960-C56F-4FCF-9E89-CA5CA2EED67F}"/>
              </a:ext>
            </a:extLst>
          </p:cNvPr>
          <p:cNvSpPr>
            <a:spLocks noGrp="1"/>
          </p:cNvSpPr>
          <p:nvPr/>
        </p:nvSpPr>
        <p:spPr>
          <a:xfrm>
            <a:off x="685800" y="3390900"/>
            <a:ext cx="10820400" cy="781050"/>
          </a:xfrm>
          <a:prstGeom prst="roundRect">
            <a:avLst>
              <a:gd name="adj" fmla="val 7317"/>
            </a:avLst>
          </a:prstGeom>
          <a:solidFill>
            <a:srgbClr val="FFFFFF"/>
          </a:solidFill>
          <a:ln w="9525">
            <a:solidFill>
              <a:srgbClr val="D8E0E7"/>
            </a:solidFill>
            <a:prstDash val="solid"/>
          </a:ln>
        </p:spPr>
      </p:sp>
      <p:sp>
        <p:nvSpPr>
          <p:cNvPr id="15" name="Oval 14">
            <a:extLst>
              <a:ext uri="{FF2B5EF4-FFF2-40B4-BE49-F238E27FC236}">
                <a16:creationId xmlns:a16="http://schemas.microsoft.com/office/drawing/2014/main" id="{508125C6-64FD-4031-921D-31A711385248}"/>
              </a:ext>
            </a:extLst>
          </p:cNvPr>
          <p:cNvSpPr>
            <a:spLocks noGrp="1"/>
          </p:cNvSpPr>
          <p:nvPr/>
        </p:nvSpPr>
        <p:spPr>
          <a:xfrm>
            <a:off x="819150" y="3562350"/>
            <a:ext cx="323850" cy="323850"/>
          </a:xfrm>
          <a:prstGeom prst="ellipse">
            <a:avLst/>
          </a:prstGeom>
          <a:solidFill>
            <a:srgbClr val="00866E"/>
          </a:solidFill>
          <a:ln w="0">
            <a:noFill/>
            <a:prstDash val="solid"/>
          </a:ln>
        </p:spPr>
      </p:sp>
      <p:sp>
        <p:nvSpPr>
          <p:cNvPr id="16" name="Rectangle 15">
            <a:extLst>
              <a:ext uri="{FF2B5EF4-FFF2-40B4-BE49-F238E27FC236}">
                <a16:creationId xmlns:a16="http://schemas.microsoft.com/office/drawing/2014/main" id="{8B699113-B64B-410A-84D1-87AE32391D92}"/>
              </a:ext>
            </a:extLst>
          </p:cNvPr>
          <p:cNvSpPr>
            <a:spLocks noGrp="1"/>
          </p:cNvSpPr>
          <p:nvPr/>
        </p:nvSpPr>
        <p:spPr>
          <a:xfrm>
            <a:off x="819150" y="3609975"/>
            <a:ext cx="323850" cy="209550"/>
          </a:xfrm>
          <a:prstGeom prst="rect">
            <a:avLst/>
          </a:prstGeom>
          <a:noFill/>
          <a:ln w="0">
            <a:no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6</a:t>
            </a:r>
          </a:p>
        </p:txBody>
      </p:sp>
      <p:sp>
        <p:nvSpPr>
          <p:cNvPr id="17" name="Rectangle 16">
            <a:extLst>
              <a:ext uri="{FF2B5EF4-FFF2-40B4-BE49-F238E27FC236}">
                <a16:creationId xmlns:a16="http://schemas.microsoft.com/office/drawing/2014/main" id="{99509E96-5331-47EC-9597-B6BF61F18B25}"/>
              </a:ext>
            </a:extLst>
          </p:cNvPr>
          <p:cNvSpPr>
            <a:spLocks noGrp="1"/>
          </p:cNvSpPr>
          <p:nvPr/>
        </p:nvSpPr>
        <p:spPr>
          <a:xfrm>
            <a:off x="1276350" y="3524250"/>
            <a:ext cx="1809750" cy="552450"/>
          </a:xfrm>
          <a:prstGeom prst="rect">
            <a:avLst/>
          </a:prstGeom>
          <a:noFill/>
          <a:ln w="0">
            <a:noFill/>
            <a:prstDash val="solid"/>
          </a:ln>
        </p:spPr>
        <p:txBody>
          <a:bodyPr lIns="0" tIns="0" rIns="0" bIns="0" anchor="t"/>
          <a:lstStyle/>
          <a:p>
            <a:pPr algn="l">
              <a:defRPr sz="1275" b="1">
                <a:solidFill>
                  <a:srgbClr val="17202A"/>
                </a:solidFill>
                <a:latin typeface="Aptos Mono"/>
                <a:ea typeface="Aptos Mono"/>
                <a:cs typeface="Aptos Mono"/>
              </a:defRPr>
            </a:pPr>
            <a:r>
              <a:rPr sz="1275" b="1">
                <a:solidFill>
                  <a:srgbClr val="17202A"/>
                </a:solidFill>
                <a:latin typeface="Aptos Mono"/>
                <a:ea typeface="Aptos Mono"/>
                <a:cs typeface="Aptos Mono"/>
              </a:rPr>
              <a:t>create_notebooks.py</a:t>
            </a:r>
          </a:p>
        </p:txBody>
      </p:sp>
      <p:sp>
        <p:nvSpPr>
          <p:cNvPr id="18" name="Rectangle 17">
            <a:extLst>
              <a:ext uri="{FF2B5EF4-FFF2-40B4-BE49-F238E27FC236}">
                <a16:creationId xmlns:a16="http://schemas.microsoft.com/office/drawing/2014/main" id="{4A4391B7-9781-4DEB-BAB2-90639FF1F2E0}"/>
              </a:ext>
            </a:extLst>
          </p:cNvPr>
          <p:cNvSpPr>
            <a:spLocks noGrp="1"/>
          </p:cNvSpPr>
          <p:nvPr/>
        </p:nvSpPr>
        <p:spPr>
          <a:xfrm>
            <a:off x="3257550" y="3524250"/>
            <a:ext cx="2971800" cy="5524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Builds runnable notebook and documentation assets for review.</a:t>
            </a:r>
          </a:p>
        </p:txBody>
      </p:sp>
      <p:sp>
        <p:nvSpPr>
          <p:cNvPr id="19" name="Rectangle 18">
            <a:extLst>
              <a:ext uri="{FF2B5EF4-FFF2-40B4-BE49-F238E27FC236}">
                <a16:creationId xmlns:a16="http://schemas.microsoft.com/office/drawing/2014/main" id="{A7E2A8F5-77B0-43C4-BF61-E0A42032688C}"/>
              </a:ext>
            </a:extLst>
          </p:cNvPr>
          <p:cNvSpPr>
            <a:spLocks noGrp="1"/>
          </p:cNvSpPr>
          <p:nvPr/>
        </p:nvSpPr>
        <p:spPr>
          <a:xfrm>
            <a:off x="6438900" y="3524250"/>
            <a:ext cx="4857750" cy="5524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5 notebooks, Final_Report_Starter.md, Presentation_Outline.md, and Power BI dashboard blueprint text.</a:t>
            </a:r>
          </a:p>
        </p:txBody>
      </p:sp>
      <p:sp>
        <p:nvSpPr>
          <p:cNvPr id="20" name="Rectangle: Rounded Corners 19">
            <a:extLst>
              <a:ext uri="{FF2B5EF4-FFF2-40B4-BE49-F238E27FC236}">
                <a16:creationId xmlns:a16="http://schemas.microsoft.com/office/drawing/2014/main" id="{916B42CE-8432-4BDF-9975-D6852D5504E8}"/>
              </a:ext>
            </a:extLst>
          </p:cNvPr>
          <p:cNvSpPr>
            <a:spLocks noGrp="1"/>
          </p:cNvSpPr>
          <p:nvPr/>
        </p:nvSpPr>
        <p:spPr>
          <a:xfrm>
            <a:off x="685800" y="4286250"/>
            <a:ext cx="10820400" cy="914400"/>
          </a:xfrm>
          <a:prstGeom prst="roundRect">
            <a:avLst>
              <a:gd name="adj" fmla="val 6250"/>
            </a:avLst>
          </a:prstGeom>
          <a:solidFill>
            <a:srgbClr val="FFFFFF"/>
          </a:solidFill>
          <a:ln w="9525">
            <a:solidFill>
              <a:srgbClr val="D8E0E7"/>
            </a:solidFill>
            <a:prstDash val="solid"/>
          </a:ln>
        </p:spPr>
      </p:sp>
      <p:sp>
        <p:nvSpPr>
          <p:cNvPr id="21" name="Oval 20">
            <a:extLst>
              <a:ext uri="{FF2B5EF4-FFF2-40B4-BE49-F238E27FC236}">
                <a16:creationId xmlns:a16="http://schemas.microsoft.com/office/drawing/2014/main" id="{828A417A-5AE4-4ABD-AACD-64E1B41CB27D}"/>
              </a:ext>
            </a:extLst>
          </p:cNvPr>
          <p:cNvSpPr>
            <a:spLocks noGrp="1"/>
          </p:cNvSpPr>
          <p:nvPr/>
        </p:nvSpPr>
        <p:spPr>
          <a:xfrm>
            <a:off x="819150" y="4457700"/>
            <a:ext cx="323850" cy="323850"/>
          </a:xfrm>
          <a:prstGeom prst="ellipse">
            <a:avLst/>
          </a:prstGeom>
          <a:solidFill>
            <a:srgbClr val="F2A541"/>
          </a:solidFill>
          <a:ln w="0">
            <a:noFill/>
            <a:prstDash val="solid"/>
          </a:ln>
        </p:spPr>
      </p:sp>
      <p:sp>
        <p:nvSpPr>
          <p:cNvPr id="22" name="Rectangle 21">
            <a:extLst>
              <a:ext uri="{FF2B5EF4-FFF2-40B4-BE49-F238E27FC236}">
                <a16:creationId xmlns:a16="http://schemas.microsoft.com/office/drawing/2014/main" id="{6836755E-133D-4F0E-B435-AE8DDC19F966}"/>
              </a:ext>
            </a:extLst>
          </p:cNvPr>
          <p:cNvSpPr>
            <a:spLocks noGrp="1"/>
          </p:cNvSpPr>
          <p:nvPr/>
        </p:nvSpPr>
        <p:spPr>
          <a:xfrm>
            <a:off x="819150" y="4505325"/>
            <a:ext cx="323850" cy="209550"/>
          </a:xfrm>
          <a:prstGeom prst="rect">
            <a:avLst/>
          </a:prstGeom>
          <a:noFill/>
          <a:ln w="0">
            <a:no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7</a:t>
            </a:r>
          </a:p>
        </p:txBody>
      </p:sp>
      <p:sp>
        <p:nvSpPr>
          <p:cNvPr id="23" name="Rectangle 22">
            <a:extLst>
              <a:ext uri="{FF2B5EF4-FFF2-40B4-BE49-F238E27FC236}">
                <a16:creationId xmlns:a16="http://schemas.microsoft.com/office/drawing/2014/main" id="{6DB58071-E0FF-478F-B9B0-2B94252A6698}"/>
              </a:ext>
            </a:extLst>
          </p:cNvPr>
          <p:cNvSpPr>
            <a:spLocks noGrp="1"/>
          </p:cNvSpPr>
          <p:nvPr/>
        </p:nvSpPr>
        <p:spPr>
          <a:xfrm>
            <a:off x="1276350" y="4419600"/>
            <a:ext cx="1809750" cy="685800"/>
          </a:xfrm>
          <a:prstGeom prst="rect">
            <a:avLst/>
          </a:prstGeom>
          <a:noFill/>
          <a:ln w="0">
            <a:noFill/>
            <a:prstDash val="solid"/>
          </a:ln>
        </p:spPr>
        <p:txBody>
          <a:bodyPr lIns="0" tIns="0" rIns="0" bIns="0" anchor="t"/>
          <a:lstStyle/>
          <a:p>
            <a:pPr algn="l">
              <a:defRPr sz="1275" b="1">
                <a:solidFill>
                  <a:srgbClr val="17202A"/>
                </a:solidFill>
                <a:latin typeface="Aptos Mono"/>
                <a:ea typeface="Aptos Mono"/>
                <a:cs typeface="Aptos Mono"/>
              </a:defRPr>
            </a:pPr>
            <a:r>
              <a:rPr sz="1275" b="1">
                <a:solidFill>
                  <a:srgbClr val="17202A"/>
                </a:solidFill>
                <a:latin typeface="Aptos Mono"/>
                <a:ea typeface="Aptos Mono"/>
                <a:cs typeface="Aptos Mono"/>
              </a:rPr>
              <a:t>final_assets_fallback.py</a:t>
            </a:r>
          </a:p>
        </p:txBody>
      </p:sp>
      <p:sp>
        <p:nvSpPr>
          <p:cNvPr id="24" name="Rectangle 23">
            <a:extLst>
              <a:ext uri="{FF2B5EF4-FFF2-40B4-BE49-F238E27FC236}">
                <a16:creationId xmlns:a16="http://schemas.microsoft.com/office/drawing/2014/main" id="{61253EC0-D63A-4065-B02C-F766CDD58290}"/>
              </a:ext>
            </a:extLst>
          </p:cNvPr>
          <p:cNvSpPr>
            <a:spLocks noGrp="1"/>
          </p:cNvSpPr>
          <p:nvPr/>
        </p:nvSpPr>
        <p:spPr>
          <a:xfrm>
            <a:off x="3257550" y="4419600"/>
            <a:ext cx="2971800" cy="6858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Dependency-light fallback finalizer for report and presentation assets.</a:t>
            </a:r>
          </a:p>
        </p:txBody>
      </p:sp>
      <p:sp>
        <p:nvSpPr>
          <p:cNvPr id="25" name="Rectangle 24">
            <a:extLst>
              <a:ext uri="{FF2B5EF4-FFF2-40B4-BE49-F238E27FC236}">
                <a16:creationId xmlns:a16="http://schemas.microsoft.com/office/drawing/2014/main" id="{A830E04F-DD13-4196-8E86-8C15FB6E33A4}"/>
              </a:ext>
            </a:extLst>
          </p:cNvPr>
          <p:cNvSpPr>
            <a:spLocks noGrp="1"/>
          </p:cNvSpPr>
          <p:nvPr/>
        </p:nvSpPr>
        <p:spPr>
          <a:xfrm>
            <a:off x="6438900" y="4419600"/>
            <a:ext cx="4857750" cy="6858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Regenerates chart pack, Final_Report.html, Final_Report.pdf, Bluestock_MF_Presentation.pptx, chart_map.md, and supporting CSV metric outputs.</a:t>
            </a:r>
          </a:p>
        </p:txBody>
      </p:sp>
      <p:sp>
        <p:nvSpPr>
          <p:cNvPr id="26" name="Rectangle: Rounded Corners 25">
            <a:extLst>
              <a:ext uri="{FF2B5EF4-FFF2-40B4-BE49-F238E27FC236}">
                <a16:creationId xmlns:a16="http://schemas.microsoft.com/office/drawing/2014/main" id="{56F09466-A855-4811-974D-662D2E0E894C}"/>
              </a:ext>
            </a:extLst>
          </p:cNvPr>
          <p:cNvSpPr>
            <a:spLocks noGrp="1"/>
          </p:cNvSpPr>
          <p:nvPr/>
        </p:nvSpPr>
        <p:spPr>
          <a:xfrm>
            <a:off x="685800" y="5314950"/>
            <a:ext cx="10820400" cy="914400"/>
          </a:xfrm>
          <a:prstGeom prst="roundRect">
            <a:avLst>
              <a:gd name="adj" fmla="val 6250"/>
            </a:avLst>
          </a:prstGeom>
          <a:solidFill>
            <a:srgbClr val="FFFFFF"/>
          </a:solidFill>
          <a:ln w="9525">
            <a:solidFill>
              <a:srgbClr val="D8E0E7"/>
            </a:solidFill>
            <a:prstDash val="solid"/>
          </a:ln>
        </p:spPr>
      </p:sp>
      <p:sp>
        <p:nvSpPr>
          <p:cNvPr id="27" name="Oval 26">
            <a:extLst>
              <a:ext uri="{FF2B5EF4-FFF2-40B4-BE49-F238E27FC236}">
                <a16:creationId xmlns:a16="http://schemas.microsoft.com/office/drawing/2014/main" id="{BF4D6324-F051-45A4-8410-D1A472B9A3B2}"/>
              </a:ext>
            </a:extLst>
          </p:cNvPr>
          <p:cNvSpPr>
            <a:spLocks noGrp="1"/>
          </p:cNvSpPr>
          <p:nvPr/>
        </p:nvSpPr>
        <p:spPr>
          <a:xfrm>
            <a:off x="819150" y="5486400"/>
            <a:ext cx="323850" cy="323850"/>
          </a:xfrm>
          <a:prstGeom prst="ellipse">
            <a:avLst/>
          </a:prstGeom>
          <a:solidFill>
            <a:srgbClr val="D1495B"/>
          </a:solidFill>
          <a:ln w="0">
            <a:noFill/>
            <a:prstDash val="solid"/>
          </a:ln>
        </p:spPr>
      </p:sp>
      <p:sp>
        <p:nvSpPr>
          <p:cNvPr id="28" name="Rectangle 27">
            <a:extLst>
              <a:ext uri="{FF2B5EF4-FFF2-40B4-BE49-F238E27FC236}">
                <a16:creationId xmlns:a16="http://schemas.microsoft.com/office/drawing/2014/main" id="{810A2DA7-2D70-4F18-8C33-E3BF1AE88D41}"/>
              </a:ext>
            </a:extLst>
          </p:cNvPr>
          <p:cNvSpPr>
            <a:spLocks noGrp="1"/>
          </p:cNvSpPr>
          <p:nvPr/>
        </p:nvSpPr>
        <p:spPr>
          <a:xfrm>
            <a:off x="819150" y="5534025"/>
            <a:ext cx="323850" cy="209550"/>
          </a:xfrm>
          <a:prstGeom prst="rect">
            <a:avLst/>
          </a:prstGeom>
          <a:noFill/>
          <a:ln w="0">
            <a:noFill/>
            <a:prstDash val="solid"/>
          </a:ln>
        </p:spPr>
        <p:txBody>
          <a:bodyPr lIns="0" tIns="0" rIns="0" bIns="0" anchor="t"/>
          <a:lstStyle/>
          <a:p>
            <a:pPr algn="ctr">
              <a:defRPr sz="1200" b="1">
                <a:solidFill>
                  <a:srgbClr val="FFFFFF"/>
                </a:solidFill>
                <a:latin typeface="Aptos"/>
                <a:ea typeface="Aptos"/>
                <a:cs typeface="Aptos"/>
              </a:defRPr>
            </a:pPr>
            <a:r>
              <a:rPr sz="1200" b="1">
                <a:solidFill>
                  <a:srgbClr val="FFFFFF"/>
                </a:solidFill>
                <a:latin typeface="Aptos"/>
                <a:ea typeface="Aptos"/>
                <a:cs typeface="Aptos"/>
              </a:rPr>
              <a:t>8</a:t>
            </a:r>
          </a:p>
        </p:txBody>
      </p:sp>
      <p:sp>
        <p:nvSpPr>
          <p:cNvPr id="29" name="Rectangle 28">
            <a:extLst>
              <a:ext uri="{FF2B5EF4-FFF2-40B4-BE49-F238E27FC236}">
                <a16:creationId xmlns:a16="http://schemas.microsoft.com/office/drawing/2014/main" id="{6623E13D-A921-4A9F-B67A-709E1DB34F02}"/>
              </a:ext>
            </a:extLst>
          </p:cNvPr>
          <p:cNvSpPr>
            <a:spLocks noGrp="1"/>
          </p:cNvSpPr>
          <p:nvPr/>
        </p:nvSpPr>
        <p:spPr>
          <a:xfrm>
            <a:off x="1276350" y="5448300"/>
            <a:ext cx="1809750" cy="685800"/>
          </a:xfrm>
          <a:prstGeom prst="rect">
            <a:avLst/>
          </a:prstGeom>
          <a:noFill/>
          <a:ln w="0">
            <a:noFill/>
            <a:prstDash val="solid"/>
          </a:ln>
        </p:spPr>
        <p:txBody>
          <a:bodyPr lIns="0" tIns="0" rIns="0" bIns="0" anchor="t"/>
          <a:lstStyle/>
          <a:p>
            <a:pPr algn="l">
              <a:defRPr sz="1275" b="1">
                <a:solidFill>
                  <a:srgbClr val="17202A"/>
                </a:solidFill>
                <a:latin typeface="Aptos Mono"/>
                <a:ea typeface="Aptos Mono"/>
                <a:cs typeface="Aptos Mono"/>
              </a:defRPr>
            </a:pPr>
            <a:r>
              <a:rPr sz="1275" b="1">
                <a:solidFill>
                  <a:srgbClr val="17202A"/>
                </a:solidFill>
                <a:latin typeface="Aptos Mono"/>
                <a:ea typeface="Aptos Mono"/>
                <a:cs typeface="Aptos Mono"/>
              </a:rPr>
              <a:t>recommender.py</a:t>
            </a:r>
          </a:p>
          <a:p>
            <a:pPr algn="l">
              <a:defRPr sz="1275" b="1">
                <a:solidFill>
                  <a:srgbClr val="17202A"/>
                </a:solidFill>
                <a:latin typeface="Aptos Mono"/>
                <a:ea typeface="Aptos Mono"/>
                <a:cs typeface="Aptos Mono"/>
              </a:defRPr>
            </a:pPr>
            <a:r>
              <a:rPr sz="1275" b="1">
                <a:solidFill>
                  <a:srgbClr val="17202A"/>
                </a:solidFill>
                <a:latin typeface="Aptos Mono"/>
                <a:ea typeface="Aptos Mono"/>
                <a:cs typeface="Aptos Mono"/>
              </a:rPr>
              <a:t>live_nav_fetch.py</a:t>
            </a:r>
          </a:p>
        </p:txBody>
      </p:sp>
      <p:sp>
        <p:nvSpPr>
          <p:cNvPr id="30" name="Rectangle 29">
            <a:extLst>
              <a:ext uri="{FF2B5EF4-FFF2-40B4-BE49-F238E27FC236}">
                <a16:creationId xmlns:a16="http://schemas.microsoft.com/office/drawing/2014/main" id="{A06FA71C-1E8F-4663-BF4F-204741735837}"/>
              </a:ext>
            </a:extLst>
          </p:cNvPr>
          <p:cNvSpPr>
            <a:spLocks noGrp="1"/>
          </p:cNvSpPr>
          <p:nvPr/>
        </p:nvSpPr>
        <p:spPr>
          <a:xfrm>
            <a:off x="3257550" y="5448300"/>
            <a:ext cx="2971800" cy="6858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Runs risk-appetite recommendations and optional live NAV sample fetch.</a:t>
            </a:r>
          </a:p>
        </p:txBody>
      </p:sp>
      <p:sp>
        <p:nvSpPr>
          <p:cNvPr id="31" name="Rectangle 30">
            <a:extLst>
              <a:ext uri="{FF2B5EF4-FFF2-40B4-BE49-F238E27FC236}">
                <a16:creationId xmlns:a16="http://schemas.microsoft.com/office/drawing/2014/main" id="{DC5E8780-56B6-4C7B-8D2C-63F206A31819}"/>
              </a:ext>
            </a:extLst>
          </p:cNvPr>
          <p:cNvSpPr>
            <a:spLocks noGrp="1"/>
          </p:cNvSpPr>
          <p:nvPr/>
        </p:nvSpPr>
        <p:spPr>
          <a:xfrm>
            <a:off x="6438900" y="5448300"/>
            <a:ext cx="4857750" cy="6858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Recommender Moderate output: Mirae Asset Large Cap score 86.25; Kotak Flexicap score 82.00; ICICI Pru Bluechip score 79.38. Live NAV fetch writes per-fund CSVs plus a combined sample when internet is available.</a:t>
            </a:r>
          </a:p>
        </p:txBody>
      </p:sp>
      <p:sp>
        <p:nvSpPr>
          <p:cNvPr id="32" name="Rectangle 31">
            <a:extLst>
              <a:ext uri="{FF2B5EF4-FFF2-40B4-BE49-F238E27FC236}">
                <a16:creationId xmlns:a16="http://schemas.microsoft.com/office/drawing/2014/main" id="{74271BCC-2C6F-4DAF-92F6-F5AA032BA444}"/>
              </a:ext>
            </a:extLst>
          </p:cNvPr>
          <p:cNvSpPr>
            <a:spLocks noGrp="1"/>
          </p:cNvSpPr>
          <p:nvPr/>
        </p:nvSpPr>
        <p:spPr>
          <a:xfrm>
            <a:off x="609600" y="6515100"/>
            <a:ext cx="10972800" cy="9525"/>
          </a:xfrm>
          <a:prstGeom prst="rect">
            <a:avLst/>
          </a:prstGeom>
          <a:solidFill>
            <a:srgbClr val="D8E0E7"/>
          </a:solidFill>
          <a:ln w="0">
            <a:noFill/>
            <a:prstDash val="solid"/>
          </a:ln>
        </p:spPr>
      </p:sp>
      <p:sp>
        <p:nvSpPr>
          <p:cNvPr id="33" name="Rectangle 32">
            <a:extLst>
              <a:ext uri="{FF2B5EF4-FFF2-40B4-BE49-F238E27FC236}">
                <a16:creationId xmlns:a16="http://schemas.microsoft.com/office/drawing/2014/main" id="{1F5AB627-7344-4C7C-8BFB-360F72D964A8}"/>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34" name="Rectangle 33">
            <a:extLst>
              <a:ext uri="{FF2B5EF4-FFF2-40B4-BE49-F238E27FC236}">
                <a16:creationId xmlns:a16="http://schemas.microsoft.com/office/drawing/2014/main" id="{8A3076F7-B3DE-4C7C-AB6C-6C0E43C18C27}"/>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13</a:t>
            </a:r>
          </a:p>
        </p:txBody>
      </p:sp>
    </p:spTree>
    <p:extLst>
      <p:ext uri="{BB962C8B-B14F-4D97-AF65-F5344CB8AC3E}">
        <p14:creationId xmlns:p14="http://schemas.microsoft.com/office/powerpoint/2010/main" val="164022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FC8A7B6C-8602-4905-8EF1-CE83B95F62DF}"/>
              </a:ext>
            </a:extLst>
          </p:cNvPr>
          <p:cNvSpPr>
            <a:spLocks noGrp="1"/>
          </p:cNvSpPr>
          <p:nvPr/>
        </p:nvSpPr>
        <p:spPr>
          <a:xfrm>
            <a:off x="609600" y="266700"/>
            <a:ext cx="3429000" cy="209550"/>
          </a:xfrm>
          <a:prstGeom prst="rect">
            <a:avLst/>
          </a:prstGeom>
          <a:noFill/>
          <a:ln w="0">
            <a:noFill/>
            <a:prstDash val="solid"/>
          </a:ln>
        </p:spPr>
        <p:txBody>
          <a:bodyPr lIns="0" tIns="0" rIns="0" bIns="0" anchor="t"/>
          <a:lstStyle/>
          <a:p>
            <a:pPr algn="l">
              <a:defRPr sz="900" b="1">
                <a:solidFill>
                  <a:srgbClr val="00866E"/>
                </a:solidFill>
                <a:latin typeface="Aptos"/>
                <a:ea typeface="Aptos"/>
                <a:cs typeface="Aptos"/>
              </a:defRPr>
            </a:pPr>
            <a:r>
              <a:rPr sz="900" b="1">
                <a:solidFill>
                  <a:srgbClr val="00866E"/>
                </a:solidFill>
                <a:latin typeface="Aptos"/>
                <a:ea typeface="Aptos"/>
                <a:cs typeface="Aptos"/>
              </a:rPr>
              <a:t>BLUESTOCK MF CAPSTONE</a:t>
            </a:r>
          </a:p>
        </p:txBody>
      </p:sp>
      <p:sp>
        <p:nvSpPr>
          <p:cNvPr id="2" name="Rectangle 1">
            <a:extLst>
              <a:ext uri="{FF2B5EF4-FFF2-40B4-BE49-F238E27FC236}">
                <a16:creationId xmlns:a16="http://schemas.microsoft.com/office/drawing/2014/main" id="{BFC9DA05-1E17-48D6-832B-90D0F4ACD868}"/>
              </a:ext>
            </a:extLst>
          </p:cNvPr>
          <p:cNvSpPr>
            <a:spLocks noGrp="1"/>
          </p:cNvSpPr>
          <p:nvPr/>
        </p:nvSpPr>
        <p:spPr>
          <a:xfrm>
            <a:off x="609600" y="552450"/>
            <a:ext cx="8191500" cy="495300"/>
          </a:xfrm>
          <a:prstGeom prst="rect">
            <a:avLst/>
          </a:prstGeom>
          <a:noFill/>
          <a:ln w="0">
            <a:noFill/>
            <a:prstDash val="solid"/>
          </a:ln>
        </p:spPr>
        <p:txBody>
          <a:bodyPr lIns="0" tIns="0" rIns="0" bIns="0" anchor="t"/>
          <a:lstStyle/>
          <a:p>
            <a:pPr algn="l">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Generated Output Evidence</a:t>
            </a:r>
          </a:p>
        </p:txBody>
      </p:sp>
      <p:sp>
        <p:nvSpPr>
          <p:cNvPr id="3" name="Rectangle 2">
            <a:extLst>
              <a:ext uri="{FF2B5EF4-FFF2-40B4-BE49-F238E27FC236}">
                <a16:creationId xmlns:a16="http://schemas.microsoft.com/office/drawing/2014/main" id="{800CB381-7139-4A9D-860A-2AF6042F5971}"/>
              </a:ext>
            </a:extLst>
          </p:cNvPr>
          <p:cNvSpPr>
            <a:spLocks noGrp="1"/>
          </p:cNvSpPr>
          <p:nvPr/>
        </p:nvSpPr>
        <p:spPr>
          <a:xfrm>
            <a:off x="609600" y="1143000"/>
            <a:ext cx="1104900" cy="47625"/>
          </a:xfrm>
          <a:prstGeom prst="rect">
            <a:avLst/>
          </a:prstGeom>
          <a:solidFill>
            <a:srgbClr val="00866E"/>
          </a:solidFill>
          <a:ln w="0">
            <a:noFill/>
            <a:prstDash val="solid"/>
          </a:ln>
        </p:spPr>
      </p:sp>
      <p:sp>
        <p:nvSpPr>
          <p:cNvPr id="4" name="Rectangle 3">
            <a:extLst>
              <a:ext uri="{FF2B5EF4-FFF2-40B4-BE49-F238E27FC236}">
                <a16:creationId xmlns:a16="http://schemas.microsoft.com/office/drawing/2014/main" id="{28077FBD-DFAF-4268-8F08-5C6BEF94F27C}"/>
              </a:ext>
            </a:extLst>
          </p:cNvPr>
          <p:cNvSpPr>
            <a:spLocks noGrp="1"/>
          </p:cNvSpPr>
          <p:nvPr/>
        </p:nvSpPr>
        <p:spPr>
          <a:xfrm>
            <a:off x="609600" y="1352550"/>
            <a:ext cx="8001000" cy="419100"/>
          </a:xfrm>
          <a:prstGeom prst="rect">
            <a:avLst/>
          </a:prstGeom>
          <a:noFill/>
          <a:ln w="0">
            <a:noFill/>
            <a:prstDash val="solid"/>
          </a:ln>
        </p:spPr>
        <p:txBody>
          <a:bodyPr lIns="0" tIns="0" rIns="0" bIns="0" anchor="t"/>
          <a:lstStyle/>
          <a:p>
            <a:pPr algn="l">
              <a:defRPr sz="1500" b="0">
                <a:solidFill>
                  <a:srgbClr val="52616B"/>
                </a:solidFill>
                <a:latin typeface="Aptos"/>
                <a:ea typeface="Aptos"/>
                <a:cs typeface="Aptos"/>
              </a:defRPr>
            </a:pPr>
            <a:r>
              <a:rPr sz="1500" b="0">
                <a:solidFill>
                  <a:srgbClr val="52616B"/>
                </a:solidFill>
                <a:latin typeface="Aptos"/>
                <a:ea typeface="Aptos"/>
                <a:cs typeface="Aptos"/>
              </a:rPr>
              <a:t>These are the concrete files produced by the Python project and used as evidence in the presentation.</a:t>
            </a:r>
          </a:p>
        </p:txBody>
      </p:sp>
      <p:sp>
        <p:nvSpPr>
          <p:cNvPr id="5" name="Rectangle: Rounded Corners 4">
            <a:extLst>
              <a:ext uri="{FF2B5EF4-FFF2-40B4-BE49-F238E27FC236}">
                <a16:creationId xmlns:a16="http://schemas.microsoft.com/office/drawing/2014/main" id="{8393C8C8-B222-43B6-B4DC-0B9B286AA2B7}"/>
              </a:ext>
            </a:extLst>
          </p:cNvPr>
          <p:cNvSpPr>
            <a:spLocks noGrp="1"/>
          </p:cNvSpPr>
          <p:nvPr/>
        </p:nvSpPr>
        <p:spPr>
          <a:xfrm>
            <a:off x="723900" y="2095500"/>
            <a:ext cx="2381250" cy="1085850"/>
          </a:xfrm>
          <a:prstGeom prst="roundRect">
            <a:avLst>
              <a:gd name="adj" fmla="val 5263"/>
            </a:avLst>
          </a:prstGeom>
          <a:solidFill>
            <a:srgbClr val="FFFFFF"/>
          </a:solidFill>
          <a:ln w="9525">
            <a:solidFill>
              <a:srgbClr val="D8E0E7"/>
            </a:solidFill>
            <a:prstDash val="solid"/>
          </a:ln>
        </p:spPr>
      </p:sp>
      <p:sp>
        <p:nvSpPr>
          <p:cNvPr id="6" name="Rectangle 5">
            <a:extLst>
              <a:ext uri="{FF2B5EF4-FFF2-40B4-BE49-F238E27FC236}">
                <a16:creationId xmlns:a16="http://schemas.microsoft.com/office/drawing/2014/main" id="{03FCD770-C85E-4EDF-A819-1356FA083297}"/>
              </a:ext>
            </a:extLst>
          </p:cNvPr>
          <p:cNvSpPr>
            <a:spLocks noGrp="1"/>
          </p:cNvSpPr>
          <p:nvPr/>
        </p:nvSpPr>
        <p:spPr>
          <a:xfrm>
            <a:off x="723900" y="2095500"/>
            <a:ext cx="57150" cy="1085850"/>
          </a:xfrm>
          <a:prstGeom prst="rect">
            <a:avLst/>
          </a:prstGeom>
          <a:solidFill>
            <a:srgbClr val="0B3D5C"/>
          </a:solidFill>
          <a:ln w="0">
            <a:noFill/>
            <a:prstDash val="solid"/>
          </a:ln>
        </p:spPr>
      </p:sp>
      <p:sp>
        <p:nvSpPr>
          <p:cNvPr id="7" name="Rectangle 6">
            <a:extLst>
              <a:ext uri="{FF2B5EF4-FFF2-40B4-BE49-F238E27FC236}">
                <a16:creationId xmlns:a16="http://schemas.microsoft.com/office/drawing/2014/main" id="{4C003E15-FBBA-4F85-9E85-E850A4C8B6EE}"/>
              </a:ext>
            </a:extLst>
          </p:cNvPr>
          <p:cNvSpPr>
            <a:spLocks noGrp="1"/>
          </p:cNvSpPr>
          <p:nvPr/>
        </p:nvSpPr>
        <p:spPr>
          <a:xfrm>
            <a:off x="952500" y="2286000"/>
            <a:ext cx="19240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15</a:t>
            </a:r>
          </a:p>
        </p:txBody>
      </p:sp>
      <p:sp>
        <p:nvSpPr>
          <p:cNvPr id="8" name="Rectangle 7">
            <a:extLst>
              <a:ext uri="{FF2B5EF4-FFF2-40B4-BE49-F238E27FC236}">
                <a16:creationId xmlns:a16="http://schemas.microsoft.com/office/drawing/2014/main" id="{24A266F2-3F2D-4276-A9A8-0C74326F5D42}"/>
              </a:ext>
            </a:extLst>
          </p:cNvPr>
          <p:cNvSpPr>
            <a:spLocks noGrp="1"/>
          </p:cNvSpPr>
          <p:nvPr/>
        </p:nvSpPr>
        <p:spPr>
          <a:xfrm>
            <a:off x="952500" y="2743200"/>
            <a:ext cx="19240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processed CSV files written by the ETL/metrics layer</a:t>
            </a:r>
          </a:p>
        </p:txBody>
      </p:sp>
      <p:sp>
        <p:nvSpPr>
          <p:cNvPr id="9" name="Rectangle: Rounded Corners 8">
            <a:extLst>
              <a:ext uri="{FF2B5EF4-FFF2-40B4-BE49-F238E27FC236}">
                <a16:creationId xmlns:a16="http://schemas.microsoft.com/office/drawing/2014/main" id="{B26D695E-01E2-4368-904E-26F23BC8D9FD}"/>
              </a:ext>
            </a:extLst>
          </p:cNvPr>
          <p:cNvSpPr>
            <a:spLocks noGrp="1"/>
          </p:cNvSpPr>
          <p:nvPr/>
        </p:nvSpPr>
        <p:spPr>
          <a:xfrm>
            <a:off x="3371850" y="2095500"/>
            <a:ext cx="2381250" cy="1085850"/>
          </a:xfrm>
          <a:prstGeom prst="roundRect">
            <a:avLst>
              <a:gd name="adj" fmla="val 5263"/>
            </a:avLst>
          </a:prstGeom>
          <a:solidFill>
            <a:srgbClr val="FFFFFF"/>
          </a:solidFill>
          <a:ln w="9525">
            <a:solidFill>
              <a:srgbClr val="D8E0E7"/>
            </a:solidFill>
            <a:prstDash val="solid"/>
          </a:ln>
        </p:spPr>
      </p:sp>
      <p:sp>
        <p:nvSpPr>
          <p:cNvPr id="10" name="Rectangle 9">
            <a:extLst>
              <a:ext uri="{FF2B5EF4-FFF2-40B4-BE49-F238E27FC236}">
                <a16:creationId xmlns:a16="http://schemas.microsoft.com/office/drawing/2014/main" id="{9914C276-CD59-4D62-B595-E113F81AF0DE}"/>
              </a:ext>
            </a:extLst>
          </p:cNvPr>
          <p:cNvSpPr>
            <a:spLocks noGrp="1"/>
          </p:cNvSpPr>
          <p:nvPr/>
        </p:nvSpPr>
        <p:spPr>
          <a:xfrm>
            <a:off x="3371850" y="2095500"/>
            <a:ext cx="57150" cy="1085850"/>
          </a:xfrm>
          <a:prstGeom prst="rect">
            <a:avLst/>
          </a:prstGeom>
          <a:solidFill>
            <a:srgbClr val="00866E"/>
          </a:solidFill>
          <a:ln w="0">
            <a:noFill/>
            <a:prstDash val="solid"/>
          </a:ln>
        </p:spPr>
      </p:sp>
      <p:sp>
        <p:nvSpPr>
          <p:cNvPr id="11" name="Rectangle 10">
            <a:extLst>
              <a:ext uri="{FF2B5EF4-FFF2-40B4-BE49-F238E27FC236}">
                <a16:creationId xmlns:a16="http://schemas.microsoft.com/office/drawing/2014/main" id="{61F7BADD-0979-4E77-860B-E78104691CDA}"/>
              </a:ext>
            </a:extLst>
          </p:cNvPr>
          <p:cNvSpPr>
            <a:spLocks noGrp="1"/>
          </p:cNvSpPr>
          <p:nvPr/>
        </p:nvSpPr>
        <p:spPr>
          <a:xfrm>
            <a:off x="3600450" y="2286000"/>
            <a:ext cx="19240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12</a:t>
            </a:r>
          </a:p>
        </p:txBody>
      </p:sp>
      <p:sp>
        <p:nvSpPr>
          <p:cNvPr id="12" name="Rectangle 11">
            <a:extLst>
              <a:ext uri="{FF2B5EF4-FFF2-40B4-BE49-F238E27FC236}">
                <a16:creationId xmlns:a16="http://schemas.microsoft.com/office/drawing/2014/main" id="{8CA3580E-6156-4908-A92E-3BD214B0B172}"/>
              </a:ext>
            </a:extLst>
          </p:cNvPr>
          <p:cNvSpPr>
            <a:spLocks noGrp="1"/>
          </p:cNvSpPr>
          <p:nvPr/>
        </p:nvSpPr>
        <p:spPr>
          <a:xfrm>
            <a:off x="3600450" y="2743200"/>
            <a:ext cx="19240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SQLite row-audit entries matching processed outputs</a:t>
            </a:r>
          </a:p>
        </p:txBody>
      </p:sp>
      <p:sp>
        <p:nvSpPr>
          <p:cNvPr id="13" name="Rectangle: Rounded Corners 12">
            <a:extLst>
              <a:ext uri="{FF2B5EF4-FFF2-40B4-BE49-F238E27FC236}">
                <a16:creationId xmlns:a16="http://schemas.microsoft.com/office/drawing/2014/main" id="{30BB7BCE-ACA0-4027-A739-FEB3A3D18500}"/>
              </a:ext>
            </a:extLst>
          </p:cNvPr>
          <p:cNvSpPr>
            <a:spLocks noGrp="1"/>
          </p:cNvSpPr>
          <p:nvPr/>
        </p:nvSpPr>
        <p:spPr>
          <a:xfrm>
            <a:off x="6019800" y="2095500"/>
            <a:ext cx="2381250" cy="1085850"/>
          </a:xfrm>
          <a:prstGeom prst="roundRect">
            <a:avLst>
              <a:gd name="adj" fmla="val 5263"/>
            </a:avLst>
          </a:prstGeom>
          <a:solidFill>
            <a:srgbClr val="FFFFFF"/>
          </a:solidFill>
          <a:ln w="9525">
            <a:solidFill>
              <a:srgbClr val="D8E0E7"/>
            </a:solidFill>
            <a:prstDash val="solid"/>
          </a:ln>
        </p:spPr>
      </p:sp>
      <p:sp>
        <p:nvSpPr>
          <p:cNvPr id="14" name="Rectangle 13">
            <a:extLst>
              <a:ext uri="{FF2B5EF4-FFF2-40B4-BE49-F238E27FC236}">
                <a16:creationId xmlns:a16="http://schemas.microsoft.com/office/drawing/2014/main" id="{9F2C3B8F-F4DD-45ED-B7EF-A1C98C64BF5B}"/>
              </a:ext>
            </a:extLst>
          </p:cNvPr>
          <p:cNvSpPr>
            <a:spLocks noGrp="1"/>
          </p:cNvSpPr>
          <p:nvPr/>
        </p:nvSpPr>
        <p:spPr>
          <a:xfrm>
            <a:off x="6019800" y="2095500"/>
            <a:ext cx="57150" cy="1085850"/>
          </a:xfrm>
          <a:prstGeom prst="rect">
            <a:avLst/>
          </a:prstGeom>
          <a:solidFill>
            <a:srgbClr val="F2A541"/>
          </a:solidFill>
          <a:ln w="0">
            <a:noFill/>
            <a:prstDash val="solid"/>
          </a:ln>
        </p:spPr>
      </p:sp>
      <p:sp>
        <p:nvSpPr>
          <p:cNvPr id="15" name="Rectangle 14">
            <a:extLst>
              <a:ext uri="{FF2B5EF4-FFF2-40B4-BE49-F238E27FC236}">
                <a16:creationId xmlns:a16="http://schemas.microsoft.com/office/drawing/2014/main" id="{391072DF-6C2D-401A-A706-30C575E01544}"/>
              </a:ext>
            </a:extLst>
          </p:cNvPr>
          <p:cNvSpPr>
            <a:spLocks noGrp="1"/>
          </p:cNvSpPr>
          <p:nvPr/>
        </p:nvSpPr>
        <p:spPr>
          <a:xfrm>
            <a:off x="6248400" y="2286000"/>
            <a:ext cx="19240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21</a:t>
            </a:r>
          </a:p>
        </p:txBody>
      </p:sp>
      <p:sp>
        <p:nvSpPr>
          <p:cNvPr id="16" name="Rectangle 15">
            <a:extLst>
              <a:ext uri="{FF2B5EF4-FFF2-40B4-BE49-F238E27FC236}">
                <a16:creationId xmlns:a16="http://schemas.microsoft.com/office/drawing/2014/main" id="{6CFA628F-B18B-4D24-A401-0C456DC6AB7F}"/>
              </a:ext>
            </a:extLst>
          </p:cNvPr>
          <p:cNvSpPr>
            <a:spLocks noGrp="1"/>
          </p:cNvSpPr>
          <p:nvPr/>
        </p:nvSpPr>
        <p:spPr>
          <a:xfrm>
            <a:off x="6248400" y="2743200"/>
            <a:ext cx="19240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report chart PNGs generated for analysis slides</a:t>
            </a:r>
          </a:p>
        </p:txBody>
      </p:sp>
      <p:sp>
        <p:nvSpPr>
          <p:cNvPr id="17" name="Rectangle: Rounded Corners 16">
            <a:extLst>
              <a:ext uri="{FF2B5EF4-FFF2-40B4-BE49-F238E27FC236}">
                <a16:creationId xmlns:a16="http://schemas.microsoft.com/office/drawing/2014/main" id="{340419CE-C076-4B54-AB2E-8B17F6816B96}"/>
              </a:ext>
            </a:extLst>
          </p:cNvPr>
          <p:cNvSpPr>
            <a:spLocks noGrp="1"/>
          </p:cNvSpPr>
          <p:nvPr/>
        </p:nvSpPr>
        <p:spPr>
          <a:xfrm>
            <a:off x="8667750" y="2095500"/>
            <a:ext cx="2381250" cy="1085850"/>
          </a:xfrm>
          <a:prstGeom prst="roundRect">
            <a:avLst>
              <a:gd name="adj" fmla="val 5263"/>
            </a:avLst>
          </a:prstGeom>
          <a:solidFill>
            <a:srgbClr val="FFFFFF"/>
          </a:solidFill>
          <a:ln w="9525">
            <a:solidFill>
              <a:srgbClr val="D8E0E7"/>
            </a:solidFill>
            <a:prstDash val="solid"/>
          </a:ln>
        </p:spPr>
      </p:sp>
      <p:sp>
        <p:nvSpPr>
          <p:cNvPr id="18" name="Rectangle 17">
            <a:extLst>
              <a:ext uri="{FF2B5EF4-FFF2-40B4-BE49-F238E27FC236}">
                <a16:creationId xmlns:a16="http://schemas.microsoft.com/office/drawing/2014/main" id="{C611620F-8186-4E0E-8FEB-1CC1DC106755}"/>
              </a:ext>
            </a:extLst>
          </p:cNvPr>
          <p:cNvSpPr>
            <a:spLocks noGrp="1"/>
          </p:cNvSpPr>
          <p:nvPr/>
        </p:nvSpPr>
        <p:spPr>
          <a:xfrm>
            <a:off x="8667750" y="2095500"/>
            <a:ext cx="57150" cy="1085850"/>
          </a:xfrm>
          <a:prstGeom prst="rect">
            <a:avLst/>
          </a:prstGeom>
          <a:solidFill>
            <a:srgbClr val="D1495B"/>
          </a:solidFill>
          <a:ln w="0">
            <a:noFill/>
            <a:prstDash val="solid"/>
          </a:ln>
        </p:spPr>
      </p:sp>
      <p:sp>
        <p:nvSpPr>
          <p:cNvPr id="19" name="Rectangle 18">
            <a:extLst>
              <a:ext uri="{FF2B5EF4-FFF2-40B4-BE49-F238E27FC236}">
                <a16:creationId xmlns:a16="http://schemas.microsoft.com/office/drawing/2014/main" id="{93768A8D-A733-4527-AF19-CB0DA9A8B783}"/>
              </a:ext>
            </a:extLst>
          </p:cNvPr>
          <p:cNvSpPr>
            <a:spLocks noGrp="1"/>
          </p:cNvSpPr>
          <p:nvPr/>
        </p:nvSpPr>
        <p:spPr>
          <a:xfrm>
            <a:off x="8896350" y="2286000"/>
            <a:ext cx="1924050" cy="400050"/>
          </a:xfrm>
          <a:prstGeom prst="rect">
            <a:avLst/>
          </a:prstGeom>
          <a:noFill/>
          <a:ln w="0">
            <a:noFill/>
            <a:prstDash val="solid"/>
          </a:ln>
        </p:spPr>
        <p:txBody>
          <a:bodyPr lIns="0" tIns="0" rIns="0" bIns="0" anchor="t"/>
          <a:lstStyle/>
          <a:p>
            <a:pPr algn="l">
              <a:defRPr sz="2550" b="1">
                <a:solidFill>
                  <a:srgbClr val="17202A"/>
                </a:solidFill>
                <a:latin typeface="Aptos Display"/>
                <a:ea typeface="Aptos Display"/>
                <a:cs typeface="Aptos Display"/>
              </a:defRPr>
            </a:pPr>
            <a:r>
              <a:rPr sz="2550" b="1">
                <a:solidFill>
                  <a:srgbClr val="17202A"/>
                </a:solidFill>
                <a:latin typeface="Aptos Display"/>
                <a:ea typeface="Aptos Display"/>
                <a:cs typeface="Aptos Display"/>
              </a:rPr>
              <a:t>5</a:t>
            </a:r>
          </a:p>
        </p:txBody>
      </p:sp>
      <p:sp>
        <p:nvSpPr>
          <p:cNvPr id="20" name="Rectangle 19">
            <a:extLst>
              <a:ext uri="{FF2B5EF4-FFF2-40B4-BE49-F238E27FC236}">
                <a16:creationId xmlns:a16="http://schemas.microsoft.com/office/drawing/2014/main" id="{063BD30C-3C9B-4764-9619-282E5A2A5709}"/>
              </a:ext>
            </a:extLst>
          </p:cNvPr>
          <p:cNvSpPr>
            <a:spLocks noGrp="1"/>
          </p:cNvSpPr>
          <p:nvPr/>
        </p:nvSpPr>
        <p:spPr>
          <a:xfrm>
            <a:off x="8896350" y="2743200"/>
            <a:ext cx="1924050" cy="34290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Jupyter notebooks generated for reusable review</a:t>
            </a:r>
          </a:p>
        </p:txBody>
      </p:sp>
      <p:sp>
        <p:nvSpPr>
          <p:cNvPr id="21" name="Rectangle: Rounded Corners 20">
            <a:extLst>
              <a:ext uri="{FF2B5EF4-FFF2-40B4-BE49-F238E27FC236}">
                <a16:creationId xmlns:a16="http://schemas.microsoft.com/office/drawing/2014/main" id="{E08347B5-6DF0-4A0F-91B5-AFEE68EE797D}"/>
              </a:ext>
            </a:extLst>
          </p:cNvPr>
          <p:cNvSpPr>
            <a:spLocks noGrp="1"/>
          </p:cNvSpPr>
          <p:nvPr/>
        </p:nvSpPr>
        <p:spPr>
          <a:xfrm>
            <a:off x="876300" y="3714750"/>
            <a:ext cx="3219450" cy="1790700"/>
          </a:xfrm>
          <a:prstGeom prst="roundRect">
            <a:avLst>
              <a:gd name="adj" fmla="val 3191"/>
            </a:avLst>
          </a:prstGeom>
          <a:solidFill>
            <a:srgbClr val="FFFFFF"/>
          </a:solidFill>
          <a:ln w="9525">
            <a:solidFill>
              <a:srgbClr val="D8E0E7"/>
            </a:solidFill>
            <a:prstDash val="solid"/>
          </a:ln>
        </p:spPr>
      </p:sp>
      <p:sp>
        <p:nvSpPr>
          <p:cNvPr id="22" name="Rectangle 21">
            <a:extLst>
              <a:ext uri="{FF2B5EF4-FFF2-40B4-BE49-F238E27FC236}">
                <a16:creationId xmlns:a16="http://schemas.microsoft.com/office/drawing/2014/main" id="{EB4B4BA6-C458-4045-BF8E-A1788AFAC34F}"/>
              </a:ext>
            </a:extLst>
          </p:cNvPr>
          <p:cNvSpPr>
            <a:spLocks noGrp="1"/>
          </p:cNvSpPr>
          <p:nvPr/>
        </p:nvSpPr>
        <p:spPr>
          <a:xfrm>
            <a:off x="1047750" y="3905250"/>
            <a:ext cx="323850" cy="38100"/>
          </a:xfrm>
          <a:prstGeom prst="rect">
            <a:avLst/>
          </a:prstGeom>
          <a:solidFill>
            <a:srgbClr val="0B3D5C"/>
          </a:solidFill>
          <a:ln w="0">
            <a:noFill/>
            <a:prstDash val="solid"/>
          </a:ln>
        </p:spPr>
      </p:sp>
      <p:sp>
        <p:nvSpPr>
          <p:cNvPr id="23" name="Rectangle 22">
            <a:extLst>
              <a:ext uri="{FF2B5EF4-FFF2-40B4-BE49-F238E27FC236}">
                <a16:creationId xmlns:a16="http://schemas.microsoft.com/office/drawing/2014/main" id="{CBE67918-B57F-4E16-B958-44D251BC99DD}"/>
              </a:ext>
            </a:extLst>
          </p:cNvPr>
          <p:cNvSpPr>
            <a:spLocks noGrp="1"/>
          </p:cNvSpPr>
          <p:nvPr/>
        </p:nvSpPr>
        <p:spPr>
          <a:xfrm>
            <a:off x="1047750" y="4038600"/>
            <a:ext cx="287655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Processed data examples</a:t>
            </a:r>
          </a:p>
        </p:txBody>
      </p:sp>
      <p:sp>
        <p:nvSpPr>
          <p:cNvPr id="24" name="Rectangle 23">
            <a:extLst>
              <a:ext uri="{FF2B5EF4-FFF2-40B4-BE49-F238E27FC236}">
                <a16:creationId xmlns:a16="http://schemas.microsoft.com/office/drawing/2014/main" id="{027B2C35-699E-4144-83F9-2966AA2B9A4F}"/>
              </a:ext>
            </a:extLst>
          </p:cNvPr>
          <p:cNvSpPr>
            <a:spLocks noGrp="1"/>
          </p:cNvSpPr>
          <p:nvPr/>
        </p:nvSpPr>
        <p:spPr>
          <a:xfrm>
            <a:off x="1047750" y="4381500"/>
            <a:ext cx="2876550" cy="9715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fund_master.csv: 40 rows</a:t>
            </a:r>
          </a:p>
          <a:p>
            <a:pPr algn="l">
              <a:defRPr sz="1200" b="0">
                <a:solidFill>
                  <a:srgbClr val="52616B"/>
                </a:solidFill>
                <a:latin typeface="Aptos"/>
                <a:ea typeface="Aptos"/>
                <a:cs typeface="Aptos"/>
              </a:defRPr>
            </a:pPr>
            <a:r>
              <a:rPr sz="1200" b="0">
                <a:solidFill>
                  <a:srgbClr val="52616B"/>
                </a:solidFill>
                <a:latin typeface="Aptos"/>
                <a:ea typeface="Aptos"/>
                <a:cs typeface="Aptos"/>
              </a:rPr>
              <a:t>nav_history.csv: 64,320 rows</a:t>
            </a:r>
          </a:p>
          <a:p>
            <a:pPr algn="l">
              <a:defRPr sz="1200" b="0">
                <a:solidFill>
                  <a:srgbClr val="52616B"/>
                </a:solidFill>
                <a:latin typeface="Aptos"/>
                <a:ea typeface="Aptos"/>
                <a:cs typeface="Aptos"/>
              </a:defRPr>
            </a:pPr>
            <a:r>
              <a:rPr sz="1200" b="0">
                <a:solidFill>
                  <a:srgbClr val="52616B"/>
                </a:solidFill>
                <a:latin typeface="Aptos"/>
                <a:ea typeface="Aptos"/>
                <a:cs typeface="Aptos"/>
              </a:rPr>
              <a:t>investor_transactions.csv: 32,778 rows</a:t>
            </a:r>
          </a:p>
          <a:p>
            <a:pPr algn="l">
              <a:defRPr sz="1200" b="0">
                <a:solidFill>
                  <a:srgbClr val="52616B"/>
                </a:solidFill>
                <a:latin typeface="Aptos"/>
                <a:ea typeface="Aptos"/>
                <a:cs typeface="Aptos"/>
              </a:defRPr>
            </a:pPr>
            <a:r>
              <a:rPr sz="1200" b="0">
                <a:solidFill>
                  <a:srgbClr val="52616B"/>
                </a:solidFill>
                <a:latin typeface="Aptos"/>
                <a:ea typeface="Aptos"/>
                <a:cs typeface="Aptos"/>
              </a:rPr>
              <a:t>benchmark_indices.csv: 8,050 rows</a:t>
            </a:r>
          </a:p>
          <a:p>
            <a:pPr algn="l">
              <a:defRPr sz="1200" b="0">
                <a:solidFill>
                  <a:srgbClr val="52616B"/>
                </a:solidFill>
                <a:latin typeface="Aptos"/>
                <a:ea typeface="Aptos"/>
                <a:cs typeface="Aptos"/>
              </a:defRPr>
            </a:pPr>
            <a:r>
              <a:rPr sz="1200" b="0">
                <a:solidFill>
                  <a:srgbClr val="52616B"/>
                </a:solidFill>
                <a:latin typeface="Aptos"/>
                <a:ea typeface="Aptos"/>
                <a:cs typeface="Aptos"/>
              </a:rPr>
              <a:t>portfolio_holdings.csv: 322 rows</a:t>
            </a:r>
          </a:p>
        </p:txBody>
      </p:sp>
      <p:sp>
        <p:nvSpPr>
          <p:cNvPr id="25" name="Rectangle: Rounded Corners 24">
            <a:extLst>
              <a:ext uri="{FF2B5EF4-FFF2-40B4-BE49-F238E27FC236}">
                <a16:creationId xmlns:a16="http://schemas.microsoft.com/office/drawing/2014/main" id="{E394AF12-C24C-4168-A264-E794CBDAAD90}"/>
              </a:ext>
            </a:extLst>
          </p:cNvPr>
          <p:cNvSpPr>
            <a:spLocks noGrp="1"/>
          </p:cNvSpPr>
          <p:nvPr/>
        </p:nvSpPr>
        <p:spPr>
          <a:xfrm>
            <a:off x="4495800" y="3714750"/>
            <a:ext cx="3219450" cy="1790700"/>
          </a:xfrm>
          <a:prstGeom prst="roundRect">
            <a:avLst>
              <a:gd name="adj" fmla="val 3191"/>
            </a:avLst>
          </a:prstGeom>
          <a:solidFill>
            <a:srgbClr val="FFFFFF"/>
          </a:solidFill>
          <a:ln w="9525">
            <a:solidFill>
              <a:srgbClr val="D8E0E7"/>
            </a:solidFill>
            <a:prstDash val="solid"/>
          </a:ln>
        </p:spPr>
      </p:sp>
      <p:sp>
        <p:nvSpPr>
          <p:cNvPr id="26" name="Rectangle 25">
            <a:extLst>
              <a:ext uri="{FF2B5EF4-FFF2-40B4-BE49-F238E27FC236}">
                <a16:creationId xmlns:a16="http://schemas.microsoft.com/office/drawing/2014/main" id="{FF3413F5-4428-43C4-B4D3-73E8B9DCEE8E}"/>
              </a:ext>
            </a:extLst>
          </p:cNvPr>
          <p:cNvSpPr>
            <a:spLocks noGrp="1"/>
          </p:cNvSpPr>
          <p:nvPr/>
        </p:nvSpPr>
        <p:spPr>
          <a:xfrm>
            <a:off x="4667250" y="3905250"/>
            <a:ext cx="323850" cy="38100"/>
          </a:xfrm>
          <a:prstGeom prst="rect">
            <a:avLst/>
          </a:prstGeom>
          <a:solidFill>
            <a:srgbClr val="00866E"/>
          </a:solidFill>
          <a:ln w="0">
            <a:noFill/>
            <a:prstDash val="solid"/>
          </a:ln>
        </p:spPr>
      </p:sp>
      <p:sp>
        <p:nvSpPr>
          <p:cNvPr id="27" name="Rectangle 26">
            <a:extLst>
              <a:ext uri="{FF2B5EF4-FFF2-40B4-BE49-F238E27FC236}">
                <a16:creationId xmlns:a16="http://schemas.microsoft.com/office/drawing/2014/main" id="{A37CA6EA-2276-4D01-83D3-1B3677149AA6}"/>
              </a:ext>
            </a:extLst>
          </p:cNvPr>
          <p:cNvSpPr>
            <a:spLocks noGrp="1"/>
          </p:cNvSpPr>
          <p:nvPr/>
        </p:nvSpPr>
        <p:spPr>
          <a:xfrm>
            <a:off x="4667250" y="4038600"/>
            <a:ext cx="287655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Report CSV examples</a:t>
            </a:r>
          </a:p>
        </p:txBody>
      </p:sp>
      <p:sp>
        <p:nvSpPr>
          <p:cNvPr id="28" name="Rectangle 27">
            <a:extLst>
              <a:ext uri="{FF2B5EF4-FFF2-40B4-BE49-F238E27FC236}">
                <a16:creationId xmlns:a16="http://schemas.microsoft.com/office/drawing/2014/main" id="{B12D0B5E-548F-4DCC-B530-1BD7D8A573C4}"/>
              </a:ext>
            </a:extLst>
          </p:cNvPr>
          <p:cNvSpPr>
            <a:spLocks noGrp="1"/>
          </p:cNvSpPr>
          <p:nvPr/>
        </p:nvSpPr>
        <p:spPr>
          <a:xfrm>
            <a:off x="4667250" y="4381500"/>
            <a:ext cx="2876550" cy="9715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fund_scorecard.csv</a:t>
            </a:r>
          </a:p>
          <a:p>
            <a:pPr algn="l">
              <a:defRPr sz="1200" b="0">
                <a:solidFill>
                  <a:srgbClr val="52616B"/>
                </a:solidFill>
                <a:latin typeface="Aptos"/>
                <a:ea typeface="Aptos"/>
                <a:cs typeface="Aptos"/>
              </a:defRPr>
            </a:pPr>
            <a:r>
              <a:rPr sz="1200" b="0">
                <a:solidFill>
                  <a:srgbClr val="52616B"/>
                </a:solidFill>
                <a:latin typeface="Aptos"/>
                <a:ea typeface="Aptos"/>
                <a:cs typeface="Aptos"/>
              </a:rPr>
              <a:t>alpha_beta.csv</a:t>
            </a:r>
          </a:p>
          <a:p>
            <a:pPr algn="l">
              <a:defRPr sz="1200" b="0">
                <a:solidFill>
                  <a:srgbClr val="52616B"/>
                </a:solidFill>
                <a:latin typeface="Aptos"/>
                <a:ea typeface="Aptos"/>
                <a:cs typeface="Aptos"/>
              </a:defRPr>
            </a:pPr>
            <a:r>
              <a:rPr sz="1200" b="0">
                <a:solidFill>
                  <a:srgbClr val="52616B"/>
                </a:solidFill>
                <a:latin typeface="Aptos"/>
                <a:ea typeface="Aptos"/>
                <a:cs typeface="Aptos"/>
              </a:rPr>
              <a:t>var_cvar_report.csv</a:t>
            </a:r>
          </a:p>
          <a:p>
            <a:pPr algn="l">
              <a:defRPr sz="1200" b="0">
                <a:solidFill>
                  <a:srgbClr val="52616B"/>
                </a:solidFill>
                <a:latin typeface="Aptos"/>
                <a:ea typeface="Aptos"/>
                <a:cs typeface="Aptos"/>
              </a:defRPr>
            </a:pPr>
            <a:r>
              <a:rPr sz="1200" b="0">
                <a:solidFill>
                  <a:srgbClr val="52616B"/>
                </a:solidFill>
                <a:latin typeface="Aptos"/>
                <a:ea typeface="Aptos"/>
                <a:cs typeface="Aptos"/>
              </a:rPr>
              <a:t>tracking_error.csv</a:t>
            </a:r>
          </a:p>
          <a:p>
            <a:pPr algn="l">
              <a:defRPr sz="1200" b="0">
                <a:solidFill>
                  <a:srgbClr val="52616B"/>
                </a:solidFill>
                <a:latin typeface="Aptos"/>
                <a:ea typeface="Aptos"/>
                <a:cs typeface="Aptos"/>
              </a:defRPr>
            </a:pPr>
            <a:r>
              <a:rPr sz="1200" b="0">
                <a:solidFill>
                  <a:srgbClr val="52616B"/>
                </a:solidFill>
                <a:latin typeface="Aptos"/>
                <a:ea typeface="Aptos"/>
                <a:cs typeface="Aptos"/>
              </a:rPr>
              <a:t>sector_hhi.csv</a:t>
            </a:r>
          </a:p>
          <a:p>
            <a:pPr algn="l">
              <a:defRPr sz="1200" b="0">
                <a:solidFill>
                  <a:srgbClr val="52616B"/>
                </a:solidFill>
                <a:latin typeface="Aptos"/>
                <a:ea typeface="Aptos"/>
                <a:cs typeface="Aptos"/>
              </a:defRPr>
            </a:pPr>
            <a:r>
              <a:rPr sz="1200" b="0">
                <a:solidFill>
                  <a:srgbClr val="52616B"/>
                </a:solidFill>
                <a:latin typeface="Aptos"/>
                <a:ea typeface="Aptos"/>
                <a:cs typeface="Aptos"/>
              </a:rPr>
              <a:t>fund_metrics_computed.csv</a:t>
            </a:r>
          </a:p>
        </p:txBody>
      </p:sp>
      <p:sp>
        <p:nvSpPr>
          <p:cNvPr id="29" name="Rectangle: Rounded Corners 28">
            <a:extLst>
              <a:ext uri="{FF2B5EF4-FFF2-40B4-BE49-F238E27FC236}">
                <a16:creationId xmlns:a16="http://schemas.microsoft.com/office/drawing/2014/main" id="{C057C04F-A98B-467F-861B-A846EBB566C8}"/>
              </a:ext>
            </a:extLst>
          </p:cNvPr>
          <p:cNvSpPr>
            <a:spLocks noGrp="1"/>
          </p:cNvSpPr>
          <p:nvPr/>
        </p:nvSpPr>
        <p:spPr>
          <a:xfrm>
            <a:off x="8115300" y="3714750"/>
            <a:ext cx="3219450" cy="1790700"/>
          </a:xfrm>
          <a:prstGeom prst="roundRect">
            <a:avLst>
              <a:gd name="adj" fmla="val 3191"/>
            </a:avLst>
          </a:prstGeom>
          <a:solidFill>
            <a:srgbClr val="FFFFFF"/>
          </a:solidFill>
          <a:ln w="9525">
            <a:solidFill>
              <a:srgbClr val="D8E0E7"/>
            </a:solidFill>
            <a:prstDash val="solid"/>
          </a:ln>
        </p:spPr>
      </p:sp>
      <p:sp>
        <p:nvSpPr>
          <p:cNvPr id="30" name="Rectangle 29">
            <a:extLst>
              <a:ext uri="{FF2B5EF4-FFF2-40B4-BE49-F238E27FC236}">
                <a16:creationId xmlns:a16="http://schemas.microsoft.com/office/drawing/2014/main" id="{3F50EA58-96FD-4230-AC72-61C13E60CC36}"/>
              </a:ext>
            </a:extLst>
          </p:cNvPr>
          <p:cNvSpPr>
            <a:spLocks noGrp="1"/>
          </p:cNvSpPr>
          <p:nvPr/>
        </p:nvSpPr>
        <p:spPr>
          <a:xfrm>
            <a:off x="8286750" y="3905250"/>
            <a:ext cx="323850" cy="38100"/>
          </a:xfrm>
          <a:prstGeom prst="rect">
            <a:avLst/>
          </a:prstGeom>
          <a:solidFill>
            <a:srgbClr val="F2A541"/>
          </a:solidFill>
          <a:ln w="0">
            <a:noFill/>
            <a:prstDash val="solid"/>
          </a:ln>
        </p:spPr>
      </p:sp>
      <p:sp>
        <p:nvSpPr>
          <p:cNvPr id="31" name="Rectangle 30">
            <a:extLst>
              <a:ext uri="{FF2B5EF4-FFF2-40B4-BE49-F238E27FC236}">
                <a16:creationId xmlns:a16="http://schemas.microsoft.com/office/drawing/2014/main" id="{148FF24B-F836-4602-BFAC-25A658C21B33}"/>
              </a:ext>
            </a:extLst>
          </p:cNvPr>
          <p:cNvSpPr>
            <a:spLocks noGrp="1"/>
          </p:cNvSpPr>
          <p:nvPr/>
        </p:nvSpPr>
        <p:spPr>
          <a:xfrm>
            <a:off x="8286750" y="4038600"/>
            <a:ext cx="287655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Presentation/report examples</a:t>
            </a:r>
          </a:p>
        </p:txBody>
      </p:sp>
      <p:sp>
        <p:nvSpPr>
          <p:cNvPr id="32" name="Rectangle 31">
            <a:extLst>
              <a:ext uri="{FF2B5EF4-FFF2-40B4-BE49-F238E27FC236}">
                <a16:creationId xmlns:a16="http://schemas.microsoft.com/office/drawing/2014/main" id="{40842404-641D-4478-8465-4768CB4EDEA5}"/>
              </a:ext>
            </a:extLst>
          </p:cNvPr>
          <p:cNvSpPr>
            <a:spLocks noGrp="1"/>
          </p:cNvSpPr>
          <p:nvPr/>
        </p:nvSpPr>
        <p:spPr>
          <a:xfrm>
            <a:off x="8286750" y="4381500"/>
            <a:ext cx="2876550" cy="9715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Final_Report.html</a:t>
            </a:r>
          </a:p>
          <a:p>
            <a:pPr algn="l">
              <a:defRPr sz="1200" b="0">
                <a:solidFill>
                  <a:srgbClr val="52616B"/>
                </a:solidFill>
                <a:latin typeface="Aptos"/>
                <a:ea typeface="Aptos"/>
                <a:cs typeface="Aptos"/>
              </a:defRPr>
            </a:pPr>
            <a:r>
              <a:rPr sz="1200" b="0">
                <a:solidFill>
                  <a:srgbClr val="52616B"/>
                </a:solidFill>
                <a:latin typeface="Aptos"/>
                <a:ea typeface="Aptos"/>
                <a:cs typeface="Aptos"/>
              </a:rPr>
              <a:t>Final_Report.pdf</a:t>
            </a:r>
          </a:p>
          <a:p>
            <a:pPr algn="l">
              <a:defRPr sz="1200" b="0">
                <a:solidFill>
                  <a:srgbClr val="52616B"/>
                </a:solidFill>
                <a:latin typeface="Aptos"/>
                <a:ea typeface="Aptos"/>
                <a:cs typeface="Aptos"/>
              </a:defRPr>
            </a:pPr>
            <a:r>
              <a:rPr sz="1200" b="0">
                <a:solidFill>
                  <a:srgbClr val="52616B"/>
                </a:solidFill>
                <a:latin typeface="Aptos"/>
                <a:ea typeface="Aptos"/>
                <a:cs typeface="Aptos"/>
              </a:rPr>
              <a:t>Bluestock_MF_Presentation.pptx</a:t>
            </a:r>
          </a:p>
          <a:p>
            <a:pPr algn="l">
              <a:defRPr sz="1200" b="0">
                <a:solidFill>
                  <a:srgbClr val="52616B"/>
                </a:solidFill>
                <a:latin typeface="Aptos"/>
                <a:ea typeface="Aptos"/>
                <a:cs typeface="Aptos"/>
              </a:defRPr>
            </a:pPr>
            <a:r>
              <a:rPr sz="1200" b="0">
                <a:solidFill>
                  <a:srgbClr val="52616B"/>
                </a:solidFill>
                <a:latin typeface="Aptos"/>
                <a:ea typeface="Aptos"/>
                <a:cs typeface="Aptos"/>
              </a:rPr>
              <a:t>Presentation_Outline.md</a:t>
            </a:r>
          </a:p>
          <a:p>
            <a:pPr algn="l">
              <a:defRPr sz="1200" b="0">
                <a:solidFill>
                  <a:srgbClr val="52616B"/>
                </a:solidFill>
                <a:latin typeface="Aptos"/>
                <a:ea typeface="Aptos"/>
                <a:cs typeface="Aptos"/>
              </a:defRPr>
            </a:pPr>
            <a:r>
              <a:rPr sz="1200" b="0">
                <a:solidFill>
                  <a:srgbClr val="52616B"/>
                </a:solidFill>
                <a:latin typeface="Aptos"/>
                <a:ea typeface="Aptos"/>
                <a:cs typeface="Aptos"/>
              </a:rPr>
              <a:t>Power BI dashboard previews</a:t>
            </a:r>
          </a:p>
        </p:txBody>
      </p:sp>
      <p:sp>
        <p:nvSpPr>
          <p:cNvPr id="33" name="Rectangle 32">
            <a:extLst>
              <a:ext uri="{FF2B5EF4-FFF2-40B4-BE49-F238E27FC236}">
                <a16:creationId xmlns:a16="http://schemas.microsoft.com/office/drawing/2014/main" id="{2A91007C-E08B-4A89-8D87-DF1E2BB365A7}"/>
              </a:ext>
            </a:extLst>
          </p:cNvPr>
          <p:cNvSpPr>
            <a:spLocks noGrp="1"/>
          </p:cNvSpPr>
          <p:nvPr/>
        </p:nvSpPr>
        <p:spPr>
          <a:xfrm>
            <a:off x="609600" y="6515100"/>
            <a:ext cx="10972800" cy="9525"/>
          </a:xfrm>
          <a:prstGeom prst="rect">
            <a:avLst/>
          </a:prstGeom>
          <a:solidFill>
            <a:srgbClr val="D8E0E7"/>
          </a:solidFill>
          <a:ln w="0">
            <a:noFill/>
            <a:prstDash val="solid"/>
          </a:ln>
        </p:spPr>
      </p:sp>
      <p:sp>
        <p:nvSpPr>
          <p:cNvPr id="34" name="Rectangle 33">
            <a:extLst>
              <a:ext uri="{FF2B5EF4-FFF2-40B4-BE49-F238E27FC236}">
                <a16:creationId xmlns:a16="http://schemas.microsoft.com/office/drawing/2014/main" id="{64F08FDB-63F0-4801-8755-9304103B5890}"/>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35" name="Rectangle 34">
            <a:extLst>
              <a:ext uri="{FF2B5EF4-FFF2-40B4-BE49-F238E27FC236}">
                <a16:creationId xmlns:a16="http://schemas.microsoft.com/office/drawing/2014/main" id="{0CB69A17-F2D6-4EB5-AFF5-FDD797A6912B}"/>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14</a:t>
            </a:r>
          </a:p>
        </p:txBody>
      </p:sp>
    </p:spTree>
    <p:extLst>
      <p:ext uri="{BB962C8B-B14F-4D97-AF65-F5344CB8AC3E}">
        <p14:creationId xmlns:p14="http://schemas.microsoft.com/office/powerpoint/2010/main" val="2085214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62A40"/>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62F458C-BD60-4558-9EA6-0BD3CC58B396}"/>
              </a:ext>
            </a:extLst>
          </p:cNvPr>
          <p:cNvSpPr>
            <a:spLocks noGrp="1"/>
          </p:cNvSpPr>
          <p:nvPr/>
        </p:nvSpPr>
        <p:spPr>
          <a:xfrm>
            <a:off x="685800" y="552450"/>
            <a:ext cx="7810500" cy="552450"/>
          </a:xfrm>
          <a:prstGeom prst="rect">
            <a:avLst/>
          </a:prstGeom>
          <a:noFill/>
          <a:ln w="0">
            <a:noFill/>
            <a:prstDash val="solid"/>
          </a:ln>
        </p:spPr>
        <p:txBody>
          <a:bodyPr lIns="0" tIns="0" rIns="0" bIns="0" anchor="t"/>
          <a:lstStyle/>
          <a:p>
            <a:pPr algn="l">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Recommendations And Next Steps</a:t>
            </a:r>
          </a:p>
        </p:txBody>
      </p:sp>
      <p:sp>
        <p:nvSpPr>
          <p:cNvPr id="2" name="Rectangle 1">
            <a:extLst>
              <a:ext uri="{FF2B5EF4-FFF2-40B4-BE49-F238E27FC236}">
                <a16:creationId xmlns:a16="http://schemas.microsoft.com/office/drawing/2014/main" id="{3992F1E7-EEFC-40CB-B34D-C3250836B6B8}"/>
              </a:ext>
            </a:extLst>
          </p:cNvPr>
          <p:cNvSpPr>
            <a:spLocks noGrp="1"/>
          </p:cNvSpPr>
          <p:nvPr/>
        </p:nvSpPr>
        <p:spPr>
          <a:xfrm>
            <a:off x="704850" y="1219200"/>
            <a:ext cx="1238250" cy="47625"/>
          </a:xfrm>
          <a:prstGeom prst="rect">
            <a:avLst/>
          </a:prstGeom>
          <a:solidFill>
            <a:srgbClr val="00A884"/>
          </a:solidFill>
          <a:ln w="0">
            <a:noFill/>
            <a:prstDash val="solid"/>
          </a:ln>
        </p:spPr>
      </p:sp>
      <p:sp>
        <p:nvSpPr>
          <p:cNvPr id="3" name="Rectangle: Rounded Corners 2">
            <a:extLst>
              <a:ext uri="{FF2B5EF4-FFF2-40B4-BE49-F238E27FC236}">
                <a16:creationId xmlns:a16="http://schemas.microsoft.com/office/drawing/2014/main" id="{91799F6F-C1DB-4F3D-8345-31A901C3BF12}"/>
              </a:ext>
            </a:extLst>
          </p:cNvPr>
          <p:cNvSpPr>
            <a:spLocks noGrp="1"/>
          </p:cNvSpPr>
          <p:nvPr/>
        </p:nvSpPr>
        <p:spPr>
          <a:xfrm>
            <a:off x="742950" y="1962150"/>
            <a:ext cx="3143250" cy="1333500"/>
          </a:xfrm>
          <a:prstGeom prst="roundRect">
            <a:avLst>
              <a:gd name="adj" fmla="val 4286"/>
            </a:avLst>
          </a:prstGeom>
          <a:solidFill>
            <a:srgbClr val="FFFFFF"/>
          </a:solidFill>
          <a:ln w="9525">
            <a:solidFill>
              <a:srgbClr val="D8E0E7"/>
            </a:solidFill>
            <a:prstDash val="solid"/>
          </a:ln>
        </p:spPr>
      </p:sp>
      <p:sp>
        <p:nvSpPr>
          <p:cNvPr id="4" name="Rectangle 3">
            <a:extLst>
              <a:ext uri="{FF2B5EF4-FFF2-40B4-BE49-F238E27FC236}">
                <a16:creationId xmlns:a16="http://schemas.microsoft.com/office/drawing/2014/main" id="{1C41B825-2AAD-4D2B-A3C5-1B44B9F4EBF6}"/>
              </a:ext>
            </a:extLst>
          </p:cNvPr>
          <p:cNvSpPr>
            <a:spLocks noGrp="1"/>
          </p:cNvSpPr>
          <p:nvPr/>
        </p:nvSpPr>
        <p:spPr>
          <a:xfrm>
            <a:off x="914400" y="2152650"/>
            <a:ext cx="323850" cy="38100"/>
          </a:xfrm>
          <a:prstGeom prst="rect">
            <a:avLst/>
          </a:prstGeom>
          <a:solidFill>
            <a:srgbClr val="00866E"/>
          </a:solidFill>
          <a:ln w="0">
            <a:noFill/>
            <a:prstDash val="solid"/>
          </a:ln>
        </p:spPr>
      </p:sp>
      <p:sp>
        <p:nvSpPr>
          <p:cNvPr id="5" name="Rectangle 4">
            <a:extLst>
              <a:ext uri="{FF2B5EF4-FFF2-40B4-BE49-F238E27FC236}">
                <a16:creationId xmlns:a16="http://schemas.microsoft.com/office/drawing/2014/main" id="{7E4076AA-878B-4E78-86C2-210147C7D043}"/>
              </a:ext>
            </a:extLst>
          </p:cNvPr>
          <p:cNvSpPr>
            <a:spLocks noGrp="1"/>
          </p:cNvSpPr>
          <p:nvPr/>
        </p:nvSpPr>
        <p:spPr>
          <a:xfrm>
            <a:off x="914400" y="2286000"/>
            <a:ext cx="280035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Automate refresh</a:t>
            </a:r>
          </a:p>
        </p:txBody>
      </p:sp>
      <p:sp>
        <p:nvSpPr>
          <p:cNvPr id="6" name="Rectangle 5">
            <a:extLst>
              <a:ext uri="{FF2B5EF4-FFF2-40B4-BE49-F238E27FC236}">
                <a16:creationId xmlns:a16="http://schemas.microsoft.com/office/drawing/2014/main" id="{E5139AED-511D-44F6-BBCF-725349F54AD8}"/>
              </a:ext>
            </a:extLst>
          </p:cNvPr>
          <p:cNvSpPr>
            <a:spLocks noGrp="1"/>
          </p:cNvSpPr>
          <p:nvPr/>
        </p:nvSpPr>
        <p:spPr>
          <a:xfrm>
            <a:off x="914400" y="2628900"/>
            <a:ext cx="2800350" cy="5143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Schedule the pipeline and connect live NAV refresh where internet access is available.</a:t>
            </a:r>
          </a:p>
        </p:txBody>
      </p:sp>
      <p:sp>
        <p:nvSpPr>
          <p:cNvPr id="7" name="Rectangle: Rounded Corners 6">
            <a:extLst>
              <a:ext uri="{FF2B5EF4-FFF2-40B4-BE49-F238E27FC236}">
                <a16:creationId xmlns:a16="http://schemas.microsoft.com/office/drawing/2014/main" id="{2386AA6F-857A-481F-9366-F6CCDAA3A9EE}"/>
              </a:ext>
            </a:extLst>
          </p:cNvPr>
          <p:cNvSpPr>
            <a:spLocks noGrp="1"/>
          </p:cNvSpPr>
          <p:nvPr/>
        </p:nvSpPr>
        <p:spPr>
          <a:xfrm>
            <a:off x="4514850" y="1962150"/>
            <a:ext cx="3143250" cy="1333500"/>
          </a:xfrm>
          <a:prstGeom prst="roundRect">
            <a:avLst>
              <a:gd name="adj" fmla="val 4286"/>
            </a:avLst>
          </a:prstGeom>
          <a:solidFill>
            <a:srgbClr val="FFFFFF"/>
          </a:solidFill>
          <a:ln w="9525">
            <a:solidFill>
              <a:srgbClr val="D8E0E7"/>
            </a:solidFill>
            <a:prstDash val="solid"/>
          </a:ln>
        </p:spPr>
      </p:sp>
      <p:sp>
        <p:nvSpPr>
          <p:cNvPr id="8" name="Rectangle 7">
            <a:extLst>
              <a:ext uri="{FF2B5EF4-FFF2-40B4-BE49-F238E27FC236}">
                <a16:creationId xmlns:a16="http://schemas.microsoft.com/office/drawing/2014/main" id="{8B9C1D1B-7528-439B-9F17-227349CFCEA6}"/>
              </a:ext>
            </a:extLst>
          </p:cNvPr>
          <p:cNvSpPr>
            <a:spLocks noGrp="1"/>
          </p:cNvSpPr>
          <p:nvPr/>
        </p:nvSpPr>
        <p:spPr>
          <a:xfrm>
            <a:off x="4686300" y="2152650"/>
            <a:ext cx="323850" cy="38100"/>
          </a:xfrm>
          <a:prstGeom prst="rect">
            <a:avLst/>
          </a:prstGeom>
          <a:solidFill>
            <a:srgbClr val="F2A541"/>
          </a:solidFill>
          <a:ln w="0">
            <a:noFill/>
            <a:prstDash val="solid"/>
          </a:ln>
        </p:spPr>
      </p:sp>
      <p:sp>
        <p:nvSpPr>
          <p:cNvPr id="9" name="Rectangle 8">
            <a:extLst>
              <a:ext uri="{FF2B5EF4-FFF2-40B4-BE49-F238E27FC236}">
                <a16:creationId xmlns:a16="http://schemas.microsoft.com/office/drawing/2014/main" id="{F21E100C-C2D0-431B-A0BE-F61EBA638592}"/>
              </a:ext>
            </a:extLst>
          </p:cNvPr>
          <p:cNvSpPr>
            <a:spLocks noGrp="1"/>
          </p:cNvSpPr>
          <p:nvPr/>
        </p:nvSpPr>
        <p:spPr>
          <a:xfrm>
            <a:off x="4686300" y="2286000"/>
            <a:ext cx="280035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Improve history</a:t>
            </a:r>
          </a:p>
        </p:txBody>
      </p:sp>
      <p:sp>
        <p:nvSpPr>
          <p:cNvPr id="10" name="Rectangle 9">
            <a:extLst>
              <a:ext uri="{FF2B5EF4-FFF2-40B4-BE49-F238E27FC236}">
                <a16:creationId xmlns:a16="http://schemas.microsoft.com/office/drawing/2014/main" id="{84A29C1B-5EC9-4D56-AB00-64727C640A91}"/>
              </a:ext>
            </a:extLst>
          </p:cNvPr>
          <p:cNvSpPr>
            <a:spLocks noGrp="1"/>
          </p:cNvSpPr>
          <p:nvPr/>
        </p:nvSpPr>
        <p:spPr>
          <a:xfrm>
            <a:off x="4686300" y="2628900"/>
            <a:ext cx="2800350" cy="5143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Add older NAV extracts to strengthen long-horizon CAGR and drawdown analysis.</a:t>
            </a:r>
          </a:p>
        </p:txBody>
      </p:sp>
      <p:sp>
        <p:nvSpPr>
          <p:cNvPr id="11" name="Rectangle: Rounded Corners 10">
            <a:extLst>
              <a:ext uri="{FF2B5EF4-FFF2-40B4-BE49-F238E27FC236}">
                <a16:creationId xmlns:a16="http://schemas.microsoft.com/office/drawing/2014/main" id="{A53A0549-FF4F-421C-9287-7AF72F3D8C46}"/>
              </a:ext>
            </a:extLst>
          </p:cNvPr>
          <p:cNvSpPr>
            <a:spLocks noGrp="1"/>
          </p:cNvSpPr>
          <p:nvPr/>
        </p:nvSpPr>
        <p:spPr>
          <a:xfrm>
            <a:off x="8286750" y="1962150"/>
            <a:ext cx="3143250" cy="1333500"/>
          </a:xfrm>
          <a:prstGeom prst="roundRect">
            <a:avLst>
              <a:gd name="adj" fmla="val 4286"/>
            </a:avLst>
          </a:prstGeom>
          <a:solidFill>
            <a:srgbClr val="FFFFFF"/>
          </a:solidFill>
          <a:ln w="9525">
            <a:solidFill>
              <a:srgbClr val="D8E0E7"/>
            </a:solidFill>
            <a:prstDash val="solid"/>
          </a:ln>
        </p:spPr>
      </p:sp>
      <p:sp>
        <p:nvSpPr>
          <p:cNvPr id="12" name="Rectangle 11">
            <a:extLst>
              <a:ext uri="{FF2B5EF4-FFF2-40B4-BE49-F238E27FC236}">
                <a16:creationId xmlns:a16="http://schemas.microsoft.com/office/drawing/2014/main" id="{15B75A12-5C26-4722-8DE7-F5177F65418E}"/>
              </a:ext>
            </a:extLst>
          </p:cNvPr>
          <p:cNvSpPr>
            <a:spLocks noGrp="1"/>
          </p:cNvSpPr>
          <p:nvPr/>
        </p:nvSpPr>
        <p:spPr>
          <a:xfrm>
            <a:off x="8458200" y="2152650"/>
            <a:ext cx="323850" cy="38100"/>
          </a:xfrm>
          <a:prstGeom prst="rect">
            <a:avLst/>
          </a:prstGeom>
          <a:solidFill>
            <a:srgbClr val="D1495B"/>
          </a:solidFill>
          <a:ln w="0">
            <a:noFill/>
            <a:prstDash val="solid"/>
          </a:ln>
        </p:spPr>
      </p:sp>
      <p:sp>
        <p:nvSpPr>
          <p:cNvPr id="13" name="Rectangle 12">
            <a:extLst>
              <a:ext uri="{FF2B5EF4-FFF2-40B4-BE49-F238E27FC236}">
                <a16:creationId xmlns:a16="http://schemas.microsoft.com/office/drawing/2014/main" id="{17537473-8DA0-4FC6-B12C-BEDE6E95EAE3}"/>
              </a:ext>
            </a:extLst>
          </p:cNvPr>
          <p:cNvSpPr>
            <a:spLocks noGrp="1"/>
          </p:cNvSpPr>
          <p:nvPr/>
        </p:nvSpPr>
        <p:spPr>
          <a:xfrm>
            <a:off x="8458200" y="2286000"/>
            <a:ext cx="2800350" cy="266700"/>
          </a:xfrm>
          <a:prstGeom prst="rect">
            <a:avLst/>
          </a:prstGeom>
          <a:noFill/>
          <a:ln w="0">
            <a:noFill/>
            <a:prstDash val="solid"/>
          </a:ln>
        </p:spPr>
        <p:txBody>
          <a:bodyPr lIns="0" tIns="0" rIns="0" bIns="0" anchor="t"/>
          <a:lstStyle/>
          <a:p>
            <a:pPr algn="l">
              <a:defRPr sz="1500" b="1">
                <a:solidFill>
                  <a:srgbClr val="17202A"/>
                </a:solidFill>
                <a:latin typeface="Aptos"/>
                <a:ea typeface="Aptos"/>
                <a:cs typeface="Aptos"/>
              </a:defRPr>
            </a:pPr>
            <a:r>
              <a:rPr sz="1500" b="1">
                <a:solidFill>
                  <a:srgbClr val="17202A"/>
                </a:solidFill>
                <a:latin typeface="Aptos"/>
                <a:ea typeface="Aptos"/>
                <a:cs typeface="Aptos"/>
              </a:rPr>
              <a:t>Deploy dashboard</a:t>
            </a:r>
          </a:p>
        </p:txBody>
      </p:sp>
      <p:sp>
        <p:nvSpPr>
          <p:cNvPr id="14" name="Rectangle 13">
            <a:extLst>
              <a:ext uri="{FF2B5EF4-FFF2-40B4-BE49-F238E27FC236}">
                <a16:creationId xmlns:a16="http://schemas.microsoft.com/office/drawing/2014/main" id="{B4DFDEC3-6320-4C9B-9835-4EDDBAA1FD9B}"/>
              </a:ext>
            </a:extLst>
          </p:cNvPr>
          <p:cNvSpPr>
            <a:spLocks noGrp="1"/>
          </p:cNvSpPr>
          <p:nvPr/>
        </p:nvSpPr>
        <p:spPr>
          <a:xfrm>
            <a:off x="8458200" y="2628900"/>
            <a:ext cx="2800350" cy="514350"/>
          </a:xfrm>
          <a:prstGeom prst="rect">
            <a:avLst/>
          </a:prstGeom>
          <a:noFill/>
          <a:ln w="0">
            <a:noFill/>
            <a:prstDash val="solid"/>
          </a:ln>
        </p:spPr>
        <p:txBody>
          <a:bodyPr lIns="0" tIns="0" rIns="0" bIns="0" anchor="t"/>
          <a:lstStyle/>
          <a:p>
            <a:pPr algn="l">
              <a:defRPr sz="1200" b="0">
                <a:solidFill>
                  <a:srgbClr val="52616B"/>
                </a:solidFill>
                <a:latin typeface="Aptos"/>
                <a:ea typeface="Aptos"/>
                <a:cs typeface="Aptos"/>
              </a:defRPr>
            </a:pPr>
            <a:r>
              <a:rPr sz="1200" b="0">
                <a:solidFill>
                  <a:srgbClr val="52616B"/>
                </a:solidFill>
                <a:latin typeface="Aptos"/>
                <a:ea typeface="Aptos"/>
                <a:cs typeface="Aptos"/>
              </a:rPr>
              <a:t>Publish Power BI/Streamlit outputs with stakeholder filters and role-based views.</a:t>
            </a:r>
          </a:p>
        </p:txBody>
      </p:sp>
      <p:sp>
        <p:nvSpPr>
          <p:cNvPr id="15" name="Rectangle 14">
            <a:extLst>
              <a:ext uri="{FF2B5EF4-FFF2-40B4-BE49-F238E27FC236}">
                <a16:creationId xmlns:a16="http://schemas.microsoft.com/office/drawing/2014/main" id="{0F0435F7-94C8-49C8-ABEB-5ED141503D54}"/>
              </a:ext>
            </a:extLst>
          </p:cNvPr>
          <p:cNvSpPr>
            <a:spLocks noGrp="1"/>
          </p:cNvSpPr>
          <p:nvPr/>
        </p:nvSpPr>
        <p:spPr>
          <a:xfrm>
            <a:off x="895350" y="4000500"/>
            <a:ext cx="9620250" cy="742950"/>
          </a:xfrm>
          <a:prstGeom prst="rect">
            <a:avLst/>
          </a:prstGeom>
          <a:noFill/>
          <a:ln w="0">
            <a:noFill/>
            <a:prstDash val="solid"/>
          </a:ln>
        </p:spPr>
        <p:txBody>
          <a:bodyPr lIns="0" tIns="0" rIns="0" bIns="0" anchor="t"/>
          <a:lstStyle/>
          <a:p>
            <a:pPr algn="l">
              <a:defRPr sz="1875" b="1">
                <a:solidFill>
                  <a:srgbClr val="F2A541"/>
                </a:solidFill>
                <a:latin typeface="Aptos"/>
                <a:ea typeface="Aptos"/>
                <a:cs typeface="Aptos"/>
              </a:defRPr>
            </a:pPr>
            <a:r>
              <a:rPr sz="1875" b="1">
                <a:solidFill>
                  <a:srgbClr val="F2A541"/>
                </a:solidFill>
                <a:latin typeface="Aptos"/>
                <a:ea typeface="Aptos"/>
                <a:cs typeface="Aptos"/>
              </a:rPr>
              <a:t>Closing statement</a:t>
            </a:r>
          </a:p>
        </p:txBody>
      </p:sp>
      <p:sp>
        <p:nvSpPr>
          <p:cNvPr id="16" name="Rectangle 15">
            <a:extLst>
              <a:ext uri="{FF2B5EF4-FFF2-40B4-BE49-F238E27FC236}">
                <a16:creationId xmlns:a16="http://schemas.microsoft.com/office/drawing/2014/main" id="{76178D43-4E2A-4A16-837E-D5B1D9B6F218}"/>
              </a:ext>
            </a:extLst>
          </p:cNvPr>
          <p:cNvSpPr>
            <a:spLocks noGrp="1"/>
          </p:cNvSpPr>
          <p:nvPr/>
        </p:nvSpPr>
        <p:spPr>
          <a:xfrm>
            <a:off x="895350" y="4476750"/>
            <a:ext cx="9620250" cy="876300"/>
          </a:xfrm>
          <a:prstGeom prst="rect">
            <a:avLst/>
          </a:prstGeom>
          <a:noFill/>
          <a:ln w="0">
            <a:noFill/>
            <a:prstDash val="solid"/>
          </a:ln>
        </p:spPr>
        <p:txBody>
          <a:bodyPr lIns="0" tIns="0" rIns="0" bIns="0" anchor="t"/>
          <a:lstStyle/>
          <a:p>
            <a:pPr algn="l">
              <a:defRPr sz="2025" b="0">
                <a:solidFill>
                  <a:srgbClr val="E8F2F4"/>
                </a:solidFill>
                <a:latin typeface="Aptos"/>
                <a:ea typeface="Aptos"/>
                <a:cs typeface="Aptos"/>
              </a:defRPr>
            </a:pPr>
            <a:r>
              <a:rPr sz="2025" b="0">
                <a:solidFill>
                  <a:srgbClr val="E8F2F4"/>
                </a:solidFill>
                <a:latin typeface="Aptos"/>
                <a:ea typeface="Aptos"/>
                <a:cs typeface="Aptos"/>
              </a:rPr>
              <a:t>This capstone demonstrates a complete analytics workflow: reliable data preparation, technical modeling, meaningful financial metrics, dashboard execution, and clear presentation-ready reporting.</a:t>
            </a:r>
          </a:p>
        </p:txBody>
      </p:sp>
      <p:sp>
        <p:nvSpPr>
          <p:cNvPr id="17" name="Rectangle 16">
            <a:extLst>
              <a:ext uri="{FF2B5EF4-FFF2-40B4-BE49-F238E27FC236}">
                <a16:creationId xmlns:a16="http://schemas.microsoft.com/office/drawing/2014/main" id="{A485190D-172E-4AC1-9E73-2904F37E7D97}"/>
              </a:ext>
            </a:extLst>
          </p:cNvPr>
          <p:cNvSpPr>
            <a:spLocks noGrp="1"/>
          </p:cNvSpPr>
          <p:nvPr/>
        </p:nvSpPr>
        <p:spPr>
          <a:xfrm>
            <a:off x="895350" y="5753100"/>
            <a:ext cx="7239000" cy="381000"/>
          </a:xfrm>
          <a:prstGeom prst="rect">
            <a:avLst/>
          </a:prstGeom>
          <a:noFill/>
          <a:ln w="0">
            <a:noFill/>
            <a:prstDash val="solid"/>
          </a:ln>
        </p:spPr>
        <p:txBody>
          <a:bodyPr lIns="0" tIns="0" rIns="0" bIns="0" anchor="t"/>
          <a:lstStyle/>
          <a:p>
            <a:pPr algn="l">
              <a:defRPr sz="2550" b="1">
                <a:solidFill>
                  <a:srgbClr val="FFFFFF"/>
                </a:solidFill>
                <a:latin typeface="Aptos Display"/>
                <a:ea typeface="Aptos Display"/>
                <a:cs typeface="Aptos Display"/>
              </a:defRPr>
            </a:pPr>
            <a:r>
              <a:rPr sz="2550" b="1">
                <a:solidFill>
                  <a:srgbClr val="FFFFFF"/>
                </a:solidFill>
                <a:latin typeface="Aptos Display"/>
                <a:ea typeface="Aptos Display"/>
                <a:cs typeface="Aptos Display"/>
              </a:rPr>
              <a:t>Thank you</a:t>
            </a:r>
          </a:p>
        </p:txBody>
      </p:sp>
      <p:sp>
        <p:nvSpPr>
          <p:cNvPr id="18" name="Rectangle 17">
            <a:extLst>
              <a:ext uri="{FF2B5EF4-FFF2-40B4-BE49-F238E27FC236}">
                <a16:creationId xmlns:a16="http://schemas.microsoft.com/office/drawing/2014/main" id="{331411E5-D0A2-4235-B923-02AA48C7F44C}"/>
              </a:ext>
            </a:extLst>
          </p:cNvPr>
          <p:cNvSpPr>
            <a:spLocks noGrp="1"/>
          </p:cNvSpPr>
          <p:nvPr/>
        </p:nvSpPr>
        <p:spPr>
          <a:xfrm>
            <a:off x="609600" y="6515100"/>
            <a:ext cx="10972800" cy="9525"/>
          </a:xfrm>
          <a:prstGeom prst="rect">
            <a:avLst/>
          </a:prstGeom>
          <a:solidFill>
            <a:srgbClr val="D8E0E7"/>
          </a:solidFill>
          <a:ln w="0">
            <a:noFill/>
            <a:prstDash val="solid"/>
          </a:ln>
        </p:spPr>
      </p:sp>
      <p:sp>
        <p:nvSpPr>
          <p:cNvPr id="19" name="Rectangle 18">
            <a:extLst>
              <a:ext uri="{FF2B5EF4-FFF2-40B4-BE49-F238E27FC236}">
                <a16:creationId xmlns:a16="http://schemas.microsoft.com/office/drawing/2014/main" id="{511F915B-B3B0-45B2-9607-C0E2E4020DA8}"/>
              </a:ext>
            </a:extLst>
          </p:cNvPr>
          <p:cNvSpPr>
            <a:spLocks noGrp="1"/>
          </p:cNvSpPr>
          <p:nvPr/>
        </p:nvSpPr>
        <p:spPr>
          <a:xfrm>
            <a:off x="609600" y="6591300"/>
            <a:ext cx="4953000" cy="171450"/>
          </a:xfrm>
          <a:prstGeom prst="rect">
            <a:avLst/>
          </a:prstGeom>
          <a:noFill/>
          <a:ln w="0">
            <a:noFill/>
            <a:prstDash val="solid"/>
          </a:ln>
        </p:spPr>
        <p:txBody>
          <a:bodyPr lIns="0" tIns="0" rIns="0" bIns="0" anchor="t"/>
          <a:lstStyle/>
          <a:p>
            <a:pPr algn="l">
              <a:defRPr sz="825" b="0">
                <a:solidFill>
                  <a:srgbClr val="7A8690"/>
                </a:solidFill>
                <a:latin typeface="Aptos"/>
                <a:ea typeface="Aptos"/>
                <a:cs typeface="Aptos"/>
              </a:defRPr>
            </a:pPr>
            <a:r>
              <a:rPr sz="825" b="0">
                <a:solidFill>
                  <a:srgbClr val="7A8690"/>
                </a:solidFill>
                <a:latin typeface="Aptos"/>
                <a:ea typeface="Aptos"/>
                <a:cs typeface="Aptos"/>
              </a:rPr>
              <a:t>Bluestock Mutual Fund Analytics Platform</a:t>
            </a:r>
          </a:p>
        </p:txBody>
      </p:sp>
      <p:sp>
        <p:nvSpPr>
          <p:cNvPr id="20" name="Rectangle 19">
            <a:extLst>
              <a:ext uri="{FF2B5EF4-FFF2-40B4-BE49-F238E27FC236}">
                <a16:creationId xmlns:a16="http://schemas.microsoft.com/office/drawing/2014/main" id="{C169BCD9-2CBA-495F-A14C-194299A0BE47}"/>
              </a:ext>
            </a:extLst>
          </p:cNvPr>
          <p:cNvSpPr>
            <a:spLocks noGrp="1"/>
          </p:cNvSpPr>
          <p:nvPr/>
        </p:nvSpPr>
        <p:spPr>
          <a:xfrm>
            <a:off x="10744200" y="6591300"/>
            <a:ext cx="838200" cy="171450"/>
          </a:xfrm>
          <a:prstGeom prst="rect">
            <a:avLst/>
          </a:prstGeom>
          <a:noFill/>
          <a:ln w="0">
            <a:noFill/>
            <a:prstDash val="solid"/>
          </a:ln>
        </p:spPr>
        <p:txBody>
          <a:bodyPr lIns="0" tIns="0" rIns="0" bIns="0" anchor="t"/>
          <a:lstStyle/>
          <a:p>
            <a:pPr algn="r">
              <a:defRPr sz="825" b="0">
                <a:solidFill>
                  <a:srgbClr val="7A8690"/>
                </a:solidFill>
                <a:latin typeface="Aptos"/>
                <a:ea typeface="Aptos"/>
                <a:cs typeface="Aptos"/>
              </a:defRPr>
            </a:pPr>
            <a:r>
              <a:rPr sz="825" b="0">
                <a:solidFill>
                  <a:srgbClr val="7A8690"/>
                </a:solidFill>
                <a:latin typeface="Aptos"/>
                <a:ea typeface="Aptos"/>
                <a:cs typeface="Aptos"/>
              </a:rPr>
              <a:t>15</a:t>
            </a:r>
          </a:p>
        </p:txBody>
      </p:sp>
    </p:spTree>
    <p:extLst>
      <p:ext uri="{BB962C8B-B14F-4D97-AF65-F5344CB8AC3E}">
        <p14:creationId xmlns:p14="http://schemas.microsoft.com/office/powerpoint/2010/main" val="20337995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2143</Words>
  <Application>Microsoft Office PowerPoint</Application>
  <DocSecurity>0</DocSecurity>
  <PresentationFormat>Widescreen</PresentationFormat>
  <Paragraphs>264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Aptos Mono</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Yagna Sree</cp:lastModifiedBy>
  <cp:revision>1</cp:revision>
  <dcterms:created xsi:type="dcterms:W3CDTF">2026-06-21T06:22:41Z</dcterms:created>
  <dcterms:modified xsi:type="dcterms:W3CDTF">2026-06-21T06:26:05Z</dcterms:modified>
</cp:coreProperties>
</file>